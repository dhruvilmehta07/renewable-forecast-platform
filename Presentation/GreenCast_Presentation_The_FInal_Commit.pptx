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Tdus8hjWXHJ6ede2GmOgIBs+I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0C13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" name="Google Shape;14;p17"/>
          <p:cNvSpPr/>
          <p:nvPr/>
        </p:nvSpPr>
        <p:spPr>
          <a:xfrm>
            <a:off x="9097924" y="2422804"/>
            <a:ext cx="1737360" cy="1737360"/>
          </a:xfrm>
          <a:custGeom>
            <a:rect b="b" l="l" r="r" t="t"/>
            <a:pathLst>
              <a:path extrusionOk="0" h="1737360" w="1737359">
                <a:moveTo>
                  <a:pt x="0" y="868680"/>
                </a:moveTo>
                <a:lnTo>
                  <a:pt x="1474" y="817927"/>
                </a:lnTo>
                <a:lnTo>
                  <a:pt x="5879" y="767512"/>
                </a:lnTo>
                <a:lnTo>
                  <a:pt x="13185" y="717559"/>
                </a:lnTo>
                <a:lnTo>
                  <a:pt x="23362" y="668193"/>
                </a:lnTo>
                <a:lnTo>
                  <a:pt x="36380" y="619538"/>
                </a:lnTo>
                <a:lnTo>
                  <a:pt x="52211" y="571719"/>
                </a:lnTo>
                <a:lnTo>
                  <a:pt x="70824" y="524859"/>
                </a:lnTo>
                <a:lnTo>
                  <a:pt x="92190" y="479084"/>
                </a:lnTo>
                <a:lnTo>
                  <a:pt x="116281" y="434517"/>
                </a:lnTo>
                <a:lnTo>
                  <a:pt x="142944" y="391320"/>
                </a:lnTo>
                <a:lnTo>
                  <a:pt x="171996" y="349867"/>
                </a:lnTo>
                <a:lnTo>
                  <a:pt x="203344" y="310251"/>
                </a:lnTo>
                <a:lnTo>
                  <a:pt x="236898" y="272564"/>
                </a:lnTo>
                <a:lnTo>
                  <a:pt x="272564" y="236898"/>
                </a:lnTo>
                <a:lnTo>
                  <a:pt x="310251" y="203344"/>
                </a:lnTo>
                <a:lnTo>
                  <a:pt x="349867" y="171996"/>
                </a:lnTo>
                <a:lnTo>
                  <a:pt x="391320" y="142944"/>
                </a:lnTo>
                <a:lnTo>
                  <a:pt x="434517" y="116281"/>
                </a:lnTo>
                <a:lnTo>
                  <a:pt x="479084" y="92190"/>
                </a:lnTo>
                <a:lnTo>
                  <a:pt x="524859" y="70824"/>
                </a:lnTo>
                <a:lnTo>
                  <a:pt x="571719" y="52211"/>
                </a:lnTo>
                <a:lnTo>
                  <a:pt x="619538" y="36380"/>
                </a:lnTo>
                <a:lnTo>
                  <a:pt x="668193" y="23362"/>
                </a:lnTo>
                <a:lnTo>
                  <a:pt x="717559" y="13185"/>
                </a:lnTo>
                <a:lnTo>
                  <a:pt x="767512" y="5879"/>
                </a:lnTo>
                <a:lnTo>
                  <a:pt x="817927" y="1474"/>
                </a:lnTo>
                <a:lnTo>
                  <a:pt x="868680" y="0"/>
                </a:lnTo>
                <a:lnTo>
                  <a:pt x="919433" y="1474"/>
                </a:lnTo>
                <a:lnTo>
                  <a:pt x="969851" y="5879"/>
                </a:lnTo>
                <a:lnTo>
                  <a:pt x="1019813" y="13185"/>
                </a:lnTo>
                <a:lnTo>
                  <a:pt x="1069197" y="23362"/>
                </a:lnTo>
                <a:lnTo>
                  <a:pt x="1117882" y="36380"/>
                </a:lnTo>
                <a:lnTo>
                  <a:pt x="1165746" y="52211"/>
                </a:lnTo>
                <a:lnTo>
                  <a:pt x="1212667" y="70824"/>
                </a:lnTo>
                <a:lnTo>
                  <a:pt x="1258525" y="92190"/>
                </a:lnTo>
                <a:lnTo>
                  <a:pt x="1303197" y="116281"/>
                </a:lnTo>
                <a:lnTo>
                  <a:pt x="1346289" y="142943"/>
                </a:lnTo>
                <a:lnTo>
                  <a:pt x="1387658" y="171992"/>
                </a:lnTo>
                <a:lnTo>
                  <a:pt x="1427210" y="203331"/>
                </a:lnTo>
                <a:lnTo>
                  <a:pt x="1464852" y="236865"/>
                </a:lnTo>
                <a:lnTo>
                  <a:pt x="1500487" y="272501"/>
                </a:lnTo>
                <a:lnTo>
                  <a:pt x="1534022" y="310142"/>
                </a:lnTo>
                <a:lnTo>
                  <a:pt x="1565362" y="349694"/>
                </a:lnTo>
                <a:lnTo>
                  <a:pt x="1594412" y="391061"/>
                </a:lnTo>
                <a:lnTo>
                  <a:pt x="1621078" y="434149"/>
                </a:lnTo>
                <a:lnTo>
                  <a:pt x="1645165" y="478825"/>
                </a:lnTo>
                <a:lnTo>
                  <a:pt x="1666530" y="524686"/>
                </a:lnTo>
                <a:lnTo>
                  <a:pt x="1685143" y="571610"/>
                </a:lnTo>
                <a:lnTo>
                  <a:pt x="1700974" y="619475"/>
                </a:lnTo>
                <a:lnTo>
                  <a:pt x="1713993" y="668161"/>
                </a:lnTo>
                <a:lnTo>
                  <a:pt x="1724171" y="717545"/>
                </a:lnTo>
                <a:lnTo>
                  <a:pt x="1731478" y="767508"/>
                </a:lnTo>
                <a:lnTo>
                  <a:pt x="1735884" y="817926"/>
                </a:lnTo>
                <a:lnTo>
                  <a:pt x="1737360" y="868680"/>
                </a:lnTo>
                <a:lnTo>
                  <a:pt x="1735884" y="919433"/>
                </a:lnTo>
                <a:lnTo>
                  <a:pt x="1731478" y="969851"/>
                </a:lnTo>
                <a:lnTo>
                  <a:pt x="1724171" y="1019813"/>
                </a:lnTo>
                <a:lnTo>
                  <a:pt x="1713993" y="1069197"/>
                </a:lnTo>
                <a:lnTo>
                  <a:pt x="1700974" y="1117882"/>
                </a:lnTo>
                <a:lnTo>
                  <a:pt x="1685143" y="1165746"/>
                </a:lnTo>
                <a:lnTo>
                  <a:pt x="1666530" y="1212667"/>
                </a:lnTo>
                <a:lnTo>
                  <a:pt x="1645165" y="1258525"/>
                </a:lnTo>
                <a:lnTo>
                  <a:pt x="1621078" y="1303197"/>
                </a:lnTo>
                <a:lnTo>
                  <a:pt x="1594412" y="1346289"/>
                </a:lnTo>
                <a:lnTo>
                  <a:pt x="1565362" y="1387658"/>
                </a:lnTo>
                <a:lnTo>
                  <a:pt x="1534022" y="1427210"/>
                </a:lnTo>
                <a:lnTo>
                  <a:pt x="1500487" y="1464852"/>
                </a:lnTo>
                <a:lnTo>
                  <a:pt x="1464852" y="1500487"/>
                </a:lnTo>
                <a:lnTo>
                  <a:pt x="1427210" y="1534022"/>
                </a:lnTo>
                <a:lnTo>
                  <a:pt x="1387658" y="1565362"/>
                </a:lnTo>
                <a:lnTo>
                  <a:pt x="1346289" y="1594412"/>
                </a:lnTo>
                <a:lnTo>
                  <a:pt x="1303197" y="1621078"/>
                </a:lnTo>
                <a:lnTo>
                  <a:pt x="1258525" y="1645165"/>
                </a:lnTo>
                <a:lnTo>
                  <a:pt x="1212667" y="1666530"/>
                </a:lnTo>
                <a:lnTo>
                  <a:pt x="1165746" y="1685143"/>
                </a:lnTo>
                <a:lnTo>
                  <a:pt x="1117882" y="1700974"/>
                </a:lnTo>
                <a:lnTo>
                  <a:pt x="1069197" y="1713993"/>
                </a:lnTo>
                <a:lnTo>
                  <a:pt x="1019813" y="1724171"/>
                </a:lnTo>
                <a:lnTo>
                  <a:pt x="969851" y="1731478"/>
                </a:lnTo>
                <a:lnTo>
                  <a:pt x="919433" y="1735884"/>
                </a:lnTo>
                <a:lnTo>
                  <a:pt x="868680" y="1737360"/>
                </a:lnTo>
                <a:lnTo>
                  <a:pt x="817927" y="1735884"/>
                </a:lnTo>
                <a:lnTo>
                  <a:pt x="767512" y="1731478"/>
                </a:lnTo>
                <a:lnTo>
                  <a:pt x="717559" y="1724171"/>
                </a:lnTo>
                <a:lnTo>
                  <a:pt x="668193" y="1713993"/>
                </a:lnTo>
                <a:lnTo>
                  <a:pt x="619538" y="1700974"/>
                </a:lnTo>
                <a:lnTo>
                  <a:pt x="571719" y="1685143"/>
                </a:lnTo>
                <a:lnTo>
                  <a:pt x="524859" y="1666530"/>
                </a:lnTo>
                <a:lnTo>
                  <a:pt x="479084" y="1645165"/>
                </a:lnTo>
                <a:lnTo>
                  <a:pt x="434517" y="1621078"/>
                </a:lnTo>
                <a:lnTo>
                  <a:pt x="391320" y="1594412"/>
                </a:lnTo>
                <a:lnTo>
                  <a:pt x="349867" y="1565362"/>
                </a:lnTo>
                <a:lnTo>
                  <a:pt x="310251" y="1534022"/>
                </a:lnTo>
                <a:lnTo>
                  <a:pt x="272564" y="1500487"/>
                </a:lnTo>
                <a:lnTo>
                  <a:pt x="236898" y="1464852"/>
                </a:lnTo>
                <a:lnTo>
                  <a:pt x="203344" y="1427210"/>
                </a:lnTo>
                <a:lnTo>
                  <a:pt x="171996" y="1387658"/>
                </a:lnTo>
                <a:lnTo>
                  <a:pt x="142944" y="1346289"/>
                </a:lnTo>
                <a:lnTo>
                  <a:pt x="116281" y="1303197"/>
                </a:lnTo>
                <a:lnTo>
                  <a:pt x="92190" y="1258525"/>
                </a:lnTo>
                <a:lnTo>
                  <a:pt x="70824" y="1212667"/>
                </a:lnTo>
                <a:lnTo>
                  <a:pt x="52211" y="1165746"/>
                </a:lnTo>
                <a:lnTo>
                  <a:pt x="36380" y="1117882"/>
                </a:lnTo>
                <a:lnTo>
                  <a:pt x="23362" y="1069197"/>
                </a:lnTo>
                <a:lnTo>
                  <a:pt x="13185" y="1019813"/>
                </a:lnTo>
                <a:lnTo>
                  <a:pt x="5879" y="969851"/>
                </a:lnTo>
                <a:lnTo>
                  <a:pt x="1474" y="919433"/>
                </a:lnTo>
                <a:lnTo>
                  <a:pt x="0" y="868680"/>
                </a:lnTo>
                <a:close/>
              </a:path>
            </a:pathLst>
          </a:custGeom>
          <a:noFill/>
          <a:ln cap="flat" cmpd="sng" w="15825">
            <a:solidFill>
              <a:srgbClr val="E7A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" name="Google Shape;15;p17"/>
          <p:cNvSpPr/>
          <p:nvPr/>
        </p:nvSpPr>
        <p:spPr>
          <a:xfrm>
            <a:off x="9304197" y="2629077"/>
            <a:ext cx="1325880" cy="1325880"/>
          </a:xfrm>
          <a:custGeom>
            <a:rect b="b" l="l" r="r" t="t"/>
            <a:pathLst>
              <a:path extrusionOk="0" h="1325879" w="1325879">
                <a:moveTo>
                  <a:pt x="0" y="662762"/>
                </a:moveTo>
                <a:lnTo>
                  <a:pt x="1865" y="613072"/>
                </a:lnTo>
                <a:lnTo>
                  <a:pt x="7428" y="563811"/>
                </a:lnTo>
                <a:lnTo>
                  <a:pt x="16637" y="515186"/>
                </a:lnTo>
                <a:lnTo>
                  <a:pt x="29442" y="467405"/>
                </a:lnTo>
                <a:lnTo>
                  <a:pt x="45792" y="420675"/>
                </a:lnTo>
                <a:lnTo>
                  <a:pt x="65636" y="375206"/>
                </a:lnTo>
                <a:lnTo>
                  <a:pt x="88925" y="331203"/>
                </a:lnTo>
                <a:lnTo>
                  <a:pt x="115326" y="289084"/>
                </a:lnTo>
                <a:lnTo>
                  <a:pt x="144743" y="249220"/>
                </a:lnTo>
                <a:lnTo>
                  <a:pt x="177018" y="211749"/>
                </a:lnTo>
                <a:lnTo>
                  <a:pt x="211994" y="176809"/>
                </a:lnTo>
                <a:lnTo>
                  <a:pt x="249514" y="144538"/>
                </a:lnTo>
                <a:lnTo>
                  <a:pt x="289421" y="115074"/>
                </a:lnTo>
                <a:lnTo>
                  <a:pt x="331558" y="88557"/>
                </a:lnTo>
                <a:lnTo>
                  <a:pt x="375542" y="65404"/>
                </a:lnTo>
                <a:lnTo>
                  <a:pt x="420969" y="45657"/>
                </a:lnTo>
                <a:lnTo>
                  <a:pt x="467648" y="29373"/>
                </a:lnTo>
                <a:lnTo>
                  <a:pt x="515392" y="16608"/>
                </a:lnTo>
                <a:lnTo>
                  <a:pt x="564011" y="7419"/>
                </a:lnTo>
                <a:lnTo>
                  <a:pt x="613316" y="1864"/>
                </a:lnTo>
                <a:lnTo>
                  <a:pt x="663117" y="0"/>
                </a:lnTo>
                <a:lnTo>
                  <a:pt x="712787" y="1864"/>
                </a:lnTo>
                <a:lnTo>
                  <a:pt x="761998" y="7419"/>
                </a:lnTo>
                <a:lnTo>
                  <a:pt x="810553" y="16608"/>
                </a:lnTo>
                <a:lnTo>
                  <a:pt x="858259" y="29373"/>
                </a:lnTo>
                <a:lnTo>
                  <a:pt x="904918" y="45657"/>
                </a:lnTo>
                <a:lnTo>
                  <a:pt x="950338" y="65404"/>
                </a:lnTo>
                <a:lnTo>
                  <a:pt x="994321" y="88557"/>
                </a:lnTo>
                <a:lnTo>
                  <a:pt x="1036459" y="115074"/>
                </a:lnTo>
                <a:lnTo>
                  <a:pt x="1076368" y="144538"/>
                </a:lnTo>
                <a:lnTo>
                  <a:pt x="1113890" y="176809"/>
                </a:lnTo>
                <a:lnTo>
                  <a:pt x="1148869" y="211749"/>
                </a:lnTo>
                <a:lnTo>
                  <a:pt x="1181146" y="249220"/>
                </a:lnTo>
                <a:lnTo>
                  <a:pt x="1210565" y="289084"/>
                </a:lnTo>
                <a:lnTo>
                  <a:pt x="1236967" y="331203"/>
                </a:lnTo>
                <a:lnTo>
                  <a:pt x="1260255" y="375206"/>
                </a:lnTo>
                <a:lnTo>
                  <a:pt x="1280097" y="420675"/>
                </a:lnTo>
                <a:lnTo>
                  <a:pt x="1296445" y="467405"/>
                </a:lnTo>
                <a:lnTo>
                  <a:pt x="1309247" y="515186"/>
                </a:lnTo>
                <a:lnTo>
                  <a:pt x="1318454" y="563811"/>
                </a:lnTo>
                <a:lnTo>
                  <a:pt x="1324015" y="613072"/>
                </a:lnTo>
                <a:lnTo>
                  <a:pt x="1325879" y="662762"/>
                </a:lnTo>
                <a:lnTo>
                  <a:pt x="1324015" y="712451"/>
                </a:lnTo>
                <a:lnTo>
                  <a:pt x="1318454" y="761713"/>
                </a:lnTo>
                <a:lnTo>
                  <a:pt x="1309247" y="810338"/>
                </a:lnTo>
                <a:lnTo>
                  <a:pt x="1296445" y="858119"/>
                </a:lnTo>
                <a:lnTo>
                  <a:pt x="1280097" y="904848"/>
                </a:lnTo>
                <a:lnTo>
                  <a:pt x="1260255" y="950318"/>
                </a:lnTo>
                <a:lnTo>
                  <a:pt x="1236967" y="994321"/>
                </a:lnTo>
                <a:lnTo>
                  <a:pt x="1210565" y="1036439"/>
                </a:lnTo>
                <a:lnTo>
                  <a:pt x="1181146" y="1076303"/>
                </a:lnTo>
                <a:lnTo>
                  <a:pt x="1148869" y="1113774"/>
                </a:lnTo>
                <a:lnTo>
                  <a:pt x="1113890" y="1148715"/>
                </a:lnTo>
                <a:lnTo>
                  <a:pt x="1076368" y="1180985"/>
                </a:lnTo>
                <a:lnTo>
                  <a:pt x="1036459" y="1210449"/>
                </a:lnTo>
                <a:lnTo>
                  <a:pt x="994321" y="1236967"/>
                </a:lnTo>
                <a:lnTo>
                  <a:pt x="950338" y="1260139"/>
                </a:lnTo>
                <a:lnTo>
                  <a:pt x="904918" y="1279936"/>
                </a:lnTo>
                <a:lnTo>
                  <a:pt x="858259" y="1296290"/>
                </a:lnTo>
                <a:lnTo>
                  <a:pt x="810553" y="1309131"/>
                </a:lnTo>
                <a:lnTo>
                  <a:pt x="761998" y="1318390"/>
                </a:lnTo>
                <a:lnTo>
                  <a:pt x="712787" y="1323995"/>
                </a:lnTo>
                <a:lnTo>
                  <a:pt x="663117" y="1325879"/>
                </a:lnTo>
                <a:lnTo>
                  <a:pt x="613316" y="1323995"/>
                </a:lnTo>
                <a:lnTo>
                  <a:pt x="564011" y="1318390"/>
                </a:lnTo>
                <a:lnTo>
                  <a:pt x="515392" y="1309131"/>
                </a:lnTo>
                <a:lnTo>
                  <a:pt x="467648" y="1296290"/>
                </a:lnTo>
                <a:lnTo>
                  <a:pt x="420969" y="1279936"/>
                </a:lnTo>
                <a:lnTo>
                  <a:pt x="375542" y="1260139"/>
                </a:lnTo>
                <a:lnTo>
                  <a:pt x="331558" y="1236967"/>
                </a:lnTo>
                <a:lnTo>
                  <a:pt x="289421" y="1210449"/>
                </a:lnTo>
                <a:lnTo>
                  <a:pt x="249514" y="1180985"/>
                </a:lnTo>
                <a:lnTo>
                  <a:pt x="211994" y="1148715"/>
                </a:lnTo>
                <a:lnTo>
                  <a:pt x="177018" y="1113774"/>
                </a:lnTo>
                <a:lnTo>
                  <a:pt x="144743" y="1076303"/>
                </a:lnTo>
                <a:lnTo>
                  <a:pt x="115326" y="1036439"/>
                </a:lnTo>
                <a:lnTo>
                  <a:pt x="88925" y="994321"/>
                </a:lnTo>
                <a:lnTo>
                  <a:pt x="65636" y="950318"/>
                </a:lnTo>
                <a:lnTo>
                  <a:pt x="45792" y="904848"/>
                </a:lnTo>
                <a:lnTo>
                  <a:pt x="29442" y="858119"/>
                </a:lnTo>
                <a:lnTo>
                  <a:pt x="16637" y="810338"/>
                </a:lnTo>
                <a:lnTo>
                  <a:pt x="7428" y="761713"/>
                </a:lnTo>
                <a:lnTo>
                  <a:pt x="1865" y="712451"/>
                </a:lnTo>
                <a:lnTo>
                  <a:pt x="0" y="662762"/>
                </a:lnTo>
                <a:close/>
              </a:path>
            </a:pathLst>
          </a:custGeom>
          <a:noFill/>
          <a:ln cap="flat" cmpd="sng" w="15825">
            <a:solidFill>
              <a:srgbClr val="E7A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" name="Google Shape;16;p17"/>
          <p:cNvSpPr/>
          <p:nvPr/>
        </p:nvSpPr>
        <p:spPr>
          <a:xfrm>
            <a:off x="9509404" y="2834284"/>
            <a:ext cx="914400" cy="914400"/>
          </a:xfrm>
          <a:custGeom>
            <a:rect b="b" l="l" r="r" t="t"/>
            <a:pathLst>
              <a:path extrusionOk="0" h="914400" w="914400">
                <a:moveTo>
                  <a:pt x="0" y="457200"/>
                </a:moveTo>
                <a:lnTo>
                  <a:pt x="2528" y="409264"/>
                </a:lnTo>
                <a:lnTo>
                  <a:pt x="10032" y="362058"/>
                </a:lnTo>
                <a:lnTo>
                  <a:pt x="22392" y="315959"/>
                </a:lnTo>
                <a:lnTo>
                  <a:pt x="39489" y="271347"/>
                </a:lnTo>
                <a:lnTo>
                  <a:pt x="61201" y="228600"/>
                </a:lnTo>
                <a:lnTo>
                  <a:pt x="87419" y="188379"/>
                </a:lnTo>
                <a:lnTo>
                  <a:pt x="117528" y="151268"/>
                </a:lnTo>
                <a:lnTo>
                  <a:pt x="151268" y="117528"/>
                </a:lnTo>
                <a:lnTo>
                  <a:pt x="188379" y="87419"/>
                </a:lnTo>
                <a:lnTo>
                  <a:pt x="228600" y="61201"/>
                </a:lnTo>
                <a:lnTo>
                  <a:pt x="271347" y="39489"/>
                </a:lnTo>
                <a:lnTo>
                  <a:pt x="315959" y="22392"/>
                </a:lnTo>
                <a:lnTo>
                  <a:pt x="362058" y="10032"/>
                </a:lnTo>
                <a:lnTo>
                  <a:pt x="409264" y="2528"/>
                </a:lnTo>
                <a:lnTo>
                  <a:pt x="457200" y="0"/>
                </a:lnTo>
                <a:lnTo>
                  <a:pt x="505130" y="2528"/>
                </a:lnTo>
                <a:lnTo>
                  <a:pt x="552336" y="10032"/>
                </a:lnTo>
                <a:lnTo>
                  <a:pt x="598436" y="22392"/>
                </a:lnTo>
                <a:lnTo>
                  <a:pt x="643051" y="39489"/>
                </a:lnTo>
                <a:lnTo>
                  <a:pt x="685800" y="61201"/>
                </a:lnTo>
                <a:lnTo>
                  <a:pt x="726019" y="87419"/>
                </a:lnTo>
                <a:lnTo>
                  <a:pt x="763127" y="117528"/>
                </a:lnTo>
                <a:lnTo>
                  <a:pt x="796865" y="151268"/>
                </a:lnTo>
                <a:lnTo>
                  <a:pt x="826975" y="188379"/>
                </a:lnTo>
                <a:lnTo>
                  <a:pt x="853198" y="228600"/>
                </a:lnTo>
                <a:lnTo>
                  <a:pt x="874906" y="271347"/>
                </a:lnTo>
                <a:lnTo>
                  <a:pt x="892001" y="315959"/>
                </a:lnTo>
                <a:lnTo>
                  <a:pt x="904363" y="362058"/>
                </a:lnTo>
                <a:lnTo>
                  <a:pt x="911870" y="409264"/>
                </a:lnTo>
                <a:lnTo>
                  <a:pt x="914400" y="457200"/>
                </a:lnTo>
                <a:lnTo>
                  <a:pt x="911870" y="505130"/>
                </a:lnTo>
                <a:lnTo>
                  <a:pt x="904363" y="552336"/>
                </a:lnTo>
                <a:lnTo>
                  <a:pt x="892001" y="598436"/>
                </a:lnTo>
                <a:lnTo>
                  <a:pt x="874906" y="643051"/>
                </a:lnTo>
                <a:lnTo>
                  <a:pt x="853198" y="685800"/>
                </a:lnTo>
                <a:lnTo>
                  <a:pt x="826975" y="726019"/>
                </a:lnTo>
                <a:lnTo>
                  <a:pt x="796865" y="763127"/>
                </a:lnTo>
                <a:lnTo>
                  <a:pt x="763127" y="796865"/>
                </a:lnTo>
                <a:lnTo>
                  <a:pt x="726019" y="826975"/>
                </a:lnTo>
                <a:lnTo>
                  <a:pt x="685800" y="853198"/>
                </a:lnTo>
                <a:lnTo>
                  <a:pt x="643051" y="874906"/>
                </a:lnTo>
                <a:lnTo>
                  <a:pt x="598436" y="892001"/>
                </a:lnTo>
                <a:lnTo>
                  <a:pt x="552336" y="904363"/>
                </a:lnTo>
                <a:lnTo>
                  <a:pt x="505130" y="911870"/>
                </a:lnTo>
                <a:lnTo>
                  <a:pt x="457200" y="914399"/>
                </a:lnTo>
                <a:lnTo>
                  <a:pt x="409264" y="911870"/>
                </a:lnTo>
                <a:lnTo>
                  <a:pt x="362058" y="904363"/>
                </a:lnTo>
                <a:lnTo>
                  <a:pt x="315959" y="892001"/>
                </a:lnTo>
                <a:lnTo>
                  <a:pt x="271347" y="874906"/>
                </a:lnTo>
                <a:lnTo>
                  <a:pt x="228600" y="853198"/>
                </a:lnTo>
                <a:lnTo>
                  <a:pt x="188379" y="826975"/>
                </a:lnTo>
                <a:lnTo>
                  <a:pt x="151268" y="796865"/>
                </a:lnTo>
                <a:lnTo>
                  <a:pt x="117528" y="763127"/>
                </a:lnTo>
                <a:lnTo>
                  <a:pt x="87419" y="726019"/>
                </a:lnTo>
                <a:lnTo>
                  <a:pt x="61201" y="685800"/>
                </a:lnTo>
                <a:lnTo>
                  <a:pt x="39489" y="643051"/>
                </a:lnTo>
                <a:lnTo>
                  <a:pt x="22392" y="598436"/>
                </a:lnTo>
                <a:lnTo>
                  <a:pt x="10032" y="552336"/>
                </a:lnTo>
                <a:lnTo>
                  <a:pt x="2528" y="505130"/>
                </a:lnTo>
                <a:lnTo>
                  <a:pt x="0" y="457200"/>
                </a:lnTo>
                <a:close/>
              </a:path>
            </a:pathLst>
          </a:custGeom>
          <a:noFill/>
          <a:ln cap="flat" cmpd="sng" w="15825">
            <a:solidFill>
              <a:srgbClr val="E7A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" name="Google Shape;17;p17"/>
          <p:cNvSpPr/>
          <p:nvPr/>
        </p:nvSpPr>
        <p:spPr>
          <a:xfrm>
            <a:off x="9710635" y="3035515"/>
            <a:ext cx="512445" cy="512445"/>
          </a:xfrm>
          <a:custGeom>
            <a:rect b="b" l="l" r="r" t="t"/>
            <a:pathLst>
              <a:path extrusionOk="0" h="512445" w="512445">
                <a:moveTo>
                  <a:pt x="255968" y="0"/>
                </a:moveTo>
                <a:lnTo>
                  <a:pt x="189768" y="8732"/>
                </a:lnTo>
                <a:lnTo>
                  <a:pt x="128168" y="34201"/>
                </a:lnTo>
                <a:lnTo>
                  <a:pt x="74974" y="74974"/>
                </a:lnTo>
                <a:lnTo>
                  <a:pt x="34201" y="128168"/>
                </a:lnTo>
                <a:lnTo>
                  <a:pt x="8732" y="189768"/>
                </a:lnTo>
                <a:lnTo>
                  <a:pt x="0" y="255968"/>
                </a:lnTo>
                <a:lnTo>
                  <a:pt x="2206" y="289457"/>
                </a:lnTo>
                <a:lnTo>
                  <a:pt x="19443" y="353871"/>
                </a:lnTo>
                <a:lnTo>
                  <a:pt x="52933" y="411959"/>
                </a:lnTo>
                <a:lnTo>
                  <a:pt x="100120" y="458996"/>
                </a:lnTo>
                <a:lnTo>
                  <a:pt x="158208" y="492486"/>
                </a:lnTo>
                <a:lnTo>
                  <a:pt x="222478" y="509720"/>
                </a:lnTo>
                <a:lnTo>
                  <a:pt x="255968" y="511924"/>
                </a:lnTo>
                <a:lnTo>
                  <a:pt x="289457" y="509720"/>
                </a:lnTo>
                <a:lnTo>
                  <a:pt x="353871" y="492486"/>
                </a:lnTo>
                <a:lnTo>
                  <a:pt x="411959" y="458996"/>
                </a:lnTo>
                <a:lnTo>
                  <a:pt x="458996" y="411959"/>
                </a:lnTo>
                <a:lnTo>
                  <a:pt x="492486" y="353871"/>
                </a:lnTo>
                <a:lnTo>
                  <a:pt x="509720" y="289457"/>
                </a:lnTo>
                <a:lnTo>
                  <a:pt x="511924" y="255968"/>
                </a:lnTo>
                <a:lnTo>
                  <a:pt x="509720" y="222478"/>
                </a:lnTo>
                <a:lnTo>
                  <a:pt x="492486" y="158208"/>
                </a:lnTo>
                <a:lnTo>
                  <a:pt x="458996" y="100120"/>
                </a:lnTo>
                <a:lnTo>
                  <a:pt x="411959" y="52933"/>
                </a:lnTo>
                <a:lnTo>
                  <a:pt x="353871" y="19443"/>
                </a:lnTo>
                <a:lnTo>
                  <a:pt x="289457" y="2206"/>
                </a:lnTo>
                <a:lnTo>
                  <a:pt x="255968" y="0"/>
                </a:lnTo>
                <a:close/>
              </a:path>
            </a:pathLst>
          </a:custGeom>
          <a:solidFill>
            <a:srgbClr val="E7A23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17"/>
          <p:cNvSpPr/>
          <p:nvPr/>
        </p:nvSpPr>
        <p:spPr>
          <a:xfrm>
            <a:off x="8778239" y="3794760"/>
            <a:ext cx="2286000" cy="640080"/>
          </a:xfrm>
          <a:custGeom>
            <a:rect b="b" l="l" r="r" t="t"/>
            <a:pathLst>
              <a:path extrusionOk="0" h="640079" w="2286000">
                <a:moveTo>
                  <a:pt x="0" y="640079"/>
                </a:moveTo>
                <a:lnTo>
                  <a:pt x="457200" y="365759"/>
                </a:lnTo>
              </a:path>
              <a:path extrusionOk="0" h="640079" w="2286000">
                <a:moveTo>
                  <a:pt x="457200" y="365759"/>
                </a:moveTo>
                <a:lnTo>
                  <a:pt x="822959" y="502919"/>
                </a:lnTo>
              </a:path>
              <a:path extrusionOk="0" h="640079" w="2286000">
                <a:moveTo>
                  <a:pt x="822959" y="502919"/>
                </a:moveTo>
                <a:lnTo>
                  <a:pt x="1280159" y="137159"/>
                </a:lnTo>
              </a:path>
              <a:path extrusionOk="0" h="640079" w="2286000">
                <a:moveTo>
                  <a:pt x="1280159" y="137159"/>
                </a:moveTo>
                <a:lnTo>
                  <a:pt x="1737359" y="320039"/>
                </a:lnTo>
              </a:path>
              <a:path extrusionOk="0" h="640079" w="2286000">
                <a:moveTo>
                  <a:pt x="1737359" y="320039"/>
                </a:moveTo>
                <a:lnTo>
                  <a:pt x="2286000" y="0"/>
                </a:lnTo>
              </a:path>
            </a:pathLst>
          </a:custGeom>
          <a:noFill/>
          <a:ln cap="flat" cmpd="sng" w="31675">
            <a:solidFill>
              <a:srgbClr val="3EBE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" name="Google Shape;19;p17"/>
          <p:cNvSpPr txBox="1"/>
          <p:nvPr>
            <p:ph type="ctrTitle"/>
          </p:nvPr>
        </p:nvSpPr>
        <p:spPr>
          <a:xfrm>
            <a:off x="579856" y="2090064"/>
            <a:ext cx="6608445" cy="1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2" type="sldNum"/>
          </p:nvPr>
        </p:nvSpPr>
        <p:spPr>
          <a:xfrm>
            <a:off x="11569382" y="6500390"/>
            <a:ext cx="21780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8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11569382" y="6500390"/>
            <a:ext cx="21780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11569382" y="6500390"/>
            <a:ext cx="21780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2" type="sldNum"/>
          </p:nvPr>
        </p:nvSpPr>
        <p:spPr>
          <a:xfrm>
            <a:off x="11569382" y="6500390"/>
            <a:ext cx="21780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11569382" y="6500390"/>
            <a:ext cx="21780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0C13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6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6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2" type="sldNum"/>
          </p:nvPr>
        </p:nvSpPr>
        <p:spPr>
          <a:xfrm>
            <a:off x="11569382" y="6500390"/>
            <a:ext cx="21780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/>
          <p:nvPr/>
        </p:nvSpPr>
        <p:spPr>
          <a:xfrm>
            <a:off x="838200" y="826773"/>
            <a:ext cx="7315200" cy="32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THE FINAL COMMIT		HACKOUT 2026, SYNAPSE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11594782" y="6500390"/>
            <a:ext cx="15430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52" name="Google Shape;52;p1"/>
          <p:cNvSpPr txBox="1"/>
          <p:nvPr>
            <p:ph type="ctrTitle"/>
          </p:nvPr>
        </p:nvSpPr>
        <p:spPr>
          <a:xfrm>
            <a:off x="579856" y="2090064"/>
            <a:ext cx="7878344" cy="1608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/>
              <a:t>GreenCast</a:t>
            </a:r>
            <a:endParaRPr sz="7200"/>
          </a:p>
          <a:p>
            <a:pPr indent="0" lvl="0" marL="127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None/>
            </a:pPr>
            <a:r>
              <a:rPr b="0" i="1" lang="pt-BR" sz="2000">
                <a:solidFill>
                  <a:srgbClr val="E7A23C"/>
                </a:solidFill>
                <a:latin typeface="Calibri"/>
                <a:ea typeface="Calibri"/>
                <a:cs typeface="Calibri"/>
                <a:sym typeface="Calibri"/>
              </a:rPr>
              <a:t>Forecast renewable generation. Understand uncertainty. Act earlier.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579856" y="3991229"/>
            <a:ext cx="7725944" cy="32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A 72-hour solar generation forecasting and grid decision-support platform.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579856" y="6136449"/>
            <a:ext cx="4830344" cy="32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Dhirubhai Ambani University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579856" y="4650000"/>
            <a:ext cx="483034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E7A23C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/>
          </a:p>
        </p:txBody>
      </p:sp>
      <p:sp>
        <p:nvSpPr>
          <p:cNvPr id="56" name="Google Shape;56;p1"/>
          <p:cNvSpPr txBox="1"/>
          <p:nvPr/>
        </p:nvSpPr>
        <p:spPr>
          <a:xfrm>
            <a:off x="579856" y="5150000"/>
            <a:ext cx="9000000" cy="32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Dhruvil Mehta</a:t>
            </a:r>
            <a:r>
              <a:rPr lang="pt-BR" sz="18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lang="pt-BR" sz="18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Kashyap Ajudiya</a:t>
            </a:r>
            <a:r>
              <a:rPr lang="pt-BR" sz="18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lang="pt-BR" sz="18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Aaryan Sangani</a:t>
            </a:r>
            <a:r>
              <a:rPr lang="pt-BR" sz="18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lang="pt-BR" sz="18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Bansi Mehta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/>
        </p:nvSpPr>
        <p:spPr>
          <a:xfrm>
            <a:off x="590820" y="322784"/>
            <a:ext cx="2304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62" name="Google Shape;62;p2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Renewable output is variable. Grid decisions can't be.</a:t>
            </a:r>
            <a:endParaRPr/>
          </a:p>
        </p:txBody>
      </p:sp>
      <p:grpSp>
        <p:nvGrpSpPr>
          <p:cNvPr id="63" name="Google Shape;63;p2"/>
          <p:cNvGrpSpPr/>
          <p:nvPr/>
        </p:nvGrpSpPr>
        <p:grpSpPr>
          <a:xfrm>
            <a:off x="394919" y="1621789"/>
            <a:ext cx="3279241" cy="1175765"/>
            <a:chOff x="394919" y="1621789"/>
            <a:chExt cx="3279241" cy="1175765"/>
          </a:xfrm>
        </p:grpSpPr>
        <p:pic>
          <p:nvPicPr>
            <p:cNvPr id="64" name="Google Shape;6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4919" y="1621789"/>
              <a:ext cx="3279241" cy="11757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2"/>
            <p:cNvSpPr/>
            <p:nvPr/>
          </p:nvSpPr>
          <p:spPr>
            <a:xfrm>
              <a:off x="502920" y="1691639"/>
              <a:ext cx="3063240" cy="960119"/>
            </a:xfrm>
            <a:custGeom>
              <a:rect b="b" l="l" r="r" t="t"/>
              <a:pathLst>
                <a:path extrusionOk="0" h="960119" w="3063240">
                  <a:moveTo>
                    <a:pt x="29897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887044"/>
                  </a:lnTo>
                  <a:lnTo>
                    <a:pt x="594" y="896315"/>
                  </a:lnTo>
                  <a:lnTo>
                    <a:pt x="607" y="896520"/>
                  </a:lnTo>
                  <a:lnTo>
                    <a:pt x="2394" y="905716"/>
                  </a:lnTo>
                  <a:lnTo>
                    <a:pt x="2428" y="905895"/>
                  </a:lnTo>
                  <a:lnTo>
                    <a:pt x="5412" y="914779"/>
                  </a:lnTo>
                  <a:lnTo>
                    <a:pt x="36360" y="950404"/>
                  </a:lnTo>
                  <a:lnTo>
                    <a:pt x="73075" y="960120"/>
                  </a:lnTo>
                  <a:lnTo>
                    <a:pt x="2990164" y="959764"/>
                  </a:lnTo>
                  <a:lnTo>
                    <a:pt x="3034534" y="944660"/>
                  </a:lnTo>
                  <a:lnTo>
                    <a:pt x="3060751" y="905895"/>
                  </a:lnTo>
                  <a:lnTo>
                    <a:pt x="3060811" y="905716"/>
                  </a:lnTo>
                  <a:lnTo>
                    <a:pt x="3062592" y="896520"/>
                  </a:lnTo>
                  <a:lnTo>
                    <a:pt x="3062632" y="896315"/>
                  </a:lnTo>
                  <a:lnTo>
                    <a:pt x="3063216" y="887044"/>
                  </a:lnTo>
                  <a:lnTo>
                    <a:pt x="3063240" y="886675"/>
                  </a:lnTo>
                  <a:lnTo>
                    <a:pt x="3062884" y="73075"/>
                  </a:lnTo>
                  <a:lnTo>
                    <a:pt x="3047780" y="28705"/>
                  </a:lnTo>
                  <a:lnTo>
                    <a:pt x="3008836" y="2428"/>
                  </a:lnTo>
                  <a:lnTo>
                    <a:pt x="2999435" y="607"/>
                  </a:lnTo>
                  <a:lnTo>
                    <a:pt x="298979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502920" y="1691639"/>
              <a:ext cx="3063240" cy="960119"/>
            </a:xfrm>
            <a:custGeom>
              <a:rect b="b" l="l" r="r" t="t"/>
              <a:pathLst>
                <a:path extrusionOk="0" h="960119" w="30632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989795" y="0"/>
                  </a:lnTo>
                  <a:lnTo>
                    <a:pt x="3034328" y="15104"/>
                  </a:lnTo>
                  <a:lnTo>
                    <a:pt x="3060453" y="54224"/>
                  </a:lnTo>
                  <a:lnTo>
                    <a:pt x="3062884" y="73075"/>
                  </a:lnTo>
                  <a:lnTo>
                    <a:pt x="3063240" y="886675"/>
                  </a:lnTo>
                  <a:lnTo>
                    <a:pt x="3062632" y="896315"/>
                  </a:lnTo>
                  <a:lnTo>
                    <a:pt x="3060811" y="905716"/>
                  </a:lnTo>
                  <a:lnTo>
                    <a:pt x="3034534" y="944660"/>
                  </a:lnTo>
                  <a:lnTo>
                    <a:pt x="2990164" y="959764"/>
                  </a:lnTo>
                  <a:lnTo>
                    <a:pt x="73075" y="960120"/>
                  </a:lnTo>
                  <a:lnTo>
                    <a:pt x="28555" y="945015"/>
                  </a:lnTo>
                  <a:lnTo>
                    <a:pt x="2428" y="905895"/>
                  </a:lnTo>
                  <a:lnTo>
                    <a:pt x="0" y="88704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7" name="Google Shape;67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1164" y="1892515"/>
              <a:ext cx="128155" cy="1281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2"/>
          <p:cNvSpPr txBox="1"/>
          <p:nvPr/>
        </p:nvSpPr>
        <p:spPr>
          <a:xfrm>
            <a:off x="808824" y="2074938"/>
            <a:ext cx="904875" cy="462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25">
            <a:spAutoFit/>
          </a:bodyPr>
          <a:lstStyle/>
          <a:p>
            <a:pPr indent="0" lvl="0" marL="12700" marR="508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5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Weather uncertainty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3688816" y="1991423"/>
            <a:ext cx="27876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70;p2"/>
          <p:cNvGrpSpPr/>
          <p:nvPr/>
        </p:nvGrpSpPr>
        <p:grpSpPr>
          <a:xfrm>
            <a:off x="3961079" y="1621789"/>
            <a:ext cx="3279241" cy="1175765"/>
            <a:chOff x="3961079" y="1621789"/>
            <a:chExt cx="3279241" cy="1175765"/>
          </a:xfrm>
        </p:grpSpPr>
        <p:pic>
          <p:nvPicPr>
            <p:cNvPr id="71" name="Google Shape;7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61079" y="1621789"/>
              <a:ext cx="3279241" cy="11757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2"/>
            <p:cNvSpPr/>
            <p:nvPr/>
          </p:nvSpPr>
          <p:spPr>
            <a:xfrm>
              <a:off x="4069079" y="1691639"/>
              <a:ext cx="3063240" cy="960119"/>
            </a:xfrm>
            <a:custGeom>
              <a:rect b="b" l="l" r="r" t="t"/>
              <a:pathLst>
                <a:path extrusionOk="0" h="960119" w="3063240">
                  <a:moveTo>
                    <a:pt x="29897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887044"/>
                  </a:lnTo>
                  <a:lnTo>
                    <a:pt x="15098" y="931414"/>
                  </a:lnTo>
                  <a:lnTo>
                    <a:pt x="54046" y="957691"/>
                  </a:lnTo>
                  <a:lnTo>
                    <a:pt x="73075" y="960120"/>
                  </a:lnTo>
                  <a:lnTo>
                    <a:pt x="2990164" y="959764"/>
                  </a:lnTo>
                  <a:lnTo>
                    <a:pt x="3034534" y="944660"/>
                  </a:lnTo>
                  <a:lnTo>
                    <a:pt x="3057698" y="914935"/>
                  </a:lnTo>
                  <a:lnTo>
                    <a:pt x="3057775" y="914779"/>
                  </a:lnTo>
                  <a:lnTo>
                    <a:pt x="3060751" y="905895"/>
                  </a:lnTo>
                  <a:lnTo>
                    <a:pt x="3060811" y="905716"/>
                  </a:lnTo>
                  <a:lnTo>
                    <a:pt x="3062592" y="896520"/>
                  </a:lnTo>
                  <a:lnTo>
                    <a:pt x="3062632" y="896315"/>
                  </a:lnTo>
                  <a:lnTo>
                    <a:pt x="3063216" y="887044"/>
                  </a:lnTo>
                  <a:lnTo>
                    <a:pt x="3063240" y="886675"/>
                  </a:lnTo>
                  <a:lnTo>
                    <a:pt x="3062884" y="73075"/>
                  </a:lnTo>
                  <a:lnTo>
                    <a:pt x="3047780" y="28705"/>
                  </a:lnTo>
                  <a:lnTo>
                    <a:pt x="3008836" y="2428"/>
                  </a:lnTo>
                  <a:lnTo>
                    <a:pt x="2999435" y="607"/>
                  </a:lnTo>
                  <a:lnTo>
                    <a:pt x="298979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069079" y="1691639"/>
              <a:ext cx="3063240" cy="960119"/>
            </a:xfrm>
            <a:custGeom>
              <a:rect b="b" l="l" r="r" t="t"/>
              <a:pathLst>
                <a:path extrusionOk="0" h="960119" w="30632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989795" y="0"/>
                  </a:lnTo>
                  <a:lnTo>
                    <a:pt x="3034328" y="15104"/>
                  </a:lnTo>
                  <a:lnTo>
                    <a:pt x="3060453" y="54224"/>
                  </a:lnTo>
                  <a:lnTo>
                    <a:pt x="3062884" y="73075"/>
                  </a:lnTo>
                  <a:lnTo>
                    <a:pt x="3063240" y="886675"/>
                  </a:lnTo>
                  <a:lnTo>
                    <a:pt x="3062632" y="896315"/>
                  </a:lnTo>
                  <a:lnTo>
                    <a:pt x="3060811" y="905716"/>
                  </a:lnTo>
                  <a:lnTo>
                    <a:pt x="3034534" y="944660"/>
                  </a:lnTo>
                  <a:lnTo>
                    <a:pt x="2990164" y="959764"/>
                  </a:lnTo>
                  <a:lnTo>
                    <a:pt x="73075" y="960120"/>
                  </a:lnTo>
                  <a:lnTo>
                    <a:pt x="28555" y="945015"/>
                  </a:lnTo>
                  <a:lnTo>
                    <a:pt x="2428" y="905895"/>
                  </a:lnTo>
                  <a:lnTo>
                    <a:pt x="0" y="88704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4" name="Google Shape;74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97324" y="1892515"/>
              <a:ext cx="128155" cy="1281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" name="Google Shape;75;p2"/>
          <p:cNvSpPr txBox="1"/>
          <p:nvPr/>
        </p:nvSpPr>
        <p:spPr>
          <a:xfrm>
            <a:off x="4374984" y="2074938"/>
            <a:ext cx="883285" cy="462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25">
            <a:spAutoFit/>
          </a:bodyPr>
          <a:lstStyle/>
          <a:p>
            <a:pPr indent="0" lvl="0" marL="12700" marR="508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5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Generation variability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7254976" y="1991423"/>
            <a:ext cx="27876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2"/>
          <p:cNvGrpSpPr/>
          <p:nvPr/>
        </p:nvGrpSpPr>
        <p:grpSpPr>
          <a:xfrm>
            <a:off x="7527238" y="1621789"/>
            <a:ext cx="3279241" cy="1175765"/>
            <a:chOff x="7527238" y="1621789"/>
            <a:chExt cx="3279241" cy="1175765"/>
          </a:xfrm>
        </p:grpSpPr>
        <p:pic>
          <p:nvPicPr>
            <p:cNvPr id="78" name="Google Shape;78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27238" y="1621789"/>
              <a:ext cx="3279241" cy="11757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2"/>
            <p:cNvSpPr/>
            <p:nvPr/>
          </p:nvSpPr>
          <p:spPr>
            <a:xfrm>
              <a:off x="7635239" y="1691639"/>
              <a:ext cx="3063240" cy="960119"/>
            </a:xfrm>
            <a:custGeom>
              <a:rect b="b" l="l" r="r" t="t"/>
              <a:pathLst>
                <a:path extrusionOk="0" h="960119" w="3063240">
                  <a:moveTo>
                    <a:pt x="29897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887044"/>
                  </a:lnTo>
                  <a:lnTo>
                    <a:pt x="594" y="896315"/>
                  </a:lnTo>
                  <a:lnTo>
                    <a:pt x="607" y="896520"/>
                  </a:lnTo>
                  <a:lnTo>
                    <a:pt x="2394" y="905716"/>
                  </a:lnTo>
                  <a:lnTo>
                    <a:pt x="2428" y="905895"/>
                  </a:lnTo>
                  <a:lnTo>
                    <a:pt x="5412" y="914779"/>
                  </a:lnTo>
                  <a:lnTo>
                    <a:pt x="36360" y="950404"/>
                  </a:lnTo>
                  <a:lnTo>
                    <a:pt x="73075" y="960120"/>
                  </a:lnTo>
                  <a:lnTo>
                    <a:pt x="2990164" y="959764"/>
                  </a:lnTo>
                  <a:lnTo>
                    <a:pt x="3034534" y="944660"/>
                  </a:lnTo>
                  <a:lnTo>
                    <a:pt x="3057698" y="914935"/>
                  </a:lnTo>
                  <a:lnTo>
                    <a:pt x="3057775" y="914779"/>
                  </a:lnTo>
                  <a:lnTo>
                    <a:pt x="3060751" y="905895"/>
                  </a:lnTo>
                  <a:lnTo>
                    <a:pt x="3060811" y="905716"/>
                  </a:lnTo>
                  <a:lnTo>
                    <a:pt x="3062592" y="896520"/>
                  </a:lnTo>
                  <a:lnTo>
                    <a:pt x="3062632" y="896315"/>
                  </a:lnTo>
                  <a:lnTo>
                    <a:pt x="3063216" y="887044"/>
                  </a:lnTo>
                  <a:lnTo>
                    <a:pt x="3063239" y="886675"/>
                  </a:lnTo>
                  <a:lnTo>
                    <a:pt x="3062884" y="73075"/>
                  </a:lnTo>
                  <a:lnTo>
                    <a:pt x="3047780" y="28705"/>
                  </a:lnTo>
                  <a:lnTo>
                    <a:pt x="3008836" y="2428"/>
                  </a:lnTo>
                  <a:lnTo>
                    <a:pt x="2999435" y="607"/>
                  </a:lnTo>
                  <a:lnTo>
                    <a:pt x="298979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7635239" y="1691639"/>
              <a:ext cx="3063240" cy="960119"/>
            </a:xfrm>
            <a:custGeom>
              <a:rect b="b" l="l" r="r" t="t"/>
              <a:pathLst>
                <a:path extrusionOk="0" h="960119" w="30632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989795" y="0"/>
                  </a:lnTo>
                  <a:lnTo>
                    <a:pt x="3034328" y="15104"/>
                  </a:lnTo>
                  <a:lnTo>
                    <a:pt x="3060453" y="54224"/>
                  </a:lnTo>
                  <a:lnTo>
                    <a:pt x="3062884" y="73075"/>
                  </a:lnTo>
                  <a:lnTo>
                    <a:pt x="3063239" y="886675"/>
                  </a:lnTo>
                  <a:lnTo>
                    <a:pt x="3062632" y="896315"/>
                  </a:lnTo>
                  <a:lnTo>
                    <a:pt x="3060811" y="905716"/>
                  </a:lnTo>
                  <a:lnTo>
                    <a:pt x="3034534" y="944660"/>
                  </a:lnTo>
                  <a:lnTo>
                    <a:pt x="2990164" y="959764"/>
                  </a:lnTo>
                  <a:lnTo>
                    <a:pt x="73075" y="960120"/>
                  </a:lnTo>
                  <a:lnTo>
                    <a:pt x="28555" y="945015"/>
                  </a:lnTo>
                  <a:lnTo>
                    <a:pt x="2428" y="905895"/>
                  </a:lnTo>
                  <a:lnTo>
                    <a:pt x="0" y="88704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1" name="Google Shape;81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63484" y="1892515"/>
              <a:ext cx="128155" cy="1281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2"/>
          <p:cNvSpPr txBox="1"/>
          <p:nvPr/>
        </p:nvSpPr>
        <p:spPr>
          <a:xfrm>
            <a:off x="7941144" y="2074938"/>
            <a:ext cx="1586230" cy="462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25">
            <a:spAutoFit/>
          </a:bodyPr>
          <a:lstStyle/>
          <a:p>
            <a:pPr indent="0" lvl="0" marL="12700" marR="508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5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Storage / backup / curtailment decision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" name="Google Shape;83;p2"/>
          <p:cNvGrpSpPr/>
          <p:nvPr/>
        </p:nvGrpSpPr>
        <p:grpSpPr>
          <a:xfrm>
            <a:off x="502919" y="3063240"/>
            <a:ext cx="384175" cy="384175"/>
            <a:chOff x="502919" y="3063240"/>
            <a:chExt cx="384175" cy="384175"/>
          </a:xfrm>
        </p:grpSpPr>
        <p:sp>
          <p:nvSpPr>
            <p:cNvPr id="84" name="Google Shape;84;p2"/>
            <p:cNvSpPr/>
            <p:nvPr/>
          </p:nvSpPr>
          <p:spPr>
            <a:xfrm>
              <a:off x="502919" y="3063240"/>
              <a:ext cx="384175" cy="384175"/>
            </a:xfrm>
            <a:custGeom>
              <a:rect b="b" l="l" r="r" t="t"/>
              <a:pathLst>
                <a:path extrusionOk="0" h="384175" w="384175">
                  <a:moveTo>
                    <a:pt x="192239" y="0"/>
                  </a:moveTo>
                  <a:lnTo>
                    <a:pt x="142425" y="6434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8"/>
                  </a:lnTo>
                  <a:lnTo>
                    <a:pt x="6572" y="142063"/>
                  </a:lnTo>
                  <a:lnTo>
                    <a:pt x="0" y="191884"/>
                  </a:lnTo>
                  <a:lnTo>
                    <a:pt x="1665" y="217074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92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2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74"/>
                  </a:lnTo>
                  <a:lnTo>
                    <a:pt x="384124" y="191884"/>
                  </a:lnTo>
                  <a:lnTo>
                    <a:pt x="382458" y="166686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28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02919" y="3063240"/>
              <a:ext cx="384175" cy="384175"/>
            </a:xfrm>
            <a:custGeom>
              <a:rect b="b" l="l" r="r" t="t"/>
              <a:pathLst>
                <a:path extrusionOk="0" h="384175" w="384175">
                  <a:moveTo>
                    <a:pt x="0" y="191884"/>
                  </a:moveTo>
                  <a:lnTo>
                    <a:pt x="1665" y="166686"/>
                  </a:lnTo>
                  <a:lnTo>
                    <a:pt x="6572" y="142063"/>
                  </a:lnTo>
                  <a:lnTo>
                    <a:pt x="25565" y="95758"/>
                  </a:lnTo>
                  <a:lnTo>
                    <a:pt x="56249" y="56070"/>
                  </a:lnTo>
                  <a:lnTo>
                    <a:pt x="96126" y="25565"/>
                  </a:lnTo>
                  <a:lnTo>
                    <a:pt x="142425" y="6434"/>
                  </a:lnTo>
                  <a:lnTo>
                    <a:pt x="192239" y="0"/>
                  </a:lnTo>
                  <a:lnTo>
                    <a:pt x="241738" y="6434"/>
                  </a:lnTo>
                  <a:lnTo>
                    <a:pt x="287997" y="25565"/>
                  </a:lnTo>
                  <a:lnTo>
                    <a:pt x="327869" y="56070"/>
                  </a:lnTo>
                  <a:lnTo>
                    <a:pt x="358559" y="95758"/>
                  </a:lnTo>
                  <a:lnTo>
                    <a:pt x="377551" y="142063"/>
                  </a:lnTo>
                  <a:lnTo>
                    <a:pt x="384124" y="191884"/>
                  </a:lnTo>
                  <a:lnTo>
                    <a:pt x="382458" y="217074"/>
                  </a:lnTo>
                  <a:lnTo>
                    <a:pt x="377551" y="241693"/>
                  </a:lnTo>
                  <a:lnTo>
                    <a:pt x="358559" y="287997"/>
                  </a:lnTo>
                  <a:lnTo>
                    <a:pt x="327869" y="327686"/>
                  </a:lnTo>
                  <a:lnTo>
                    <a:pt x="287997" y="358203"/>
                  </a:lnTo>
                  <a:lnTo>
                    <a:pt x="241738" y="377507"/>
                  </a:lnTo>
                  <a:lnTo>
                    <a:pt x="192239" y="384124"/>
                  </a:lnTo>
                  <a:lnTo>
                    <a:pt x="142425" y="377507"/>
                  </a:lnTo>
                  <a:lnTo>
                    <a:pt x="96126" y="358203"/>
                  </a:lnTo>
                  <a:lnTo>
                    <a:pt x="56249" y="327686"/>
                  </a:lnTo>
                  <a:lnTo>
                    <a:pt x="25565" y="287997"/>
                  </a:lnTo>
                  <a:lnTo>
                    <a:pt x="6572" y="241693"/>
                  </a:lnTo>
                  <a:lnTo>
                    <a:pt x="1665" y="217074"/>
                  </a:lnTo>
                  <a:lnTo>
                    <a:pt x="0" y="191884"/>
                  </a:lnTo>
                  <a:close/>
                </a:path>
              </a:pathLst>
            </a:custGeom>
            <a:noFill/>
            <a:ln cap="flat" cmpd="sng" w="19075">
              <a:solidFill>
                <a:srgbClr val="E75C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6" name="Google Shape;86;p2"/>
          <p:cNvSpPr txBox="1"/>
          <p:nvPr/>
        </p:nvSpPr>
        <p:spPr>
          <a:xfrm>
            <a:off x="641781" y="3135858"/>
            <a:ext cx="107314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E75C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1174584" y="3083661"/>
            <a:ext cx="4845216" cy="676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Forecasts must be actionable, not just numeric.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A number alone doesn't tell an operator what to do.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2"/>
          <p:cNvGrpSpPr/>
          <p:nvPr/>
        </p:nvGrpSpPr>
        <p:grpSpPr>
          <a:xfrm>
            <a:off x="502919" y="4023359"/>
            <a:ext cx="384175" cy="384175"/>
            <a:chOff x="502919" y="4023359"/>
            <a:chExt cx="384175" cy="384175"/>
          </a:xfrm>
        </p:grpSpPr>
        <p:sp>
          <p:nvSpPr>
            <p:cNvPr id="89" name="Google Shape;89;p2"/>
            <p:cNvSpPr/>
            <p:nvPr/>
          </p:nvSpPr>
          <p:spPr>
            <a:xfrm>
              <a:off x="502919" y="4023359"/>
              <a:ext cx="384175" cy="384175"/>
            </a:xfrm>
            <a:custGeom>
              <a:rect b="b" l="l" r="r" t="t"/>
              <a:pathLst>
                <a:path extrusionOk="0" h="384175" w="384175">
                  <a:moveTo>
                    <a:pt x="192239" y="0"/>
                  </a:moveTo>
                  <a:lnTo>
                    <a:pt x="142425" y="6434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7"/>
                  </a:lnTo>
                  <a:lnTo>
                    <a:pt x="6572" y="142063"/>
                  </a:lnTo>
                  <a:lnTo>
                    <a:pt x="0" y="191884"/>
                  </a:lnTo>
                  <a:lnTo>
                    <a:pt x="1665" y="217074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92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2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74"/>
                  </a:lnTo>
                  <a:lnTo>
                    <a:pt x="384124" y="191884"/>
                  </a:lnTo>
                  <a:lnTo>
                    <a:pt x="382458" y="166686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28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02919" y="4023359"/>
              <a:ext cx="384175" cy="384175"/>
            </a:xfrm>
            <a:custGeom>
              <a:rect b="b" l="l" r="r" t="t"/>
              <a:pathLst>
                <a:path extrusionOk="0" h="384175" w="384175">
                  <a:moveTo>
                    <a:pt x="0" y="191884"/>
                  </a:moveTo>
                  <a:lnTo>
                    <a:pt x="1665" y="166686"/>
                  </a:lnTo>
                  <a:lnTo>
                    <a:pt x="6572" y="142063"/>
                  </a:lnTo>
                  <a:lnTo>
                    <a:pt x="25565" y="95757"/>
                  </a:lnTo>
                  <a:lnTo>
                    <a:pt x="56249" y="56070"/>
                  </a:lnTo>
                  <a:lnTo>
                    <a:pt x="96126" y="25565"/>
                  </a:lnTo>
                  <a:lnTo>
                    <a:pt x="142425" y="6434"/>
                  </a:lnTo>
                  <a:lnTo>
                    <a:pt x="192239" y="0"/>
                  </a:lnTo>
                  <a:lnTo>
                    <a:pt x="241738" y="6434"/>
                  </a:lnTo>
                  <a:lnTo>
                    <a:pt x="287997" y="25565"/>
                  </a:lnTo>
                  <a:lnTo>
                    <a:pt x="327869" y="56070"/>
                  </a:lnTo>
                  <a:lnTo>
                    <a:pt x="358559" y="95757"/>
                  </a:lnTo>
                  <a:lnTo>
                    <a:pt x="377551" y="142063"/>
                  </a:lnTo>
                  <a:lnTo>
                    <a:pt x="384124" y="191884"/>
                  </a:lnTo>
                  <a:lnTo>
                    <a:pt x="382458" y="217074"/>
                  </a:lnTo>
                  <a:lnTo>
                    <a:pt x="377551" y="241693"/>
                  </a:lnTo>
                  <a:lnTo>
                    <a:pt x="358559" y="287997"/>
                  </a:lnTo>
                  <a:lnTo>
                    <a:pt x="327869" y="327686"/>
                  </a:lnTo>
                  <a:lnTo>
                    <a:pt x="287997" y="358203"/>
                  </a:lnTo>
                  <a:lnTo>
                    <a:pt x="241738" y="377507"/>
                  </a:lnTo>
                  <a:lnTo>
                    <a:pt x="192239" y="384124"/>
                  </a:lnTo>
                  <a:lnTo>
                    <a:pt x="142425" y="377507"/>
                  </a:lnTo>
                  <a:lnTo>
                    <a:pt x="96126" y="358203"/>
                  </a:lnTo>
                  <a:lnTo>
                    <a:pt x="56249" y="327686"/>
                  </a:lnTo>
                  <a:lnTo>
                    <a:pt x="25565" y="287997"/>
                  </a:lnTo>
                  <a:lnTo>
                    <a:pt x="6572" y="241693"/>
                  </a:lnTo>
                  <a:lnTo>
                    <a:pt x="1665" y="217074"/>
                  </a:lnTo>
                  <a:lnTo>
                    <a:pt x="0" y="191884"/>
                  </a:lnTo>
                  <a:close/>
                </a:path>
              </a:pathLst>
            </a:custGeom>
            <a:noFill/>
            <a:ln cap="flat" cmpd="sng" w="19075">
              <a:solidFill>
                <a:srgbClr val="E75C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1" name="Google Shape;91;p2"/>
          <p:cNvSpPr txBox="1"/>
          <p:nvPr/>
        </p:nvSpPr>
        <p:spPr>
          <a:xfrm>
            <a:off x="637095" y="4095978"/>
            <a:ext cx="11557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E75C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1174584" y="4043781"/>
            <a:ext cx="6902616" cy="676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Longer horizons become more uncertain.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A single confident line for 72 hours out overstates what's knowable.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"/>
          <p:cNvGrpSpPr/>
          <p:nvPr/>
        </p:nvGrpSpPr>
        <p:grpSpPr>
          <a:xfrm>
            <a:off x="502919" y="4983479"/>
            <a:ext cx="384175" cy="384175"/>
            <a:chOff x="502919" y="4983479"/>
            <a:chExt cx="384175" cy="384175"/>
          </a:xfrm>
        </p:grpSpPr>
        <p:sp>
          <p:nvSpPr>
            <p:cNvPr id="94" name="Google Shape;94;p2"/>
            <p:cNvSpPr/>
            <p:nvPr/>
          </p:nvSpPr>
          <p:spPr>
            <a:xfrm>
              <a:off x="502919" y="4983479"/>
              <a:ext cx="384175" cy="384175"/>
            </a:xfrm>
            <a:custGeom>
              <a:rect b="b" l="l" r="r" t="t"/>
              <a:pathLst>
                <a:path extrusionOk="0" h="384175" w="384175">
                  <a:moveTo>
                    <a:pt x="192239" y="0"/>
                  </a:moveTo>
                  <a:lnTo>
                    <a:pt x="142425" y="6434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8"/>
                  </a:lnTo>
                  <a:lnTo>
                    <a:pt x="6572" y="142063"/>
                  </a:lnTo>
                  <a:lnTo>
                    <a:pt x="0" y="191884"/>
                  </a:lnTo>
                  <a:lnTo>
                    <a:pt x="1665" y="217074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92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2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74"/>
                  </a:lnTo>
                  <a:lnTo>
                    <a:pt x="384124" y="191884"/>
                  </a:lnTo>
                  <a:lnTo>
                    <a:pt x="382458" y="166686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28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02919" y="4983479"/>
              <a:ext cx="384175" cy="384175"/>
            </a:xfrm>
            <a:custGeom>
              <a:rect b="b" l="l" r="r" t="t"/>
              <a:pathLst>
                <a:path extrusionOk="0" h="384175" w="384175">
                  <a:moveTo>
                    <a:pt x="0" y="191884"/>
                  </a:moveTo>
                  <a:lnTo>
                    <a:pt x="1665" y="166686"/>
                  </a:lnTo>
                  <a:lnTo>
                    <a:pt x="6572" y="142063"/>
                  </a:lnTo>
                  <a:lnTo>
                    <a:pt x="25565" y="95758"/>
                  </a:lnTo>
                  <a:lnTo>
                    <a:pt x="56249" y="56070"/>
                  </a:lnTo>
                  <a:lnTo>
                    <a:pt x="96126" y="25565"/>
                  </a:lnTo>
                  <a:lnTo>
                    <a:pt x="142425" y="6434"/>
                  </a:lnTo>
                  <a:lnTo>
                    <a:pt x="192239" y="0"/>
                  </a:lnTo>
                  <a:lnTo>
                    <a:pt x="241738" y="6434"/>
                  </a:lnTo>
                  <a:lnTo>
                    <a:pt x="287997" y="25565"/>
                  </a:lnTo>
                  <a:lnTo>
                    <a:pt x="327869" y="56070"/>
                  </a:lnTo>
                  <a:lnTo>
                    <a:pt x="358559" y="95758"/>
                  </a:lnTo>
                  <a:lnTo>
                    <a:pt x="377551" y="142063"/>
                  </a:lnTo>
                  <a:lnTo>
                    <a:pt x="384124" y="191884"/>
                  </a:lnTo>
                  <a:lnTo>
                    <a:pt x="382458" y="217074"/>
                  </a:lnTo>
                  <a:lnTo>
                    <a:pt x="377551" y="241693"/>
                  </a:lnTo>
                  <a:lnTo>
                    <a:pt x="358559" y="287997"/>
                  </a:lnTo>
                  <a:lnTo>
                    <a:pt x="327869" y="327686"/>
                  </a:lnTo>
                  <a:lnTo>
                    <a:pt x="287997" y="358203"/>
                  </a:lnTo>
                  <a:lnTo>
                    <a:pt x="241738" y="377507"/>
                  </a:lnTo>
                  <a:lnTo>
                    <a:pt x="192239" y="384124"/>
                  </a:lnTo>
                  <a:lnTo>
                    <a:pt x="142425" y="377507"/>
                  </a:lnTo>
                  <a:lnTo>
                    <a:pt x="96126" y="358203"/>
                  </a:lnTo>
                  <a:lnTo>
                    <a:pt x="56249" y="327686"/>
                  </a:lnTo>
                  <a:lnTo>
                    <a:pt x="25565" y="287997"/>
                  </a:lnTo>
                  <a:lnTo>
                    <a:pt x="6572" y="241693"/>
                  </a:lnTo>
                  <a:lnTo>
                    <a:pt x="1665" y="217074"/>
                  </a:lnTo>
                  <a:lnTo>
                    <a:pt x="0" y="191884"/>
                  </a:lnTo>
                  <a:close/>
                </a:path>
              </a:pathLst>
            </a:custGeom>
            <a:noFill/>
            <a:ln cap="flat" cmpd="sng" w="19075">
              <a:solidFill>
                <a:srgbClr val="E75C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6" name="Google Shape;96;p2"/>
          <p:cNvSpPr txBox="1"/>
          <p:nvPr/>
        </p:nvSpPr>
        <p:spPr>
          <a:xfrm>
            <a:off x="637095" y="5056098"/>
            <a:ext cx="1162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E75C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1594782" y="6500390"/>
            <a:ext cx="15430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174584" y="5003901"/>
            <a:ext cx="6460655" cy="676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Operators need to know why an alert fired.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A flag with no explanation gets ignored or distrusted.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/>
        </p:nvSpPr>
        <p:spPr>
          <a:xfrm>
            <a:off x="579856" y="416776"/>
            <a:ext cx="30777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A23C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04" name="Google Shape;104;p3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Decision support, not an autonomous controller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579856" y="1823224"/>
            <a:ext cx="6354344" cy="640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As renewable penetration grows, supply becomes harder to predict at exactly the moments grid operators most need certainty.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79856" y="2600464"/>
            <a:ext cx="6764147" cy="640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Backup planning, storage scheduling, and curtailment decisions all depend on knowing what's coming - not just what's happening now.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79856" y="3377704"/>
            <a:ext cx="5956935" cy="640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GreenCast is built to inform a human decision-maker, not to act on its own. It recommends; an operator decides.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" name="Google Shape;108;p3"/>
          <p:cNvGrpSpPr/>
          <p:nvPr/>
        </p:nvGrpSpPr>
        <p:grpSpPr>
          <a:xfrm>
            <a:off x="7344003" y="1667154"/>
            <a:ext cx="4422241" cy="3781806"/>
            <a:chOff x="7344003" y="1667154"/>
            <a:chExt cx="4422241" cy="3781806"/>
          </a:xfrm>
        </p:grpSpPr>
        <p:pic>
          <p:nvPicPr>
            <p:cNvPr id="109" name="Google Shape;109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44003" y="1667154"/>
              <a:ext cx="4422241" cy="37818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3"/>
            <p:cNvSpPr/>
            <p:nvPr/>
          </p:nvSpPr>
          <p:spPr>
            <a:xfrm>
              <a:off x="7452004" y="1737004"/>
              <a:ext cx="4206240" cy="3566160"/>
            </a:xfrm>
            <a:custGeom>
              <a:rect b="b" l="l" r="r" t="t"/>
              <a:pathLst>
                <a:path extrusionOk="0" h="3566160" w="4206240">
                  <a:moveTo>
                    <a:pt x="41327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493071"/>
                  </a:lnTo>
                  <a:lnTo>
                    <a:pt x="594" y="3502349"/>
                  </a:lnTo>
                  <a:lnTo>
                    <a:pt x="607" y="3502549"/>
                  </a:lnTo>
                  <a:lnTo>
                    <a:pt x="2394" y="3511750"/>
                  </a:lnTo>
                  <a:lnTo>
                    <a:pt x="2428" y="3511927"/>
                  </a:lnTo>
                  <a:lnTo>
                    <a:pt x="5412" y="3520812"/>
                  </a:lnTo>
                  <a:lnTo>
                    <a:pt x="5464" y="3520967"/>
                  </a:lnTo>
                  <a:lnTo>
                    <a:pt x="36360" y="3556431"/>
                  </a:lnTo>
                  <a:lnTo>
                    <a:pt x="73075" y="3566160"/>
                  </a:lnTo>
                  <a:lnTo>
                    <a:pt x="4133151" y="3565791"/>
                  </a:lnTo>
                  <a:lnTo>
                    <a:pt x="4177529" y="3550700"/>
                  </a:lnTo>
                  <a:lnTo>
                    <a:pt x="4203749" y="3511927"/>
                  </a:lnTo>
                  <a:lnTo>
                    <a:pt x="4205593" y="3502549"/>
                  </a:lnTo>
                  <a:lnTo>
                    <a:pt x="4205632" y="3502349"/>
                  </a:lnTo>
                  <a:lnTo>
                    <a:pt x="4206217" y="3493071"/>
                  </a:lnTo>
                  <a:lnTo>
                    <a:pt x="4206239" y="3492715"/>
                  </a:lnTo>
                  <a:lnTo>
                    <a:pt x="4205871" y="73075"/>
                  </a:lnTo>
                  <a:lnTo>
                    <a:pt x="4190780" y="28698"/>
                  </a:lnTo>
                  <a:lnTo>
                    <a:pt x="4151830" y="2428"/>
                  </a:lnTo>
                  <a:lnTo>
                    <a:pt x="4142429" y="607"/>
                  </a:lnTo>
                  <a:lnTo>
                    <a:pt x="4132795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7452004" y="1737004"/>
              <a:ext cx="4206240" cy="3566160"/>
            </a:xfrm>
            <a:custGeom>
              <a:rect b="b" l="l" r="r" t="t"/>
              <a:pathLst>
                <a:path extrusionOk="0" h="3566160" w="420624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4132795" y="0"/>
                  </a:lnTo>
                  <a:lnTo>
                    <a:pt x="4177323" y="15096"/>
                  </a:lnTo>
                  <a:lnTo>
                    <a:pt x="4203442" y="54219"/>
                  </a:lnTo>
                  <a:lnTo>
                    <a:pt x="4205871" y="73075"/>
                  </a:lnTo>
                  <a:lnTo>
                    <a:pt x="4206239" y="3492715"/>
                  </a:lnTo>
                  <a:lnTo>
                    <a:pt x="4205632" y="3502349"/>
                  </a:lnTo>
                  <a:lnTo>
                    <a:pt x="4203809" y="3511750"/>
                  </a:lnTo>
                  <a:lnTo>
                    <a:pt x="4177529" y="3550700"/>
                  </a:lnTo>
                  <a:lnTo>
                    <a:pt x="4133151" y="3565791"/>
                  </a:lnTo>
                  <a:lnTo>
                    <a:pt x="73075" y="3566160"/>
                  </a:lnTo>
                  <a:lnTo>
                    <a:pt x="28548" y="3551050"/>
                  </a:lnTo>
                  <a:lnTo>
                    <a:pt x="2428" y="3511927"/>
                  </a:lnTo>
                  <a:lnTo>
                    <a:pt x="0" y="3493071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E7A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2" name="Google Shape;112;p3"/>
          <p:cNvSpPr txBox="1"/>
          <p:nvPr/>
        </p:nvSpPr>
        <p:spPr>
          <a:xfrm>
            <a:off x="7757896" y="1815744"/>
            <a:ext cx="3321050" cy="2323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E7A2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49860" marR="5080" rtl="0" algn="l">
              <a:lnSpc>
                <a:spcPct val="107200"/>
              </a:lnSpc>
              <a:spcBef>
                <a:spcPts val="2785"/>
              </a:spcBef>
              <a:spcAft>
                <a:spcPts val="0"/>
              </a:spcAft>
              <a:buNone/>
            </a:pPr>
            <a:r>
              <a:rPr b="1" i="1" lang="pt-BR" sz="2100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anticipation creates more time to choose the least disruptive action.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3" name="Google Shape;113;p3"/>
          <p:cNvGrpSpPr/>
          <p:nvPr/>
        </p:nvGrpSpPr>
        <p:grpSpPr>
          <a:xfrm>
            <a:off x="502564" y="4846319"/>
            <a:ext cx="6841438" cy="971420"/>
            <a:chOff x="502564" y="4846319"/>
            <a:chExt cx="6841438" cy="971420"/>
          </a:xfrm>
        </p:grpSpPr>
        <p:sp>
          <p:nvSpPr>
            <p:cNvPr id="114" name="Google Shape;114;p3"/>
            <p:cNvSpPr/>
            <p:nvPr/>
          </p:nvSpPr>
          <p:spPr>
            <a:xfrm>
              <a:off x="502564" y="4846319"/>
              <a:ext cx="6841438" cy="971420"/>
            </a:xfrm>
            <a:custGeom>
              <a:rect b="b" l="l" r="r" t="t"/>
              <a:pathLst>
                <a:path extrusionOk="0" h="777239" w="6675120">
                  <a:moveTo>
                    <a:pt x="66016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04164"/>
                  </a:lnTo>
                  <a:lnTo>
                    <a:pt x="594" y="713435"/>
                  </a:lnTo>
                  <a:lnTo>
                    <a:pt x="607" y="713640"/>
                  </a:lnTo>
                  <a:lnTo>
                    <a:pt x="2394" y="722836"/>
                  </a:lnTo>
                  <a:lnTo>
                    <a:pt x="2428" y="723015"/>
                  </a:lnTo>
                  <a:lnTo>
                    <a:pt x="5412" y="731899"/>
                  </a:lnTo>
                  <a:lnTo>
                    <a:pt x="36360" y="767524"/>
                  </a:lnTo>
                  <a:lnTo>
                    <a:pt x="73075" y="777239"/>
                  </a:lnTo>
                  <a:lnTo>
                    <a:pt x="6602031" y="776884"/>
                  </a:lnTo>
                  <a:lnTo>
                    <a:pt x="6646409" y="761780"/>
                  </a:lnTo>
                  <a:lnTo>
                    <a:pt x="6669572" y="732055"/>
                  </a:lnTo>
                  <a:lnTo>
                    <a:pt x="6669649" y="731899"/>
                  </a:lnTo>
                  <a:lnTo>
                    <a:pt x="6675096" y="704164"/>
                  </a:lnTo>
                  <a:lnTo>
                    <a:pt x="6675120" y="703795"/>
                  </a:lnTo>
                  <a:lnTo>
                    <a:pt x="6674751" y="73075"/>
                  </a:lnTo>
                  <a:lnTo>
                    <a:pt x="6659660" y="28705"/>
                  </a:lnTo>
                  <a:lnTo>
                    <a:pt x="6620710" y="2428"/>
                  </a:lnTo>
                  <a:lnTo>
                    <a:pt x="6611309" y="607"/>
                  </a:lnTo>
                  <a:lnTo>
                    <a:pt x="6601675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502564" y="4846319"/>
              <a:ext cx="6675120" cy="777240"/>
            </a:xfrm>
            <a:custGeom>
              <a:rect b="b" l="l" r="r" t="t"/>
              <a:pathLst>
                <a:path extrusionOk="0" h="777239" w="667512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6601675" y="0"/>
                  </a:lnTo>
                  <a:lnTo>
                    <a:pt x="6646203" y="15104"/>
                  </a:lnTo>
                  <a:lnTo>
                    <a:pt x="6672322" y="54224"/>
                  </a:lnTo>
                  <a:lnTo>
                    <a:pt x="6674751" y="73075"/>
                  </a:lnTo>
                  <a:lnTo>
                    <a:pt x="6675120" y="703795"/>
                  </a:lnTo>
                  <a:lnTo>
                    <a:pt x="6674512" y="713435"/>
                  </a:lnTo>
                  <a:lnTo>
                    <a:pt x="6672689" y="722836"/>
                  </a:lnTo>
                  <a:lnTo>
                    <a:pt x="6646409" y="761780"/>
                  </a:lnTo>
                  <a:lnTo>
                    <a:pt x="6602031" y="776884"/>
                  </a:lnTo>
                  <a:lnTo>
                    <a:pt x="73075" y="777239"/>
                  </a:lnTo>
                  <a:lnTo>
                    <a:pt x="28548" y="762135"/>
                  </a:lnTo>
                  <a:lnTo>
                    <a:pt x="2428" y="723015"/>
                  </a:lnTo>
                  <a:lnTo>
                    <a:pt x="0" y="70416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6" name="Google Shape;116;p3"/>
          <p:cNvSpPr txBox="1"/>
          <p:nvPr/>
        </p:nvSpPr>
        <p:spPr>
          <a:xfrm>
            <a:off x="808456" y="4861081"/>
            <a:ext cx="6675120" cy="971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Not an autonomous grid controller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GreenCast recommends curtail / backup-dispatch / normal - a person always decides.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1594782" y="6500390"/>
            <a:ext cx="15430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/>
        </p:nvSpPr>
        <p:spPr>
          <a:xfrm>
            <a:off x="579856" y="416776"/>
            <a:ext cx="2163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23" name="Google Shape;123;p4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three-layer system, not one model</a:t>
            </a:r>
            <a:endParaRPr/>
          </a:p>
        </p:txBody>
      </p:sp>
      <p:grpSp>
        <p:nvGrpSpPr>
          <p:cNvPr id="124" name="Google Shape;124;p4"/>
          <p:cNvGrpSpPr/>
          <p:nvPr/>
        </p:nvGrpSpPr>
        <p:grpSpPr>
          <a:xfrm>
            <a:off x="394919" y="1804314"/>
            <a:ext cx="3736441" cy="2501646"/>
            <a:chOff x="394919" y="1804314"/>
            <a:chExt cx="3736441" cy="2501646"/>
          </a:xfrm>
        </p:grpSpPr>
        <p:pic>
          <p:nvPicPr>
            <p:cNvPr id="125" name="Google Shape;12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4919" y="1804314"/>
              <a:ext cx="3736441" cy="25016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4"/>
            <p:cNvSpPr/>
            <p:nvPr/>
          </p:nvSpPr>
          <p:spPr>
            <a:xfrm>
              <a:off x="502920" y="1874164"/>
              <a:ext cx="3520440" cy="2286000"/>
            </a:xfrm>
            <a:custGeom>
              <a:rect b="b" l="l" r="r" t="t"/>
              <a:pathLst>
                <a:path extrusionOk="0" h="2286000" w="3520440">
                  <a:moveTo>
                    <a:pt x="34469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212911"/>
                  </a:lnTo>
                  <a:lnTo>
                    <a:pt x="594" y="2222189"/>
                  </a:lnTo>
                  <a:lnTo>
                    <a:pt x="607" y="2222389"/>
                  </a:lnTo>
                  <a:lnTo>
                    <a:pt x="2394" y="2231590"/>
                  </a:lnTo>
                  <a:lnTo>
                    <a:pt x="2428" y="2231767"/>
                  </a:lnTo>
                  <a:lnTo>
                    <a:pt x="5412" y="2240652"/>
                  </a:lnTo>
                  <a:lnTo>
                    <a:pt x="5464" y="2240807"/>
                  </a:lnTo>
                  <a:lnTo>
                    <a:pt x="9715" y="2249271"/>
                  </a:lnTo>
                  <a:lnTo>
                    <a:pt x="44984" y="2280529"/>
                  </a:lnTo>
                  <a:lnTo>
                    <a:pt x="73075" y="2286000"/>
                  </a:lnTo>
                  <a:lnTo>
                    <a:pt x="3447364" y="2285631"/>
                  </a:lnTo>
                  <a:lnTo>
                    <a:pt x="3491734" y="2270540"/>
                  </a:lnTo>
                  <a:lnTo>
                    <a:pt x="3517951" y="2231767"/>
                  </a:lnTo>
                  <a:lnTo>
                    <a:pt x="3518011" y="2231590"/>
                  </a:lnTo>
                  <a:lnTo>
                    <a:pt x="3519794" y="2222389"/>
                  </a:lnTo>
                  <a:lnTo>
                    <a:pt x="3519832" y="2222189"/>
                  </a:lnTo>
                  <a:lnTo>
                    <a:pt x="3520417" y="2212911"/>
                  </a:lnTo>
                  <a:lnTo>
                    <a:pt x="3520440" y="2212555"/>
                  </a:lnTo>
                  <a:lnTo>
                    <a:pt x="3520084" y="73075"/>
                  </a:lnTo>
                  <a:lnTo>
                    <a:pt x="3504980" y="28698"/>
                  </a:lnTo>
                  <a:lnTo>
                    <a:pt x="3466036" y="2428"/>
                  </a:lnTo>
                  <a:lnTo>
                    <a:pt x="3456635" y="607"/>
                  </a:lnTo>
                  <a:lnTo>
                    <a:pt x="344699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02920" y="1874164"/>
              <a:ext cx="3520440" cy="2286000"/>
            </a:xfrm>
            <a:custGeom>
              <a:rect b="b" l="l" r="r" t="t"/>
              <a:pathLst>
                <a:path extrusionOk="0" h="2286000" w="352044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3446995" y="0"/>
                  </a:lnTo>
                  <a:lnTo>
                    <a:pt x="3491528" y="15096"/>
                  </a:lnTo>
                  <a:lnTo>
                    <a:pt x="3517653" y="54219"/>
                  </a:lnTo>
                  <a:lnTo>
                    <a:pt x="3520084" y="73075"/>
                  </a:lnTo>
                  <a:lnTo>
                    <a:pt x="3520440" y="2212555"/>
                  </a:lnTo>
                  <a:lnTo>
                    <a:pt x="3519832" y="2222189"/>
                  </a:lnTo>
                  <a:lnTo>
                    <a:pt x="3518011" y="2231590"/>
                  </a:lnTo>
                  <a:lnTo>
                    <a:pt x="3491734" y="2270540"/>
                  </a:lnTo>
                  <a:lnTo>
                    <a:pt x="3447364" y="2285631"/>
                  </a:lnTo>
                  <a:lnTo>
                    <a:pt x="73075" y="2286000"/>
                  </a:lnTo>
                  <a:lnTo>
                    <a:pt x="28555" y="2270890"/>
                  </a:lnTo>
                  <a:lnTo>
                    <a:pt x="2428" y="2231767"/>
                  </a:lnTo>
                  <a:lnTo>
                    <a:pt x="0" y="2212911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777240" y="2148840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631"/>
                  </a:lnTo>
                  <a:lnTo>
                    <a:pt x="218640" y="500721"/>
                  </a:lnTo>
                  <a:lnTo>
                    <a:pt x="251637" y="502920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19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777240" y="2148840"/>
              <a:ext cx="502920" cy="502920"/>
            </a:xfrm>
            <a:custGeom>
              <a:rect b="b" l="l" r="r" t="t"/>
              <a:pathLst>
                <a:path extrusionOk="0" h="502919" w="502919">
                  <a:moveTo>
                    <a:pt x="0" y="251282"/>
                  </a:moveTo>
                  <a:lnTo>
                    <a:pt x="2148" y="218334"/>
                  </a:lnTo>
                  <a:lnTo>
                    <a:pt x="8550" y="186166"/>
                  </a:lnTo>
                  <a:lnTo>
                    <a:pt x="33845" y="125641"/>
                  </a:lnTo>
                  <a:lnTo>
                    <a:pt x="73666" y="73482"/>
                  </a:lnTo>
                  <a:lnTo>
                    <a:pt x="125641" y="33477"/>
                  </a:lnTo>
                  <a:lnTo>
                    <a:pt x="186348" y="8504"/>
                  </a:lnTo>
                  <a:lnTo>
                    <a:pt x="251637" y="0"/>
                  </a:lnTo>
                  <a:lnTo>
                    <a:pt x="316615" y="8504"/>
                  </a:lnTo>
                  <a:lnTo>
                    <a:pt x="377278" y="33477"/>
                  </a:lnTo>
                  <a:lnTo>
                    <a:pt x="429253" y="73482"/>
                  </a:lnTo>
                  <a:lnTo>
                    <a:pt x="469074" y="125641"/>
                  </a:lnTo>
                  <a:lnTo>
                    <a:pt x="494369" y="186166"/>
                  </a:lnTo>
                  <a:lnTo>
                    <a:pt x="502919" y="251282"/>
                  </a:lnTo>
                  <a:lnTo>
                    <a:pt x="500771" y="284224"/>
                  </a:lnTo>
                  <a:lnTo>
                    <a:pt x="494369" y="316393"/>
                  </a:lnTo>
                  <a:lnTo>
                    <a:pt x="469074" y="376923"/>
                  </a:lnTo>
                  <a:lnTo>
                    <a:pt x="429253" y="429071"/>
                  </a:lnTo>
                  <a:lnTo>
                    <a:pt x="377278" y="469074"/>
                  </a:lnTo>
                  <a:lnTo>
                    <a:pt x="316615" y="494236"/>
                  </a:lnTo>
                  <a:lnTo>
                    <a:pt x="251637" y="502920"/>
                  </a:lnTo>
                  <a:lnTo>
                    <a:pt x="186348" y="494236"/>
                  </a:lnTo>
                  <a:lnTo>
                    <a:pt x="125641" y="469074"/>
                  </a:lnTo>
                  <a:lnTo>
                    <a:pt x="73666" y="429071"/>
                  </a:lnTo>
                  <a:lnTo>
                    <a:pt x="33845" y="376923"/>
                  </a:lnTo>
                  <a:lnTo>
                    <a:pt x="8550" y="316393"/>
                  </a:lnTo>
                  <a:lnTo>
                    <a:pt x="2148" y="284224"/>
                  </a:lnTo>
                  <a:lnTo>
                    <a:pt x="0" y="251282"/>
                  </a:lnTo>
                  <a:close/>
                </a:path>
              </a:pathLst>
            </a:custGeom>
            <a:noFill/>
            <a:ln cap="flat" cmpd="sng" w="190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0" name="Google Shape;130;p4"/>
          <p:cNvSpPr txBox="1"/>
          <p:nvPr/>
        </p:nvSpPr>
        <p:spPr>
          <a:xfrm>
            <a:off x="957859" y="2235136"/>
            <a:ext cx="14224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854544" y="2814027"/>
            <a:ext cx="1269365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Forecasting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854544" y="3232598"/>
            <a:ext cx="3168816" cy="791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Weather + solar geometry + time → hourly generation prediction, 1–72 hours ahead.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4118660" y="2851810"/>
            <a:ext cx="255904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" name="Google Shape;134;p4"/>
          <p:cNvGrpSpPr/>
          <p:nvPr/>
        </p:nvGrpSpPr>
        <p:grpSpPr>
          <a:xfrm>
            <a:off x="4224489" y="1785103"/>
            <a:ext cx="3736441" cy="2501646"/>
            <a:chOff x="4235399" y="1804314"/>
            <a:chExt cx="3736441" cy="2501646"/>
          </a:xfrm>
        </p:grpSpPr>
        <p:pic>
          <p:nvPicPr>
            <p:cNvPr id="135" name="Google Shape;13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35399" y="1804314"/>
              <a:ext cx="3736441" cy="25016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4"/>
            <p:cNvSpPr/>
            <p:nvPr/>
          </p:nvSpPr>
          <p:spPr>
            <a:xfrm>
              <a:off x="4343400" y="1874164"/>
              <a:ext cx="3520440" cy="2286000"/>
            </a:xfrm>
            <a:custGeom>
              <a:rect b="b" l="l" r="r" t="t"/>
              <a:pathLst>
                <a:path extrusionOk="0" h="2286000" w="3520440">
                  <a:moveTo>
                    <a:pt x="34469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212911"/>
                  </a:lnTo>
                  <a:lnTo>
                    <a:pt x="5412" y="2240652"/>
                  </a:lnTo>
                  <a:lnTo>
                    <a:pt x="5464" y="2240807"/>
                  </a:lnTo>
                  <a:lnTo>
                    <a:pt x="36360" y="2276271"/>
                  </a:lnTo>
                  <a:lnTo>
                    <a:pt x="73075" y="2286000"/>
                  </a:lnTo>
                  <a:lnTo>
                    <a:pt x="3447364" y="2285631"/>
                  </a:lnTo>
                  <a:lnTo>
                    <a:pt x="3491734" y="2270540"/>
                  </a:lnTo>
                  <a:lnTo>
                    <a:pt x="3517951" y="2231767"/>
                  </a:lnTo>
                  <a:lnTo>
                    <a:pt x="3520417" y="2212911"/>
                  </a:lnTo>
                  <a:lnTo>
                    <a:pt x="3520440" y="2212555"/>
                  </a:lnTo>
                  <a:lnTo>
                    <a:pt x="3520084" y="73075"/>
                  </a:lnTo>
                  <a:lnTo>
                    <a:pt x="3504980" y="28698"/>
                  </a:lnTo>
                  <a:lnTo>
                    <a:pt x="3466036" y="2428"/>
                  </a:lnTo>
                  <a:lnTo>
                    <a:pt x="3456635" y="607"/>
                  </a:lnTo>
                  <a:lnTo>
                    <a:pt x="344699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4343400" y="1874164"/>
              <a:ext cx="3520440" cy="2286000"/>
            </a:xfrm>
            <a:custGeom>
              <a:rect b="b" l="l" r="r" t="t"/>
              <a:pathLst>
                <a:path extrusionOk="0" h="2286000" w="352044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3446995" y="0"/>
                  </a:lnTo>
                  <a:lnTo>
                    <a:pt x="3491528" y="15096"/>
                  </a:lnTo>
                  <a:lnTo>
                    <a:pt x="3517653" y="54219"/>
                  </a:lnTo>
                  <a:lnTo>
                    <a:pt x="3520084" y="73075"/>
                  </a:lnTo>
                  <a:lnTo>
                    <a:pt x="3520440" y="2212555"/>
                  </a:lnTo>
                  <a:lnTo>
                    <a:pt x="3519832" y="2222189"/>
                  </a:lnTo>
                  <a:lnTo>
                    <a:pt x="3518011" y="2231590"/>
                  </a:lnTo>
                  <a:lnTo>
                    <a:pt x="3491734" y="2270540"/>
                  </a:lnTo>
                  <a:lnTo>
                    <a:pt x="3447364" y="2285631"/>
                  </a:lnTo>
                  <a:lnTo>
                    <a:pt x="73075" y="2286000"/>
                  </a:lnTo>
                  <a:lnTo>
                    <a:pt x="28555" y="2270890"/>
                  </a:lnTo>
                  <a:lnTo>
                    <a:pt x="2428" y="2231767"/>
                  </a:lnTo>
                  <a:lnTo>
                    <a:pt x="0" y="2212911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4617720" y="2148840"/>
              <a:ext cx="502920" cy="502920"/>
            </a:xfrm>
            <a:custGeom>
              <a:rect b="b" l="l" r="r" t="t"/>
              <a:pathLst>
                <a:path extrusionOk="0" h="502919" w="502920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631"/>
                  </a:lnTo>
                  <a:lnTo>
                    <a:pt x="218640" y="500721"/>
                  </a:lnTo>
                  <a:lnTo>
                    <a:pt x="251637" y="502920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19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4617720" y="2148840"/>
              <a:ext cx="502920" cy="502920"/>
            </a:xfrm>
            <a:custGeom>
              <a:rect b="b" l="l" r="r" t="t"/>
              <a:pathLst>
                <a:path extrusionOk="0" h="502919" w="502920">
                  <a:moveTo>
                    <a:pt x="0" y="251282"/>
                  </a:moveTo>
                  <a:lnTo>
                    <a:pt x="2148" y="218334"/>
                  </a:lnTo>
                  <a:lnTo>
                    <a:pt x="8550" y="186166"/>
                  </a:lnTo>
                  <a:lnTo>
                    <a:pt x="33845" y="125641"/>
                  </a:lnTo>
                  <a:lnTo>
                    <a:pt x="73666" y="73482"/>
                  </a:lnTo>
                  <a:lnTo>
                    <a:pt x="125641" y="33477"/>
                  </a:lnTo>
                  <a:lnTo>
                    <a:pt x="186348" y="8504"/>
                  </a:lnTo>
                  <a:lnTo>
                    <a:pt x="251637" y="0"/>
                  </a:lnTo>
                  <a:lnTo>
                    <a:pt x="316615" y="8504"/>
                  </a:lnTo>
                  <a:lnTo>
                    <a:pt x="377278" y="33477"/>
                  </a:lnTo>
                  <a:lnTo>
                    <a:pt x="429253" y="73482"/>
                  </a:lnTo>
                  <a:lnTo>
                    <a:pt x="469074" y="125641"/>
                  </a:lnTo>
                  <a:lnTo>
                    <a:pt x="494369" y="186166"/>
                  </a:lnTo>
                  <a:lnTo>
                    <a:pt x="502919" y="251282"/>
                  </a:lnTo>
                  <a:lnTo>
                    <a:pt x="500771" y="284224"/>
                  </a:lnTo>
                  <a:lnTo>
                    <a:pt x="494369" y="316393"/>
                  </a:lnTo>
                  <a:lnTo>
                    <a:pt x="469074" y="376923"/>
                  </a:lnTo>
                  <a:lnTo>
                    <a:pt x="429253" y="429071"/>
                  </a:lnTo>
                  <a:lnTo>
                    <a:pt x="377278" y="469074"/>
                  </a:lnTo>
                  <a:lnTo>
                    <a:pt x="316615" y="494236"/>
                  </a:lnTo>
                  <a:lnTo>
                    <a:pt x="251637" y="502920"/>
                  </a:lnTo>
                  <a:lnTo>
                    <a:pt x="186348" y="494236"/>
                  </a:lnTo>
                  <a:lnTo>
                    <a:pt x="125641" y="469074"/>
                  </a:lnTo>
                  <a:lnTo>
                    <a:pt x="73666" y="429071"/>
                  </a:lnTo>
                  <a:lnTo>
                    <a:pt x="33845" y="376923"/>
                  </a:lnTo>
                  <a:lnTo>
                    <a:pt x="8550" y="316393"/>
                  </a:lnTo>
                  <a:lnTo>
                    <a:pt x="2148" y="284224"/>
                  </a:lnTo>
                  <a:lnTo>
                    <a:pt x="0" y="251282"/>
                  </a:lnTo>
                  <a:close/>
                </a:path>
              </a:pathLst>
            </a:custGeom>
            <a:noFill/>
            <a:ln cap="flat" cmpd="sng" w="19075">
              <a:solidFill>
                <a:srgbClr val="E7A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0" name="Google Shape;140;p4"/>
          <p:cNvSpPr txBox="1"/>
          <p:nvPr/>
        </p:nvSpPr>
        <p:spPr>
          <a:xfrm>
            <a:off x="4792217" y="2235136"/>
            <a:ext cx="15430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E7A2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4695024" y="2834204"/>
            <a:ext cx="2787015" cy="130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6600"/>
              </a:lnSpc>
              <a:spcBef>
                <a:spcPts val="168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Prediction + capacity thresholds → normal, curtail, or backup-dispatch recommendation.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7959140" y="2851810"/>
            <a:ext cx="255904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4"/>
          <p:cNvGrpSpPr/>
          <p:nvPr/>
        </p:nvGrpSpPr>
        <p:grpSpPr>
          <a:xfrm>
            <a:off x="8075879" y="1804314"/>
            <a:ext cx="3736441" cy="2501646"/>
            <a:chOff x="8075879" y="1804314"/>
            <a:chExt cx="3736441" cy="2501646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75879" y="1804314"/>
              <a:ext cx="3736441" cy="25016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4"/>
            <p:cNvSpPr/>
            <p:nvPr/>
          </p:nvSpPr>
          <p:spPr>
            <a:xfrm>
              <a:off x="8183879" y="1874164"/>
              <a:ext cx="3520440" cy="2286000"/>
            </a:xfrm>
            <a:custGeom>
              <a:rect b="b" l="l" r="r" t="t"/>
              <a:pathLst>
                <a:path extrusionOk="0" h="2286000" w="3520440">
                  <a:moveTo>
                    <a:pt x="34469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212911"/>
                  </a:lnTo>
                  <a:lnTo>
                    <a:pt x="594" y="2222189"/>
                  </a:lnTo>
                  <a:lnTo>
                    <a:pt x="607" y="2222389"/>
                  </a:lnTo>
                  <a:lnTo>
                    <a:pt x="2394" y="2231590"/>
                  </a:lnTo>
                  <a:lnTo>
                    <a:pt x="2428" y="2231767"/>
                  </a:lnTo>
                  <a:lnTo>
                    <a:pt x="5412" y="2240652"/>
                  </a:lnTo>
                  <a:lnTo>
                    <a:pt x="5464" y="2240807"/>
                  </a:lnTo>
                  <a:lnTo>
                    <a:pt x="36360" y="2276271"/>
                  </a:lnTo>
                  <a:lnTo>
                    <a:pt x="73075" y="2286000"/>
                  </a:lnTo>
                  <a:lnTo>
                    <a:pt x="3447364" y="2285631"/>
                  </a:lnTo>
                  <a:lnTo>
                    <a:pt x="3491734" y="2270540"/>
                  </a:lnTo>
                  <a:lnTo>
                    <a:pt x="3517951" y="2231767"/>
                  </a:lnTo>
                  <a:lnTo>
                    <a:pt x="3520417" y="2212911"/>
                  </a:lnTo>
                  <a:lnTo>
                    <a:pt x="3520440" y="2212555"/>
                  </a:lnTo>
                  <a:lnTo>
                    <a:pt x="3520084" y="73075"/>
                  </a:lnTo>
                  <a:lnTo>
                    <a:pt x="3504980" y="28698"/>
                  </a:lnTo>
                  <a:lnTo>
                    <a:pt x="3466036" y="2428"/>
                  </a:lnTo>
                  <a:lnTo>
                    <a:pt x="3456635" y="607"/>
                  </a:lnTo>
                  <a:lnTo>
                    <a:pt x="344699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8183879" y="1874164"/>
              <a:ext cx="3520440" cy="2286000"/>
            </a:xfrm>
            <a:custGeom>
              <a:rect b="b" l="l" r="r" t="t"/>
              <a:pathLst>
                <a:path extrusionOk="0" h="2286000" w="352044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3446995" y="0"/>
                  </a:lnTo>
                  <a:lnTo>
                    <a:pt x="3491528" y="15096"/>
                  </a:lnTo>
                  <a:lnTo>
                    <a:pt x="3517653" y="54219"/>
                  </a:lnTo>
                  <a:lnTo>
                    <a:pt x="3520084" y="73075"/>
                  </a:lnTo>
                  <a:lnTo>
                    <a:pt x="3520440" y="2212555"/>
                  </a:lnTo>
                  <a:lnTo>
                    <a:pt x="3519832" y="2222189"/>
                  </a:lnTo>
                  <a:lnTo>
                    <a:pt x="3518011" y="2231590"/>
                  </a:lnTo>
                  <a:lnTo>
                    <a:pt x="3491734" y="2270540"/>
                  </a:lnTo>
                  <a:lnTo>
                    <a:pt x="3447364" y="2285631"/>
                  </a:lnTo>
                  <a:lnTo>
                    <a:pt x="73075" y="2286000"/>
                  </a:lnTo>
                  <a:lnTo>
                    <a:pt x="28555" y="2270890"/>
                  </a:lnTo>
                  <a:lnTo>
                    <a:pt x="2428" y="2231767"/>
                  </a:lnTo>
                  <a:lnTo>
                    <a:pt x="0" y="2212911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8458199" y="2148840"/>
              <a:ext cx="502920" cy="502920"/>
            </a:xfrm>
            <a:custGeom>
              <a:rect b="b" l="l" r="r" t="t"/>
              <a:pathLst>
                <a:path extrusionOk="0" h="502919" w="502920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631"/>
                  </a:lnTo>
                  <a:lnTo>
                    <a:pt x="218640" y="500721"/>
                  </a:lnTo>
                  <a:lnTo>
                    <a:pt x="251637" y="502920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8458199" y="2148840"/>
              <a:ext cx="502920" cy="502920"/>
            </a:xfrm>
            <a:custGeom>
              <a:rect b="b" l="l" r="r" t="t"/>
              <a:pathLst>
                <a:path extrusionOk="0" h="502919" w="502920">
                  <a:moveTo>
                    <a:pt x="0" y="251282"/>
                  </a:moveTo>
                  <a:lnTo>
                    <a:pt x="2148" y="218334"/>
                  </a:lnTo>
                  <a:lnTo>
                    <a:pt x="8550" y="186166"/>
                  </a:lnTo>
                  <a:lnTo>
                    <a:pt x="33845" y="125641"/>
                  </a:lnTo>
                  <a:lnTo>
                    <a:pt x="73666" y="73482"/>
                  </a:lnTo>
                  <a:lnTo>
                    <a:pt x="125641" y="33477"/>
                  </a:lnTo>
                  <a:lnTo>
                    <a:pt x="186348" y="8504"/>
                  </a:lnTo>
                  <a:lnTo>
                    <a:pt x="251637" y="0"/>
                  </a:lnTo>
                  <a:lnTo>
                    <a:pt x="316615" y="8504"/>
                  </a:lnTo>
                  <a:lnTo>
                    <a:pt x="377278" y="33477"/>
                  </a:lnTo>
                  <a:lnTo>
                    <a:pt x="429253" y="73482"/>
                  </a:lnTo>
                  <a:lnTo>
                    <a:pt x="469074" y="125641"/>
                  </a:lnTo>
                  <a:lnTo>
                    <a:pt x="494369" y="186166"/>
                  </a:lnTo>
                  <a:lnTo>
                    <a:pt x="502920" y="251282"/>
                  </a:lnTo>
                  <a:lnTo>
                    <a:pt x="500771" y="284224"/>
                  </a:lnTo>
                  <a:lnTo>
                    <a:pt x="494369" y="316393"/>
                  </a:lnTo>
                  <a:lnTo>
                    <a:pt x="469074" y="376923"/>
                  </a:lnTo>
                  <a:lnTo>
                    <a:pt x="429253" y="429071"/>
                  </a:lnTo>
                  <a:lnTo>
                    <a:pt x="377278" y="469074"/>
                  </a:lnTo>
                  <a:lnTo>
                    <a:pt x="316615" y="494236"/>
                  </a:lnTo>
                  <a:lnTo>
                    <a:pt x="251637" y="502920"/>
                  </a:lnTo>
                  <a:lnTo>
                    <a:pt x="186348" y="494236"/>
                  </a:lnTo>
                  <a:lnTo>
                    <a:pt x="125641" y="469074"/>
                  </a:lnTo>
                  <a:lnTo>
                    <a:pt x="73666" y="429071"/>
                  </a:lnTo>
                  <a:lnTo>
                    <a:pt x="33845" y="376923"/>
                  </a:lnTo>
                  <a:lnTo>
                    <a:pt x="8550" y="316393"/>
                  </a:lnTo>
                  <a:lnTo>
                    <a:pt x="2148" y="284224"/>
                  </a:lnTo>
                  <a:lnTo>
                    <a:pt x="0" y="251282"/>
                  </a:lnTo>
                  <a:close/>
                </a:path>
              </a:pathLst>
            </a:custGeom>
            <a:noFill/>
            <a:ln cap="flat" cmpd="sng" w="19075">
              <a:solidFill>
                <a:srgbClr val="E75C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9" name="Google Shape;149;p4"/>
          <p:cNvSpPr txBox="1"/>
          <p:nvPr/>
        </p:nvSpPr>
        <p:spPr>
          <a:xfrm>
            <a:off x="8632697" y="2235136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E75C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11594782" y="6500390"/>
            <a:ext cx="15430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8535504" y="2814027"/>
            <a:ext cx="1229360" cy="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Experience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8535504" y="3248973"/>
            <a:ext cx="3153576" cy="791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Protected dashboard → chart, uncertainty band, table, alerts, export, comparison.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789530" y="5707127"/>
            <a:ext cx="11109224" cy="32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Every arrow above is a real API/data boundary in the codebase - not a conceptual simplification.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/>
          <p:nvPr/>
        </p:nvSpPr>
        <p:spPr>
          <a:xfrm>
            <a:off x="579856" y="416776"/>
            <a:ext cx="4296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DATA &amp; FEATURE ENGINEERING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59" name="Google Shape;159;p5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From raw sensor logs to a forecast-ready dataset</a:t>
            </a:r>
            <a:endParaRPr/>
          </a:p>
        </p:txBody>
      </p:sp>
      <p:grpSp>
        <p:nvGrpSpPr>
          <p:cNvPr id="160" name="Google Shape;160;p5"/>
          <p:cNvGrpSpPr/>
          <p:nvPr/>
        </p:nvGrpSpPr>
        <p:grpSpPr>
          <a:xfrm>
            <a:off x="394919" y="1621789"/>
            <a:ext cx="2730601" cy="1267206"/>
            <a:chOff x="394919" y="1621789"/>
            <a:chExt cx="2730601" cy="1267206"/>
          </a:xfrm>
        </p:grpSpPr>
        <p:pic>
          <p:nvPicPr>
            <p:cNvPr id="161" name="Google Shape;16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4919" y="1621789"/>
              <a:ext cx="2730601" cy="12672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5"/>
            <p:cNvSpPr/>
            <p:nvPr/>
          </p:nvSpPr>
          <p:spPr>
            <a:xfrm>
              <a:off x="502920" y="1691639"/>
              <a:ext cx="2514600" cy="1051560"/>
            </a:xfrm>
            <a:custGeom>
              <a:rect b="b" l="l" r="r" t="t"/>
              <a:pathLst>
                <a:path extrusionOk="0" h="1051560" w="2514600">
                  <a:moveTo>
                    <a:pt x="244115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78484"/>
                  </a:lnTo>
                  <a:lnTo>
                    <a:pt x="594" y="987755"/>
                  </a:lnTo>
                  <a:lnTo>
                    <a:pt x="607" y="987960"/>
                  </a:lnTo>
                  <a:lnTo>
                    <a:pt x="2394" y="997156"/>
                  </a:lnTo>
                  <a:lnTo>
                    <a:pt x="2428" y="997335"/>
                  </a:lnTo>
                  <a:lnTo>
                    <a:pt x="5412" y="1006219"/>
                  </a:lnTo>
                  <a:lnTo>
                    <a:pt x="36360" y="1041844"/>
                  </a:lnTo>
                  <a:lnTo>
                    <a:pt x="73075" y="1051560"/>
                  </a:lnTo>
                  <a:lnTo>
                    <a:pt x="2441524" y="1051204"/>
                  </a:lnTo>
                  <a:lnTo>
                    <a:pt x="2485894" y="1036100"/>
                  </a:lnTo>
                  <a:lnTo>
                    <a:pt x="2512111" y="997335"/>
                  </a:lnTo>
                  <a:lnTo>
                    <a:pt x="2514600" y="978115"/>
                  </a:lnTo>
                  <a:lnTo>
                    <a:pt x="2514244" y="73075"/>
                  </a:lnTo>
                  <a:lnTo>
                    <a:pt x="2499140" y="28705"/>
                  </a:lnTo>
                  <a:lnTo>
                    <a:pt x="2460196" y="2428"/>
                  </a:lnTo>
                  <a:lnTo>
                    <a:pt x="2450795" y="607"/>
                  </a:lnTo>
                  <a:lnTo>
                    <a:pt x="2441155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02920" y="1691639"/>
              <a:ext cx="2514600" cy="1051560"/>
            </a:xfrm>
            <a:custGeom>
              <a:rect b="b" l="l" r="r" t="t"/>
              <a:pathLst>
                <a:path extrusionOk="0" h="1051560" w="25146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2441155" y="0"/>
                  </a:lnTo>
                  <a:lnTo>
                    <a:pt x="2485688" y="15104"/>
                  </a:lnTo>
                  <a:lnTo>
                    <a:pt x="2511813" y="54224"/>
                  </a:lnTo>
                  <a:lnTo>
                    <a:pt x="2514244" y="73075"/>
                  </a:lnTo>
                  <a:lnTo>
                    <a:pt x="2514600" y="978115"/>
                  </a:lnTo>
                  <a:lnTo>
                    <a:pt x="2513992" y="987755"/>
                  </a:lnTo>
                  <a:lnTo>
                    <a:pt x="2512171" y="997156"/>
                  </a:lnTo>
                  <a:lnTo>
                    <a:pt x="2485894" y="1036100"/>
                  </a:lnTo>
                  <a:lnTo>
                    <a:pt x="2441524" y="1051204"/>
                  </a:lnTo>
                  <a:lnTo>
                    <a:pt x="73075" y="1051560"/>
                  </a:lnTo>
                  <a:lnTo>
                    <a:pt x="28555" y="1036455"/>
                  </a:lnTo>
                  <a:lnTo>
                    <a:pt x="2428" y="997335"/>
                  </a:lnTo>
                  <a:lnTo>
                    <a:pt x="0" y="97848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4" name="Google Shape;164;p5"/>
          <p:cNvSpPr txBox="1"/>
          <p:nvPr/>
        </p:nvSpPr>
        <p:spPr>
          <a:xfrm>
            <a:off x="763104" y="2014092"/>
            <a:ext cx="2254403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Plant 1 generation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+ weather data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3094456" y="2082507"/>
            <a:ext cx="2095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" name="Google Shape;166;p5"/>
          <p:cNvGrpSpPr/>
          <p:nvPr/>
        </p:nvGrpSpPr>
        <p:grpSpPr>
          <a:xfrm>
            <a:off x="3165475" y="1621789"/>
            <a:ext cx="2730601" cy="1267206"/>
            <a:chOff x="3165475" y="1621789"/>
            <a:chExt cx="2730601" cy="1267206"/>
          </a:xfrm>
        </p:grpSpPr>
        <p:pic>
          <p:nvPicPr>
            <p:cNvPr id="167" name="Google Shape;167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65475" y="1621789"/>
              <a:ext cx="2730601" cy="12672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5"/>
            <p:cNvSpPr/>
            <p:nvPr/>
          </p:nvSpPr>
          <p:spPr>
            <a:xfrm>
              <a:off x="3273475" y="1691639"/>
              <a:ext cx="2514600" cy="1051560"/>
            </a:xfrm>
            <a:custGeom>
              <a:rect b="b" l="l" r="r" t="t"/>
              <a:pathLst>
                <a:path extrusionOk="0" h="1051560" w="2514600">
                  <a:moveTo>
                    <a:pt x="244116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78484"/>
                  </a:lnTo>
                  <a:lnTo>
                    <a:pt x="594" y="987755"/>
                  </a:lnTo>
                  <a:lnTo>
                    <a:pt x="607" y="987960"/>
                  </a:lnTo>
                  <a:lnTo>
                    <a:pt x="2395" y="997156"/>
                  </a:lnTo>
                  <a:lnTo>
                    <a:pt x="2430" y="997335"/>
                  </a:lnTo>
                  <a:lnTo>
                    <a:pt x="28555" y="1036455"/>
                  </a:lnTo>
                  <a:lnTo>
                    <a:pt x="73088" y="1051560"/>
                  </a:lnTo>
                  <a:lnTo>
                    <a:pt x="2441524" y="1051204"/>
                  </a:lnTo>
                  <a:lnTo>
                    <a:pt x="2485901" y="1036100"/>
                  </a:lnTo>
                  <a:lnTo>
                    <a:pt x="2512111" y="997335"/>
                  </a:lnTo>
                  <a:lnTo>
                    <a:pt x="2512171" y="997156"/>
                  </a:lnTo>
                  <a:lnTo>
                    <a:pt x="2513952" y="987960"/>
                  </a:lnTo>
                  <a:lnTo>
                    <a:pt x="2513992" y="987755"/>
                  </a:lnTo>
                  <a:lnTo>
                    <a:pt x="2514576" y="978484"/>
                  </a:lnTo>
                  <a:lnTo>
                    <a:pt x="2514600" y="978115"/>
                  </a:lnTo>
                  <a:lnTo>
                    <a:pt x="2514244" y="73075"/>
                  </a:lnTo>
                  <a:lnTo>
                    <a:pt x="2499145" y="28705"/>
                  </a:lnTo>
                  <a:lnTo>
                    <a:pt x="2460197" y="2428"/>
                  </a:lnTo>
                  <a:lnTo>
                    <a:pt x="2450800" y="607"/>
                  </a:lnTo>
                  <a:lnTo>
                    <a:pt x="2441168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3273475" y="1691639"/>
              <a:ext cx="2514600" cy="1051560"/>
            </a:xfrm>
            <a:custGeom>
              <a:rect b="b" l="l" r="r" t="t"/>
              <a:pathLst>
                <a:path extrusionOk="0" h="1051560" w="251460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441168" y="0"/>
                  </a:lnTo>
                  <a:lnTo>
                    <a:pt x="2485689" y="15104"/>
                  </a:lnTo>
                  <a:lnTo>
                    <a:pt x="2511815" y="54224"/>
                  </a:lnTo>
                  <a:lnTo>
                    <a:pt x="2514244" y="73075"/>
                  </a:lnTo>
                  <a:lnTo>
                    <a:pt x="2514600" y="978115"/>
                  </a:lnTo>
                  <a:lnTo>
                    <a:pt x="2513992" y="987755"/>
                  </a:lnTo>
                  <a:lnTo>
                    <a:pt x="2512171" y="997156"/>
                  </a:lnTo>
                  <a:lnTo>
                    <a:pt x="2485901" y="1036100"/>
                  </a:lnTo>
                  <a:lnTo>
                    <a:pt x="2441524" y="1051204"/>
                  </a:lnTo>
                  <a:lnTo>
                    <a:pt x="73088" y="1051560"/>
                  </a:lnTo>
                  <a:lnTo>
                    <a:pt x="28555" y="1036455"/>
                  </a:lnTo>
                  <a:lnTo>
                    <a:pt x="2430" y="997335"/>
                  </a:lnTo>
                  <a:lnTo>
                    <a:pt x="0" y="97848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0" name="Google Shape;170;p5"/>
          <p:cNvSpPr txBox="1"/>
          <p:nvPr/>
        </p:nvSpPr>
        <p:spPr>
          <a:xfrm>
            <a:off x="3533660" y="2014092"/>
            <a:ext cx="2101354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Timeline repair (missing timestamps)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5865024" y="2082507"/>
            <a:ext cx="2095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5"/>
          <p:cNvGrpSpPr/>
          <p:nvPr/>
        </p:nvGrpSpPr>
        <p:grpSpPr>
          <a:xfrm>
            <a:off x="5936043" y="1621789"/>
            <a:ext cx="2730601" cy="1267206"/>
            <a:chOff x="5936043" y="1621789"/>
            <a:chExt cx="2730601" cy="1267206"/>
          </a:xfrm>
        </p:grpSpPr>
        <p:pic>
          <p:nvPicPr>
            <p:cNvPr id="173" name="Google Shape;17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36043" y="1621789"/>
              <a:ext cx="2730601" cy="12672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5"/>
            <p:cNvSpPr/>
            <p:nvPr/>
          </p:nvSpPr>
          <p:spPr>
            <a:xfrm>
              <a:off x="6044044" y="1691639"/>
              <a:ext cx="2514600" cy="1051560"/>
            </a:xfrm>
            <a:custGeom>
              <a:rect b="b" l="l" r="r" t="t"/>
              <a:pathLst>
                <a:path extrusionOk="0" h="1051560" w="2514600">
                  <a:moveTo>
                    <a:pt x="2441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78484"/>
                  </a:lnTo>
                  <a:lnTo>
                    <a:pt x="15091" y="1022854"/>
                  </a:lnTo>
                  <a:lnTo>
                    <a:pt x="54041" y="1049131"/>
                  </a:lnTo>
                  <a:lnTo>
                    <a:pt x="73075" y="1051560"/>
                  </a:lnTo>
                  <a:lnTo>
                    <a:pt x="2441511" y="1051204"/>
                  </a:lnTo>
                  <a:lnTo>
                    <a:pt x="2485889" y="1036100"/>
                  </a:lnTo>
                  <a:lnTo>
                    <a:pt x="2509052" y="1006375"/>
                  </a:lnTo>
                  <a:lnTo>
                    <a:pt x="2509129" y="1006219"/>
                  </a:lnTo>
                  <a:lnTo>
                    <a:pt x="2514576" y="978484"/>
                  </a:lnTo>
                  <a:lnTo>
                    <a:pt x="2514600" y="978115"/>
                  </a:lnTo>
                  <a:lnTo>
                    <a:pt x="2514231" y="73075"/>
                  </a:lnTo>
                  <a:lnTo>
                    <a:pt x="2499140" y="28705"/>
                  </a:lnTo>
                  <a:lnTo>
                    <a:pt x="2460190" y="2428"/>
                  </a:lnTo>
                  <a:lnTo>
                    <a:pt x="2450789" y="607"/>
                  </a:lnTo>
                  <a:lnTo>
                    <a:pt x="2441155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6044044" y="1691639"/>
              <a:ext cx="2514600" cy="1051560"/>
            </a:xfrm>
            <a:custGeom>
              <a:rect b="b" l="l" r="r" t="t"/>
              <a:pathLst>
                <a:path extrusionOk="0" h="1051560" w="25146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441155" y="0"/>
                  </a:lnTo>
                  <a:lnTo>
                    <a:pt x="2485683" y="15104"/>
                  </a:lnTo>
                  <a:lnTo>
                    <a:pt x="2511802" y="54224"/>
                  </a:lnTo>
                  <a:lnTo>
                    <a:pt x="2514231" y="73075"/>
                  </a:lnTo>
                  <a:lnTo>
                    <a:pt x="2514600" y="978115"/>
                  </a:lnTo>
                  <a:lnTo>
                    <a:pt x="2513992" y="987755"/>
                  </a:lnTo>
                  <a:lnTo>
                    <a:pt x="2512169" y="997156"/>
                  </a:lnTo>
                  <a:lnTo>
                    <a:pt x="2485889" y="1036100"/>
                  </a:lnTo>
                  <a:lnTo>
                    <a:pt x="2441511" y="1051204"/>
                  </a:lnTo>
                  <a:lnTo>
                    <a:pt x="73075" y="1051560"/>
                  </a:lnTo>
                  <a:lnTo>
                    <a:pt x="28548" y="1036455"/>
                  </a:lnTo>
                  <a:lnTo>
                    <a:pt x="2428" y="997335"/>
                  </a:lnTo>
                  <a:lnTo>
                    <a:pt x="0" y="97848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6" name="Google Shape;176;p5"/>
          <p:cNvSpPr txBox="1"/>
          <p:nvPr/>
        </p:nvSpPr>
        <p:spPr>
          <a:xfrm>
            <a:off x="6304216" y="2014092"/>
            <a:ext cx="210135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Horizon-stacked dataset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8635580" y="2082507"/>
            <a:ext cx="2095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5"/>
          <p:cNvGrpSpPr/>
          <p:nvPr/>
        </p:nvGrpSpPr>
        <p:grpSpPr>
          <a:xfrm>
            <a:off x="8706954" y="1621789"/>
            <a:ext cx="2730601" cy="1267206"/>
            <a:chOff x="8706954" y="1621789"/>
            <a:chExt cx="2730601" cy="1267206"/>
          </a:xfrm>
        </p:grpSpPr>
        <p:pic>
          <p:nvPicPr>
            <p:cNvPr id="179" name="Google Shape;179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706954" y="1621789"/>
              <a:ext cx="2730601" cy="12672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5"/>
            <p:cNvSpPr/>
            <p:nvPr/>
          </p:nvSpPr>
          <p:spPr>
            <a:xfrm>
              <a:off x="8814955" y="1691639"/>
              <a:ext cx="2514600" cy="1051560"/>
            </a:xfrm>
            <a:custGeom>
              <a:rect b="b" l="l" r="r" t="t"/>
              <a:pathLst>
                <a:path extrusionOk="0" h="1051560" w="2514600">
                  <a:moveTo>
                    <a:pt x="2441168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978484"/>
                  </a:lnTo>
                  <a:lnTo>
                    <a:pt x="5417" y="1006219"/>
                  </a:lnTo>
                  <a:lnTo>
                    <a:pt x="5470" y="1006375"/>
                  </a:lnTo>
                  <a:lnTo>
                    <a:pt x="36360" y="1041844"/>
                  </a:lnTo>
                  <a:lnTo>
                    <a:pt x="73088" y="1051560"/>
                  </a:lnTo>
                  <a:lnTo>
                    <a:pt x="2441524" y="1051204"/>
                  </a:lnTo>
                  <a:lnTo>
                    <a:pt x="2485901" y="1036100"/>
                  </a:lnTo>
                  <a:lnTo>
                    <a:pt x="2509058" y="1006375"/>
                  </a:lnTo>
                  <a:lnTo>
                    <a:pt x="2509135" y="1006219"/>
                  </a:lnTo>
                  <a:lnTo>
                    <a:pt x="2512111" y="997335"/>
                  </a:lnTo>
                  <a:lnTo>
                    <a:pt x="2512171" y="997156"/>
                  </a:lnTo>
                  <a:lnTo>
                    <a:pt x="2513952" y="987960"/>
                  </a:lnTo>
                  <a:lnTo>
                    <a:pt x="2513992" y="987755"/>
                  </a:lnTo>
                  <a:lnTo>
                    <a:pt x="2514576" y="978484"/>
                  </a:lnTo>
                  <a:lnTo>
                    <a:pt x="2514600" y="978115"/>
                  </a:lnTo>
                  <a:lnTo>
                    <a:pt x="2514244" y="73075"/>
                  </a:lnTo>
                  <a:lnTo>
                    <a:pt x="2499145" y="28705"/>
                  </a:lnTo>
                  <a:lnTo>
                    <a:pt x="2460197" y="2428"/>
                  </a:lnTo>
                  <a:lnTo>
                    <a:pt x="2450800" y="607"/>
                  </a:lnTo>
                  <a:lnTo>
                    <a:pt x="2441168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8814955" y="1691639"/>
              <a:ext cx="2514600" cy="1051560"/>
            </a:xfrm>
            <a:custGeom>
              <a:rect b="b" l="l" r="r" t="t"/>
              <a:pathLst>
                <a:path extrusionOk="0" h="1051560" w="2514600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2441168" y="0"/>
                  </a:lnTo>
                  <a:lnTo>
                    <a:pt x="2485689" y="15104"/>
                  </a:lnTo>
                  <a:lnTo>
                    <a:pt x="2511815" y="54224"/>
                  </a:lnTo>
                  <a:lnTo>
                    <a:pt x="2514244" y="73075"/>
                  </a:lnTo>
                  <a:lnTo>
                    <a:pt x="2514600" y="978115"/>
                  </a:lnTo>
                  <a:lnTo>
                    <a:pt x="2513992" y="987755"/>
                  </a:lnTo>
                  <a:lnTo>
                    <a:pt x="2512171" y="997156"/>
                  </a:lnTo>
                  <a:lnTo>
                    <a:pt x="2485901" y="1036100"/>
                  </a:lnTo>
                  <a:lnTo>
                    <a:pt x="2441524" y="1051204"/>
                  </a:lnTo>
                  <a:lnTo>
                    <a:pt x="73088" y="1051560"/>
                  </a:lnTo>
                  <a:lnTo>
                    <a:pt x="28555" y="1036455"/>
                  </a:lnTo>
                  <a:lnTo>
                    <a:pt x="2430" y="997335"/>
                  </a:lnTo>
                  <a:lnTo>
                    <a:pt x="0" y="97848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2" name="Google Shape;182;p5"/>
          <p:cNvSpPr txBox="1"/>
          <p:nvPr/>
        </p:nvSpPr>
        <p:spPr>
          <a:xfrm>
            <a:off x="9075140" y="2014092"/>
            <a:ext cx="18214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9-feature live-consistent contract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579855" y="3271583"/>
            <a:ext cx="2585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 days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of 15-min source observations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3771220" y="3294592"/>
            <a:ext cx="308678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210,340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rows in the horizon-stacked dataset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7534388" y="3282010"/>
            <a:ext cx="336221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72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Hourly forecast horizons, 1–72h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5"/>
          <p:cNvGrpSpPr/>
          <p:nvPr/>
        </p:nvGrpSpPr>
        <p:grpSpPr>
          <a:xfrm>
            <a:off x="394563" y="4639309"/>
            <a:ext cx="11401564" cy="1632965"/>
            <a:chOff x="394563" y="4639309"/>
            <a:chExt cx="11401564" cy="1632965"/>
          </a:xfrm>
        </p:grpSpPr>
        <p:pic>
          <p:nvPicPr>
            <p:cNvPr id="187" name="Google Shape;187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4563" y="4639309"/>
              <a:ext cx="11401564" cy="163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5"/>
            <p:cNvSpPr/>
            <p:nvPr/>
          </p:nvSpPr>
          <p:spPr>
            <a:xfrm>
              <a:off x="502564" y="4740896"/>
              <a:ext cx="11186160" cy="1385583"/>
            </a:xfrm>
            <a:custGeom>
              <a:rect b="b" l="l" r="r" t="t"/>
              <a:pathLst>
                <a:path extrusionOk="0" h="1417320" w="11186160">
                  <a:moveTo>
                    <a:pt x="11112474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344244"/>
                  </a:lnTo>
                  <a:lnTo>
                    <a:pt x="594" y="1353515"/>
                  </a:lnTo>
                  <a:lnTo>
                    <a:pt x="607" y="1353720"/>
                  </a:lnTo>
                  <a:lnTo>
                    <a:pt x="2394" y="1362916"/>
                  </a:lnTo>
                  <a:lnTo>
                    <a:pt x="2428" y="1363095"/>
                  </a:lnTo>
                  <a:lnTo>
                    <a:pt x="5412" y="1371979"/>
                  </a:lnTo>
                  <a:lnTo>
                    <a:pt x="5464" y="1372135"/>
                  </a:lnTo>
                  <a:lnTo>
                    <a:pt x="36360" y="1407604"/>
                  </a:lnTo>
                  <a:lnTo>
                    <a:pt x="73075" y="1417320"/>
                  </a:lnTo>
                  <a:lnTo>
                    <a:pt x="11112830" y="1416964"/>
                  </a:lnTo>
                  <a:lnTo>
                    <a:pt x="11157207" y="1401860"/>
                  </a:lnTo>
                  <a:lnTo>
                    <a:pt x="11180371" y="1372135"/>
                  </a:lnTo>
                  <a:lnTo>
                    <a:pt x="11180448" y="1371979"/>
                  </a:lnTo>
                  <a:lnTo>
                    <a:pt x="11185895" y="1344244"/>
                  </a:lnTo>
                  <a:lnTo>
                    <a:pt x="11185918" y="1343875"/>
                  </a:lnTo>
                  <a:lnTo>
                    <a:pt x="11185550" y="73075"/>
                  </a:lnTo>
                  <a:lnTo>
                    <a:pt x="11170459" y="28705"/>
                  </a:lnTo>
                  <a:lnTo>
                    <a:pt x="11131513" y="2428"/>
                  </a:lnTo>
                  <a:lnTo>
                    <a:pt x="11122113" y="607"/>
                  </a:lnTo>
                  <a:lnTo>
                    <a:pt x="11112474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502564" y="4709159"/>
              <a:ext cx="11186160" cy="1417320"/>
            </a:xfrm>
            <a:custGeom>
              <a:rect b="b" l="l" r="r" t="t"/>
              <a:pathLst>
                <a:path extrusionOk="0" h="1417320" w="111861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1112474" y="0"/>
                  </a:lnTo>
                  <a:lnTo>
                    <a:pt x="11157002" y="15104"/>
                  </a:lnTo>
                  <a:lnTo>
                    <a:pt x="11183121" y="54224"/>
                  </a:lnTo>
                  <a:lnTo>
                    <a:pt x="11185550" y="73075"/>
                  </a:lnTo>
                  <a:lnTo>
                    <a:pt x="11185918" y="1343875"/>
                  </a:lnTo>
                  <a:lnTo>
                    <a:pt x="11185311" y="1353515"/>
                  </a:lnTo>
                  <a:lnTo>
                    <a:pt x="11183488" y="1362916"/>
                  </a:lnTo>
                  <a:lnTo>
                    <a:pt x="11157207" y="1401860"/>
                  </a:lnTo>
                  <a:lnTo>
                    <a:pt x="11112830" y="1416964"/>
                  </a:lnTo>
                  <a:lnTo>
                    <a:pt x="73075" y="1417320"/>
                  </a:lnTo>
                  <a:lnTo>
                    <a:pt x="28548" y="1402215"/>
                  </a:lnTo>
                  <a:lnTo>
                    <a:pt x="2428" y="1363095"/>
                  </a:lnTo>
                  <a:lnTo>
                    <a:pt x="0" y="134424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E75C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0" name="Google Shape;190;p5"/>
          <p:cNvSpPr txBox="1"/>
          <p:nvPr/>
        </p:nvSpPr>
        <p:spPr>
          <a:xfrm>
            <a:off x="708392" y="4745836"/>
            <a:ext cx="10159365" cy="1302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The correction that mattered most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5399"/>
              </a:lnSpc>
              <a:spcBef>
                <a:spcPts val="1355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The first prototype trained on lag features computed from the same timestamp as the target - a nowcast, not a forecast. The fix separates issue-time information (what's known when the forecast is made) from target-time information (the future point being predicted) - the difference between “what's happening now” and “what will happen.”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11594782" y="6500390"/>
            <a:ext cx="15430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/>
        </p:nvSpPr>
        <p:spPr>
          <a:xfrm>
            <a:off x="579856" y="416776"/>
            <a:ext cx="34434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A23C"/>
                </a:solidFill>
                <a:latin typeface="Calibri"/>
                <a:ea typeface="Calibri"/>
                <a:cs typeface="Calibri"/>
                <a:sym typeface="Calibri"/>
              </a:rPr>
              <a:t>MODELING STRATEGY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197" name="Google Shape;197;p6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Three models, one honest reason for each</a:t>
            </a:r>
            <a:endParaRPr/>
          </a:p>
        </p:txBody>
      </p:sp>
      <p:grpSp>
        <p:nvGrpSpPr>
          <p:cNvPr id="198" name="Google Shape;198;p6"/>
          <p:cNvGrpSpPr/>
          <p:nvPr/>
        </p:nvGrpSpPr>
        <p:grpSpPr>
          <a:xfrm>
            <a:off x="394919" y="1621789"/>
            <a:ext cx="3736441" cy="2181606"/>
            <a:chOff x="394919" y="1621789"/>
            <a:chExt cx="3736441" cy="2181606"/>
          </a:xfrm>
        </p:grpSpPr>
        <p:pic>
          <p:nvPicPr>
            <p:cNvPr id="199" name="Google Shape;19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4919" y="1621789"/>
              <a:ext cx="3736441" cy="21816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6"/>
            <p:cNvSpPr/>
            <p:nvPr/>
          </p:nvSpPr>
          <p:spPr>
            <a:xfrm>
              <a:off x="502920" y="1691639"/>
              <a:ext cx="3520440" cy="1965960"/>
            </a:xfrm>
            <a:custGeom>
              <a:rect b="b" l="l" r="r" t="t"/>
              <a:pathLst>
                <a:path extrusionOk="0" h="1965960" w="3520440">
                  <a:moveTo>
                    <a:pt x="34469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892884"/>
                  </a:lnTo>
                  <a:lnTo>
                    <a:pt x="594" y="1902155"/>
                  </a:lnTo>
                  <a:lnTo>
                    <a:pt x="607" y="1902360"/>
                  </a:lnTo>
                  <a:lnTo>
                    <a:pt x="2394" y="1911556"/>
                  </a:lnTo>
                  <a:lnTo>
                    <a:pt x="2428" y="1911735"/>
                  </a:lnTo>
                  <a:lnTo>
                    <a:pt x="5412" y="1920619"/>
                  </a:lnTo>
                  <a:lnTo>
                    <a:pt x="5464" y="1920775"/>
                  </a:lnTo>
                  <a:lnTo>
                    <a:pt x="9715" y="1929244"/>
                  </a:lnTo>
                  <a:lnTo>
                    <a:pt x="44984" y="1960495"/>
                  </a:lnTo>
                  <a:lnTo>
                    <a:pt x="73075" y="1965960"/>
                  </a:lnTo>
                  <a:lnTo>
                    <a:pt x="3447364" y="1965604"/>
                  </a:lnTo>
                  <a:lnTo>
                    <a:pt x="3491734" y="1950500"/>
                  </a:lnTo>
                  <a:lnTo>
                    <a:pt x="3517951" y="1911735"/>
                  </a:lnTo>
                  <a:lnTo>
                    <a:pt x="3518011" y="1911556"/>
                  </a:lnTo>
                  <a:lnTo>
                    <a:pt x="3519792" y="1902360"/>
                  </a:lnTo>
                  <a:lnTo>
                    <a:pt x="3519832" y="1902155"/>
                  </a:lnTo>
                  <a:lnTo>
                    <a:pt x="3520416" y="1892884"/>
                  </a:lnTo>
                  <a:lnTo>
                    <a:pt x="3520084" y="73075"/>
                  </a:lnTo>
                  <a:lnTo>
                    <a:pt x="3504980" y="28705"/>
                  </a:lnTo>
                  <a:lnTo>
                    <a:pt x="3466036" y="2428"/>
                  </a:lnTo>
                  <a:lnTo>
                    <a:pt x="3456635" y="607"/>
                  </a:lnTo>
                  <a:lnTo>
                    <a:pt x="344699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502920" y="1691639"/>
              <a:ext cx="3520440" cy="1965960"/>
            </a:xfrm>
            <a:custGeom>
              <a:rect b="b" l="l" r="r" t="t"/>
              <a:pathLst>
                <a:path extrusionOk="0" h="1965960" w="35204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446995" y="0"/>
                  </a:lnTo>
                  <a:lnTo>
                    <a:pt x="3491528" y="15104"/>
                  </a:lnTo>
                  <a:lnTo>
                    <a:pt x="3517653" y="54224"/>
                  </a:lnTo>
                  <a:lnTo>
                    <a:pt x="3520084" y="73075"/>
                  </a:lnTo>
                  <a:lnTo>
                    <a:pt x="3520440" y="1892515"/>
                  </a:lnTo>
                  <a:lnTo>
                    <a:pt x="3519832" y="1902155"/>
                  </a:lnTo>
                  <a:lnTo>
                    <a:pt x="3518011" y="1911556"/>
                  </a:lnTo>
                  <a:lnTo>
                    <a:pt x="3491734" y="1950500"/>
                  </a:lnTo>
                  <a:lnTo>
                    <a:pt x="3447364" y="1965604"/>
                  </a:lnTo>
                  <a:lnTo>
                    <a:pt x="73075" y="1965960"/>
                  </a:lnTo>
                  <a:lnTo>
                    <a:pt x="28555" y="1950855"/>
                  </a:lnTo>
                  <a:lnTo>
                    <a:pt x="2428" y="1911735"/>
                  </a:lnTo>
                  <a:lnTo>
                    <a:pt x="0" y="189288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2" name="Google Shape;202;p6"/>
          <p:cNvSpPr txBox="1"/>
          <p:nvPr/>
        </p:nvSpPr>
        <p:spPr>
          <a:xfrm>
            <a:off x="836180" y="1840082"/>
            <a:ext cx="1873250" cy="66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BA S E L I N 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Regression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836180" y="2736281"/>
            <a:ext cx="3187180" cy="8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2700" marR="5080" rtl="0" algn="l">
              <a:lnSpc>
                <a:spcPct val="104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Establishes the interpretability floor - if a complex model can't beat this by a wide margin, the complexity isn't earning its place.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" name="Google Shape;204;p6"/>
          <p:cNvGrpSpPr/>
          <p:nvPr/>
        </p:nvGrpSpPr>
        <p:grpSpPr>
          <a:xfrm>
            <a:off x="4235399" y="1621789"/>
            <a:ext cx="3736441" cy="2181606"/>
            <a:chOff x="4235399" y="1621789"/>
            <a:chExt cx="3736441" cy="2181606"/>
          </a:xfrm>
        </p:grpSpPr>
        <p:pic>
          <p:nvPicPr>
            <p:cNvPr id="205" name="Google Shape;20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35399" y="1621789"/>
              <a:ext cx="3736441" cy="21816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6"/>
            <p:cNvSpPr/>
            <p:nvPr/>
          </p:nvSpPr>
          <p:spPr>
            <a:xfrm>
              <a:off x="4343400" y="1691639"/>
              <a:ext cx="3520440" cy="1965960"/>
            </a:xfrm>
            <a:custGeom>
              <a:rect b="b" l="l" r="r" t="t"/>
              <a:pathLst>
                <a:path extrusionOk="0" h="1965960" w="3520440">
                  <a:moveTo>
                    <a:pt x="34469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892884"/>
                  </a:lnTo>
                  <a:lnTo>
                    <a:pt x="15098" y="1937254"/>
                  </a:lnTo>
                  <a:lnTo>
                    <a:pt x="54046" y="1963531"/>
                  </a:lnTo>
                  <a:lnTo>
                    <a:pt x="73075" y="1965960"/>
                  </a:lnTo>
                  <a:lnTo>
                    <a:pt x="3447364" y="1965604"/>
                  </a:lnTo>
                  <a:lnTo>
                    <a:pt x="3491734" y="1950500"/>
                  </a:lnTo>
                  <a:lnTo>
                    <a:pt x="3514898" y="1920775"/>
                  </a:lnTo>
                  <a:lnTo>
                    <a:pt x="3514975" y="1920619"/>
                  </a:lnTo>
                  <a:lnTo>
                    <a:pt x="3517951" y="1911735"/>
                  </a:lnTo>
                  <a:lnTo>
                    <a:pt x="3518011" y="1911556"/>
                  </a:lnTo>
                  <a:lnTo>
                    <a:pt x="3519792" y="1902360"/>
                  </a:lnTo>
                  <a:lnTo>
                    <a:pt x="3519832" y="1902155"/>
                  </a:lnTo>
                  <a:lnTo>
                    <a:pt x="3520416" y="1892884"/>
                  </a:lnTo>
                  <a:lnTo>
                    <a:pt x="3520440" y="1892515"/>
                  </a:lnTo>
                  <a:lnTo>
                    <a:pt x="3520084" y="73075"/>
                  </a:lnTo>
                  <a:lnTo>
                    <a:pt x="3504980" y="28705"/>
                  </a:lnTo>
                  <a:lnTo>
                    <a:pt x="3466036" y="2428"/>
                  </a:lnTo>
                  <a:lnTo>
                    <a:pt x="3456635" y="607"/>
                  </a:lnTo>
                  <a:lnTo>
                    <a:pt x="344699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4343400" y="1691639"/>
              <a:ext cx="3520440" cy="1965960"/>
            </a:xfrm>
            <a:custGeom>
              <a:rect b="b" l="l" r="r" t="t"/>
              <a:pathLst>
                <a:path extrusionOk="0" h="1965960" w="35204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446995" y="0"/>
                  </a:lnTo>
                  <a:lnTo>
                    <a:pt x="3491528" y="15104"/>
                  </a:lnTo>
                  <a:lnTo>
                    <a:pt x="3517653" y="54224"/>
                  </a:lnTo>
                  <a:lnTo>
                    <a:pt x="3520084" y="73075"/>
                  </a:lnTo>
                  <a:lnTo>
                    <a:pt x="3520440" y="1892515"/>
                  </a:lnTo>
                  <a:lnTo>
                    <a:pt x="3519832" y="1902155"/>
                  </a:lnTo>
                  <a:lnTo>
                    <a:pt x="3518011" y="1911556"/>
                  </a:lnTo>
                  <a:lnTo>
                    <a:pt x="3491734" y="1950500"/>
                  </a:lnTo>
                  <a:lnTo>
                    <a:pt x="3447364" y="1965604"/>
                  </a:lnTo>
                  <a:lnTo>
                    <a:pt x="73075" y="1965960"/>
                  </a:lnTo>
                  <a:lnTo>
                    <a:pt x="28555" y="1950855"/>
                  </a:lnTo>
                  <a:lnTo>
                    <a:pt x="2428" y="1911735"/>
                  </a:lnTo>
                  <a:lnTo>
                    <a:pt x="0" y="189288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8" name="Google Shape;208;p6"/>
          <p:cNvSpPr txBox="1"/>
          <p:nvPr/>
        </p:nvSpPr>
        <p:spPr>
          <a:xfrm>
            <a:off x="4676660" y="1840082"/>
            <a:ext cx="940435" cy="66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B E N C H M A R K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4654537" y="2746623"/>
            <a:ext cx="3077731" cy="66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2700" marR="5080" rtl="0" algn="l">
              <a:lnSpc>
                <a:spcPct val="104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A stronger, still-fast benchmark to check whether tree ensembles meaningfully help before investing in tuning.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0" name="Google Shape;210;p6"/>
          <p:cNvGrpSpPr/>
          <p:nvPr/>
        </p:nvGrpSpPr>
        <p:grpSpPr>
          <a:xfrm>
            <a:off x="8075879" y="1621789"/>
            <a:ext cx="3736441" cy="2181606"/>
            <a:chOff x="8075879" y="1621789"/>
            <a:chExt cx="3736441" cy="2181606"/>
          </a:xfrm>
        </p:grpSpPr>
        <p:pic>
          <p:nvPicPr>
            <p:cNvPr id="211" name="Google Shape;211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75879" y="1621789"/>
              <a:ext cx="3736441" cy="21816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6"/>
            <p:cNvSpPr/>
            <p:nvPr/>
          </p:nvSpPr>
          <p:spPr>
            <a:xfrm>
              <a:off x="8183879" y="1691639"/>
              <a:ext cx="3520440" cy="1965960"/>
            </a:xfrm>
            <a:custGeom>
              <a:rect b="b" l="l" r="r" t="t"/>
              <a:pathLst>
                <a:path extrusionOk="0" h="1965960" w="3520440">
                  <a:moveTo>
                    <a:pt x="3446995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892884"/>
                  </a:lnTo>
                  <a:lnTo>
                    <a:pt x="594" y="1902155"/>
                  </a:lnTo>
                  <a:lnTo>
                    <a:pt x="607" y="1902360"/>
                  </a:lnTo>
                  <a:lnTo>
                    <a:pt x="2394" y="1911556"/>
                  </a:lnTo>
                  <a:lnTo>
                    <a:pt x="2428" y="1911735"/>
                  </a:lnTo>
                  <a:lnTo>
                    <a:pt x="5412" y="1920619"/>
                  </a:lnTo>
                  <a:lnTo>
                    <a:pt x="36360" y="1956244"/>
                  </a:lnTo>
                  <a:lnTo>
                    <a:pt x="73075" y="1965960"/>
                  </a:lnTo>
                  <a:lnTo>
                    <a:pt x="3447364" y="1965604"/>
                  </a:lnTo>
                  <a:lnTo>
                    <a:pt x="3491734" y="1950500"/>
                  </a:lnTo>
                  <a:lnTo>
                    <a:pt x="3514898" y="1920775"/>
                  </a:lnTo>
                  <a:lnTo>
                    <a:pt x="3514975" y="1920619"/>
                  </a:lnTo>
                  <a:lnTo>
                    <a:pt x="3517951" y="1911735"/>
                  </a:lnTo>
                  <a:lnTo>
                    <a:pt x="3518011" y="1911556"/>
                  </a:lnTo>
                  <a:lnTo>
                    <a:pt x="3519792" y="1902360"/>
                  </a:lnTo>
                  <a:lnTo>
                    <a:pt x="3519832" y="1902155"/>
                  </a:lnTo>
                  <a:lnTo>
                    <a:pt x="3520416" y="1892884"/>
                  </a:lnTo>
                  <a:lnTo>
                    <a:pt x="3520440" y="1892515"/>
                  </a:lnTo>
                  <a:lnTo>
                    <a:pt x="3520084" y="73075"/>
                  </a:lnTo>
                  <a:lnTo>
                    <a:pt x="3504980" y="28705"/>
                  </a:lnTo>
                  <a:lnTo>
                    <a:pt x="3466036" y="2428"/>
                  </a:lnTo>
                  <a:lnTo>
                    <a:pt x="3456635" y="607"/>
                  </a:lnTo>
                  <a:lnTo>
                    <a:pt x="3446995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8183879" y="1691639"/>
              <a:ext cx="3520440" cy="1965960"/>
            </a:xfrm>
            <a:custGeom>
              <a:rect b="b" l="l" r="r" t="t"/>
              <a:pathLst>
                <a:path extrusionOk="0" h="1965960" w="35204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3446995" y="0"/>
                  </a:lnTo>
                  <a:lnTo>
                    <a:pt x="3491528" y="15104"/>
                  </a:lnTo>
                  <a:lnTo>
                    <a:pt x="3517653" y="54224"/>
                  </a:lnTo>
                  <a:lnTo>
                    <a:pt x="3520084" y="73075"/>
                  </a:lnTo>
                  <a:lnTo>
                    <a:pt x="3520440" y="1892515"/>
                  </a:lnTo>
                  <a:lnTo>
                    <a:pt x="3519832" y="1902155"/>
                  </a:lnTo>
                  <a:lnTo>
                    <a:pt x="3518011" y="1911556"/>
                  </a:lnTo>
                  <a:lnTo>
                    <a:pt x="3491734" y="1950500"/>
                  </a:lnTo>
                  <a:lnTo>
                    <a:pt x="3447364" y="1965604"/>
                  </a:lnTo>
                  <a:lnTo>
                    <a:pt x="73075" y="1965960"/>
                  </a:lnTo>
                  <a:lnTo>
                    <a:pt x="28555" y="1950855"/>
                  </a:lnTo>
                  <a:lnTo>
                    <a:pt x="2428" y="1911735"/>
                  </a:lnTo>
                  <a:lnTo>
                    <a:pt x="0" y="189288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E7A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4" name="Google Shape;214;p6"/>
          <p:cNvSpPr txBox="1"/>
          <p:nvPr/>
        </p:nvSpPr>
        <p:spPr>
          <a:xfrm>
            <a:off x="8517140" y="1840082"/>
            <a:ext cx="2989060" cy="1767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6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E7A23C"/>
                </a:solidFill>
                <a:latin typeface="Calibri"/>
                <a:ea typeface="Calibri"/>
                <a:cs typeface="Calibri"/>
                <a:sym typeface="Calibri"/>
              </a:rPr>
              <a:t>L I V E M O D E 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LightGBM + Optuna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4099"/>
              </a:lnSpc>
              <a:spcBef>
                <a:spcPts val="168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20 Optuna trials across 3 spaced chronological validation windows, with regularization, subsampling, and early stopping.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6"/>
          <p:cNvGrpSpPr/>
          <p:nvPr/>
        </p:nvGrpSpPr>
        <p:grpSpPr>
          <a:xfrm>
            <a:off x="394563" y="3907434"/>
            <a:ext cx="11401564" cy="1770126"/>
            <a:chOff x="394563" y="3907434"/>
            <a:chExt cx="11401564" cy="1770126"/>
          </a:xfrm>
        </p:grpSpPr>
        <p:pic>
          <p:nvPicPr>
            <p:cNvPr id="216" name="Google Shape;216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4563" y="3907434"/>
              <a:ext cx="11401564" cy="1770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6"/>
            <p:cNvSpPr/>
            <p:nvPr/>
          </p:nvSpPr>
          <p:spPr>
            <a:xfrm>
              <a:off x="502564" y="3977284"/>
              <a:ext cx="11186160" cy="1554480"/>
            </a:xfrm>
            <a:custGeom>
              <a:rect b="b" l="l" r="r" t="t"/>
              <a:pathLst>
                <a:path extrusionOk="0" h="1554479" w="11186160">
                  <a:moveTo>
                    <a:pt x="11112474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481391"/>
                  </a:lnTo>
                  <a:lnTo>
                    <a:pt x="594" y="1490669"/>
                  </a:lnTo>
                  <a:lnTo>
                    <a:pt x="607" y="1490869"/>
                  </a:lnTo>
                  <a:lnTo>
                    <a:pt x="2394" y="1500070"/>
                  </a:lnTo>
                  <a:lnTo>
                    <a:pt x="2428" y="1500247"/>
                  </a:lnTo>
                  <a:lnTo>
                    <a:pt x="28548" y="1539370"/>
                  </a:lnTo>
                  <a:lnTo>
                    <a:pt x="73075" y="1554479"/>
                  </a:lnTo>
                  <a:lnTo>
                    <a:pt x="11112830" y="1554111"/>
                  </a:lnTo>
                  <a:lnTo>
                    <a:pt x="11157207" y="1539020"/>
                  </a:lnTo>
                  <a:lnTo>
                    <a:pt x="11183428" y="1500247"/>
                  </a:lnTo>
                  <a:lnTo>
                    <a:pt x="11185272" y="1490869"/>
                  </a:lnTo>
                  <a:lnTo>
                    <a:pt x="11185311" y="1490669"/>
                  </a:lnTo>
                  <a:lnTo>
                    <a:pt x="11185896" y="1481391"/>
                  </a:lnTo>
                  <a:lnTo>
                    <a:pt x="11185918" y="1481035"/>
                  </a:lnTo>
                  <a:lnTo>
                    <a:pt x="11185550" y="73075"/>
                  </a:lnTo>
                  <a:lnTo>
                    <a:pt x="11170459" y="28698"/>
                  </a:lnTo>
                  <a:lnTo>
                    <a:pt x="11131513" y="2428"/>
                  </a:lnTo>
                  <a:lnTo>
                    <a:pt x="11122113" y="607"/>
                  </a:lnTo>
                  <a:lnTo>
                    <a:pt x="11112474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502564" y="3977284"/>
              <a:ext cx="11186160" cy="1554480"/>
            </a:xfrm>
            <a:custGeom>
              <a:rect b="b" l="l" r="r" t="t"/>
              <a:pathLst>
                <a:path extrusionOk="0" h="1554479" w="111861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1112474" y="0"/>
                  </a:lnTo>
                  <a:lnTo>
                    <a:pt x="11157002" y="15096"/>
                  </a:lnTo>
                  <a:lnTo>
                    <a:pt x="11183121" y="54219"/>
                  </a:lnTo>
                  <a:lnTo>
                    <a:pt x="11185550" y="73075"/>
                  </a:lnTo>
                  <a:lnTo>
                    <a:pt x="11185918" y="1481035"/>
                  </a:lnTo>
                  <a:lnTo>
                    <a:pt x="11185311" y="1490669"/>
                  </a:lnTo>
                  <a:lnTo>
                    <a:pt x="11183488" y="1500070"/>
                  </a:lnTo>
                  <a:lnTo>
                    <a:pt x="11157207" y="1539020"/>
                  </a:lnTo>
                  <a:lnTo>
                    <a:pt x="11112830" y="1554111"/>
                  </a:lnTo>
                  <a:lnTo>
                    <a:pt x="73075" y="1554479"/>
                  </a:lnTo>
                  <a:lnTo>
                    <a:pt x="28548" y="1539370"/>
                  </a:lnTo>
                  <a:lnTo>
                    <a:pt x="2428" y="1500247"/>
                  </a:lnTo>
                  <a:lnTo>
                    <a:pt x="0" y="1481391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9" name="Google Shape;219;p6"/>
          <p:cNvSpPr txBox="1"/>
          <p:nvPr/>
        </p:nvSpPr>
        <p:spPr>
          <a:xfrm>
            <a:off x="602157" y="4010803"/>
            <a:ext cx="11002924" cy="1515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Why chronological validation, not random splitting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5399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Random splitting would let adjacent timestamps and near-identical weather patterns leak between train and test. GreenCast trains on everything before the validation period, calibrates uncertainty on the next 6 days, and reports final metrics on the last 6 days - touched exactly once.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11594782" y="6500390"/>
            <a:ext cx="15430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 txBox="1"/>
          <p:nvPr/>
        </p:nvSpPr>
        <p:spPr>
          <a:xfrm>
            <a:off x="579856" y="416776"/>
            <a:ext cx="600000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A23C"/>
                </a:solidFill>
                <a:latin typeface="Calibri"/>
                <a:ea typeface="Calibri"/>
                <a:cs typeface="Calibri"/>
                <a:sym typeface="Calibri"/>
              </a:rPr>
              <a:t>LIGHTGBM TUNING</a:t>
            </a:r>
            <a:endParaRPr/>
          </a:p>
        </p:txBody>
      </p:sp>
      <p:sp>
        <p:nvSpPr>
          <p:cNvPr descr="$PPTXTitle" id="226" name="Google Shape;226;p7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The nine hyperparameters Optuna selected</a:t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394919" y="1621789"/>
            <a:ext cx="3667353" cy="625215"/>
          </a:xfrm>
          <a:prstGeom prst="roundRect">
            <a:avLst>
              <a:gd fmla="val 9000" name="adj"/>
            </a:avLst>
          </a:prstGeom>
          <a:solidFill>
            <a:srgbClr val="131B2A"/>
          </a:solidFill>
          <a:ln cap="flat" cmpd="sng" w="12700">
            <a:solidFill>
              <a:srgbClr val="293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8" name="Google Shape;228;p7"/>
          <p:cNvSpPr txBox="1"/>
          <p:nvPr/>
        </p:nvSpPr>
        <p:spPr>
          <a:xfrm>
            <a:off x="524919" y="1686789"/>
            <a:ext cx="3407353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9EABBF"/>
                </a:solidFill>
                <a:latin typeface="Consolas"/>
                <a:ea typeface="Consolas"/>
                <a:cs typeface="Consolas"/>
                <a:sym typeface="Consolas"/>
              </a:rPr>
              <a:t>learning_rate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524919" y="1926789"/>
            <a:ext cx="3407353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0.0296</a:t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4262272" y="1621789"/>
            <a:ext cx="3667353" cy="625215"/>
          </a:xfrm>
          <a:prstGeom prst="roundRect">
            <a:avLst>
              <a:gd fmla="val 9000" name="adj"/>
            </a:avLst>
          </a:prstGeom>
          <a:solidFill>
            <a:srgbClr val="131B2A"/>
          </a:solidFill>
          <a:ln cap="flat" cmpd="sng" w="12700">
            <a:solidFill>
              <a:srgbClr val="293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1" name="Google Shape;231;p7"/>
          <p:cNvSpPr txBox="1"/>
          <p:nvPr/>
        </p:nvSpPr>
        <p:spPr>
          <a:xfrm>
            <a:off x="4392272" y="1686789"/>
            <a:ext cx="3407353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9EABBF"/>
                </a:solidFill>
                <a:latin typeface="Consolas"/>
                <a:ea typeface="Consolas"/>
                <a:cs typeface="Consolas"/>
                <a:sym typeface="Consolas"/>
              </a:rPr>
              <a:t>n_estimators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4392272" y="1926789"/>
            <a:ext cx="3407353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758</a:t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8129625" y="1621789"/>
            <a:ext cx="3667353" cy="625215"/>
          </a:xfrm>
          <a:prstGeom prst="roundRect">
            <a:avLst>
              <a:gd fmla="val 9000" name="adj"/>
            </a:avLst>
          </a:prstGeom>
          <a:solidFill>
            <a:srgbClr val="131B2A"/>
          </a:solidFill>
          <a:ln cap="flat" cmpd="sng" w="12700">
            <a:solidFill>
              <a:srgbClr val="293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4" name="Google Shape;234;p7"/>
          <p:cNvSpPr txBox="1"/>
          <p:nvPr/>
        </p:nvSpPr>
        <p:spPr>
          <a:xfrm>
            <a:off x="8259625" y="1686789"/>
            <a:ext cx="3407353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9EABBF"/>
                </a:solidFill>
                <a:latin typeface="Consolas"/>
                <a:ea typeface="Consolas"/>
                <a:cs typeface="Consolas"/>
                <a:sym typeface="Consolas"/>
              </a:rPr>
              <a:t>max_depth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8259625" y="1926789"/>
            <a:ext cx="3407353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394919" y="2377004"/>
            <a:ext cx="3667353" cy="625215"/>
          </a:xfrm>
          <a:prstGeom prst="roundRect">
            <a:avLst>
              <a:gd fmla="val 9000" name="adj"/>
            </a:avLst>
          </a:prstGeom>
          <a:solidFill>
            <a:srgbClr val="131B2A"/>
          </a:solidFill>
          <a:ln cap="flat" cmpd="sng" w="12700">
            <a:solidFill>
              <a:srgbClr val="293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7" name="Google Shape;237;p7"/>
          <p:cNvSpPr txBox="1"/>
          <p:nvPr/>
        </p:nvSpPr>
        <p:spPr>
          <a:xfrm>
            <a:off x="524919" y="2442004"/>
            <a:ext cx="3407353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9EABBF"/>
                </a:solidFill>
                <a:latin typeface="Consolas"/>
                <a:ea typeface="Consolas"/>
                <a:cs typeface="Consolas"/>
                <a:sym typeface="Consolas"/>
              </a:rPr>
              <a:t>num_leaves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524919" y="2682004"/>
            <a:ext cx="3407353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4262272" y="2377004"/>
            <a:ext cx="3667353" cy="625215"/>
          </a:xfrm>
          <a:prstGeom prst="roundRect">
            <a:avLst>
              <a:gd fmla="val 9000" name="adj"/>
            </a:avLst>
          </a:prstGeom>
          <a:solidFill>
            <a:srgbClr val="131B2A"/>
          </a:solidFill>
          <a:ln cap="flat" cmpd="sng" w="12700">
            <a:solidFill>
              <a:srgbClr val="293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0" name="Google Shape;240;p7"/>
          <p:cNvSpPr txBox="1"/>
          <p:nvPr/>
        </p:nvSpPr>
        <p:spPr>
          <a:xfrm>
            <a:off x="4392272" y="2442004"/>
            <a:ext cx="3407353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9EABBF"/>
                </a:solidFill>
                <a:latin typeface="Consolas"/>
                <a:ea typeface="Consolas"/>
                <a:cs typeface="Consolas"/>
                <a:sym typeface="Consolas"/>
              </a:rPr>
              <a:t>min_child_samples</a:t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4392272" y="2682004"/>
            <a:ext cx="3407353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79</a:t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8129625" y="2377004"/>
            <a:ext cx="3667353" cy="625215"/>
          </a:xfrm>
          <a:prstGeom prst="roundRect">
            <a:avLst>
              <a:gd fmla="val 9000" name="adj"/>
            </a:avLst>
          </a:prstGeom>
          <a:solidFill>
            <a:srgbClr val="131B2A"/>
          </a:solidFill>
          <a:ln cap="flat" cmpd="sng" w="12700">
            <a:solidFill>
              <a:srgbClr val="293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3" name="Google Shape;243;p7"/>
          <p:cNvSpPr txBox="1"/>
          <p:nvPr/>
        </p:nvSpPr>
        <p:spPr>
          <a:xfrm>
            <a:off x="8259625" y="2442004"/>
            <a:ext cx="3407353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9EABBF"/>
                </a:solidFill>
                <a:latin typeface="Consolas"/>
                <a:ea typeface="Consolas"/>
                <a:cs typeface="Consolas"/>
                <a:sym typeface="Consolas"/>
              </a:rPr>
              <a:t>subsample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8259625" y="2682004"/>
            <a:ext cx="3407353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0.8859</a:t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394919" y="3132219"/>
            <a:ext cx="3667353" cy="625215"/>
          </a:xfrm>
          <a:prstGeom prst="roundRect">
            <a:avLst>
              <a:gd fmla="val 9000" name="adj"/>
            </a:avLst>
          </a:prstGeom>
          <a:solidFill>
            <a:srgbClr val="131B2A"/>
          </a:solidFill>
          <a:ln cap="flat" cmpd="sng" w="12700">
            <a:solidFill>
              <a:srgbClr val="293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6" name="Google Shape;246;p7"/>
          <p:cNvSpPr txBox="1"/>
          <p:nvPr/>
        </p:nvSpPr>
        <p:spPr>
          <a:xfrm>
            <a:off x="524919" y="3197219"/>
            <a:ext cx="3407353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9EABBF"/>
                </a:solidFill>
                <a:latin typeface="Consolas"/>
                <a:ea typeface="Consolas"/>
                <a:cs typeface="Consolas"/>
                <a:sym typeface="Consolas"/>
              </a:rPr>
              <a:t>colsample_bytree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524919" y="3437219"/>
            <a:ext cx="3407353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0.8885</a:t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4262272" y="3132219"/>
            <a:ext cx="3667353" cy="625215"/>
          </a:xfrm>
          <a:prstGeom prst="roundRect">
            <a:avLst>
              <a:gd fmla="val 9000" name="adj"/>
            </a:avLst>
          </a:prstGeom>
          <a:solidFill>
            <a:srgbClr val="131B2A"/>
          </a:solidFill>
          <a:ln cap="flat" cmpd="sng" w="12700">
            <a:solidFill>
              <a:srgbClr val="293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9" name="Google Shape;249;p7"/>
          <p:cNvSpPr txBox="1"/>
          <p:nvPr/>
        </p:nvSpPr>
        <p:spPr>
          <a:xfrm>
            <a:off x="4392272" y="3197219"/>
            <a:ext cx="3407353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9EABBF"/>
                </a:solidFill>
                <a:latin typeface="Consolas"/>
                <a:ea typeface="Consolas"/>
                <a:cs typeface="Consolas"/>
                <a:sym typeface="Consolas"/>
              </a:rPr>
              <a:t>reg_lambda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4392272" y="3437219"/>
            <a:ext cx="3407353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3.3225</a:t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8129625" y="3132219"/>
            <a:ext cx="3667353" cy="625215"/>
          </a:xfrm>
          <a:prstGeom prst="roundRect">
            <a:avLst>
              <a:gd fmla="val 9000" name="adj"/>
            </a:avLst>
          </a:prstGeom>
          <a:solidFill>
            <a:srgbClr val="131B2A"/>
          </a:solidFill>
          <a:ln cap="flat" cmpd="sng" w="12700">
            <a:solidFill>
              <a:srgbClr val="293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" name="Google Shape;252;p7"/>
          <p:cNvSpPr txBox="1"/>
          <p:nvPr/>
        </p:nvSpPr>
        <p:spPr>
          <a:xfrm>
            <a:off x="8259625" y="3197219"/>
            <a:ext cx="3407353" cy="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9EABBF"/>
                </a:solidFill>
                <a:latin typeface="Consolas"/>
                <a:ea typeface="Consolas"/>
                <a:cs typeface="Consolas"/>
                <a:sym typeface="Consolas"/>
              </a:rPr>
              <a:t>reg_alpha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8259625" y="3437219"/>
            <a:ext cx="3407353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0.0383</a:t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394563" y="3907434"/>
            <a:ext cx="11402060" cy="1770380"/>
          </a:xfrm>
          <a:prstGeom prst="roundRect">
            <a:avLst>
              <a:gd fmla="val 4000" name="adj"/>
            </a:avLst>
          </a:prstGeom>
          <a:solidFill>
            <a:srgbClr val="131B2A"/>
          </a:solidFill>
          <a:ln cap="flat" cmpd="sng" w="12700">
            <a:solidFill>
              <a:srgbClr val="293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5" name="Google Shape;255;p7"/>
          <p:cNvSpPr txBox="1"/>
          <p:nvPr/>
        </p:nvSpPr>
        <p:spPr>
          <a:xfrm>
            <a:off x="502563" y="3987434"/>
            <a:ext cx="1118206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How these were chosen</a:t>
            </a:r>
            <a:endParaRPr/>
          </a:p>
        </p:txBody>
      </p:sp>
      <p:sp>
        <p:nvSpPr>
          <p:cNvPr id="256" name="Google Shape;256;p7"/>
          <p:cNvSpPr txBox="1"/>
          <p:nvPr/>
        </p:nvSpPr>
        <p:spPr>
          <a:xfrm>
            <a:off x="502563" y="4407434"/>
            <a:ext cx="1118206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Tuned with 20 Optuna TPE trials across three spaced, chronological 4-day validation windows – native missing-value handling, early stopping after 50 rounds without improvement, and an objective blending 70% overall MAE with 30% daytime MAE. Final tree count is the mean best iteration across the validation folds.</a:t>
            </a:r>
            <a:endParaRPr/>
          </a:p>
        </p:txBody>
      </p:sp>
      <p:sp>
        <p:nvSpPr>
          <p:cNvPr id="257" name="Google Shape;257;p7"/>
          <p:cNvSpPr txBox="1"/>
          <p:nvPr>
            <p:ph idx="12" type="sldNum"/>
          </p:nvPr>
        </p:nvSpPr>
        <p:spPr>
          <a:xfrm>
            <a:off x="11569382" y="6500390"/>
            <a:ext cx="21780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/>
        </p:nvSpPr>
        <p:spPr>
          <a:xfrm>
            <a:off x="579856" y="416776"/>
            <a:ext cx="29478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A23C"/>
                </a:solidFill>
                <a:latin typeface="Calibri"/>
                <a:ea typeface="Calibri"/>
                <a:cs typeface="Calibri"/>
                <a:sym typeface="Calibri"/>
              </a:rPr>
              <a:t>RESULTS THAT MATTER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263" name="Google Shape;263;p8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Measured on an untouched chronological test window</a:t>
            </a:r>
            <a:endParaRPr/>
          </a:p>
        </p:txBody>
      </p:sp>
      <p:grpSp>
        <p:nvGrpSpPr>
          <p:cNvPr id="264" name="Google Shape;264;p8"/>
          <p:cNvGrpSpPr/>
          <p:nvPr/>
        </p:nvGrpSpPr>
        <p:grpSpPr>
          <a:xfrm>
            <a:off x="394563" y="1621434"/>
            <a:ext cx="5610961" cy="2958845"/>
            <a:chOff x="394563" y="1621434"/>
            <a:chExt cx="5610961" cy="2958845"/>
          </a:xfrm>
        </p:grpSpPr>
        <p:pic>
          <p:nvPicPr>
            <p:cNvPr id="265" name="Google Shape;265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4563" y="1621434"/>
              <a:ext cx="5610961" cy="29588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8"/>
            <p:cNvSpPr/>
            <p:nvPr/>
          </p:nvSpPr>
          <p:spPr>
            <a:xfrm>
              <a:off x="502564" y="1691284"/>
              <a:ext cx="5394960" cy="2743200"/>
            </a:xfrm>
            <a:custGeom>
              <a:rect b="b" l="l" r="r" t="t"/>
              <a:pathLst>
                <a:path extrusionOk="0" h="2743200" w="5394960">
                  <a:moveTo>
                    <a:pt x="532151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670111"/>
                  </a:lnTo>
                  <a:lnTo>
                    <a:pt x="15041" y="2714489"/>
                  </a:lnTo>
                  <a:lnTo>
                    <a:pt x="54041" y="2740769"/>
                  </a:lnTo>
                  <a:lnTo>
                    <a:pt x="73075" y="2743199"/>
                  </a:lnTo>
                  <a:lnTo>
                    <a:pt x="5321871" y="2742831"/>
                  </a:lnTo>
                  <a:lnTo>
                    <a:pt x="5366249" y="2727790"/>
                  </a:lnTo>
                  <a:lnTo>
                    <a:pt x="5392514" y="2688834"/>
                  </a:lnTo>
                  <a:lnTo>
                    <a:pt x="5394937" y="2670111"/>
                  </a:lnTo>
                  <a:lnTo>
                    <a:pt x="5394960" y="2669755"/>
                  </a:lnTo>
                  <a:lnTo>
                    <a:pt x="5394591" y="73075"/>
                  </a:lnTo>
                  <a:lnTo>
                    <a:pt x="5379550" y="28698"/>
                  </a:lnTo>
                  <a:lnTo>
                    <a:pt x="5340550" y="2428"/>
                  </a:lnTo>
                  <a:lnTo>
                    <a:pt x="5331149" y="607"/>
                  </a:lnTo>
                  <a:lnTo>
                    <a:pt x="532151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502564" y="1691284"/>
              <a:ext cx="5394960" cy="2743200"/>
            </a:xfrm>
            <a:custGeom>
              <a:rect b="b" l="l" r="r" t="t"/>
              <a:pathLst>
                <a:path extrusionOk="0" h="2743200" w="53949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41"/>
                  </a:lnTo>
                  <a:lnTo>
                    <a:pt x="73075" y="0"/>
                  </a:lnTo>
                  <a:lnTo>
                    <a:pt x="5321515" y="0"/>
                  </a:lnTo>
                  <a:lnTo>
                    <a:pt x="5366193" y="15096"/>
                  </a:lnTo>
                  <a:lnTo>
                    <a:pt x="5392162" y="54357"/>
                  </a:lnTo>
                  <a:lnTo>
                    <a:pt x="5394591" y="73075"/>
                  </a:lnTo>
                  <a:lnTo>
                    <a:pt x="5394960" y="2669755"/>
                  </a:lnTo>
                  <a:lnTo>
                    <a:pt x="5394352" y="2679389"/>
                  </a:lnTo>
                  <a:lnTo>
                    <a:pt x="5392529" y="2688790"/>
                  </a:lnTo>
                  <a:lnTo>
                    <a:pt x="5366249" y="2727790"/>
                  </a:lnTo>
                  <a:lnTo>
                    <a:pt x="5321871" y="2742831"/>
                  </a:lnTo>
                  <a:lnTo>
                    <a:pt x="73075" y="2743199"/>
                  </a:lnTo>
                  <a:lnTo>
                    <a:pt x="28398" y="2728090"/>
                  </a:lnTo>
                  <a:lnTo>
                    <a:pt x="2428" y="2688834"/>
                  </a:lnTo>
                  <a:lnTo>
                    <a:pt x="0" y="2670111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640080" y="2166480"/>
              <a:ext cx="5120640" cy="2176780"/>
            </a:xfrm>
            <a:custGeom>
              <a:rect b="b" l="l" r="r" t="t"/>
              <a:pathLst>
                <a:path extrusionOk="0" h="2176779" w="5120640">
                  <a:moveTo>
                    <a:pt x="5120284" y="0"/>
                  </a:moveTo>
                  <a:lnTo>
                    <a:pt x="0" y="0"/>
                  </a:lnTo>
                  <a:lnTo>
                    <a:pt x="0" y="2176564"/>
                  </a:lnTo>
                  <a:lnTo>
                    <a:pt x="2560320" y="2176564"/>
                  </a:lnTo>
                  <a:lnTo>
                    <a:pt x="5120284" y="2176564"/>
                  </a:lnTo>
                  <a:lnTo>
                    <a:pt x="5120284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742315" y="4045318"/>
              <a:ext cx="4916170" cy="52705"/>
            </a:xfrm>
            <a:custGeom>
              <a:rect b="b" l="l" r="r" t="t"/>
              <a:pathLst>
                <a:path extrusionOk="0" h="52704" w="4916170">
                  <a:moveTo>
                    <a:pt x="0" y="52565"/>
                  </a:moveTo>
                  <a:lnTo>
                    <a:pt x="0" y="0"/>
                  </a:lnTo>
                </a:path>
                <a:path extrusionOk="0" h="52704" w="4916170">
                  <a:moveTo>
                    <a:pt x="1638719" y="52565"/>
                  </a:moveTo>
                  <a:lnTo>
                    <a:pt x="1638719" y="0"/>
                  </a:lnTo>
                </a:path>
                <a:path extrusionOk="0" h="52704" w="4916170">
                  <a:moveTo>
                    <a:pt x="3277082" y="52565"/>
                  </a:moveTo>
                  <a:lnTo>
                    <a:pt x="3277082" y="0"/>
                  </a:lnTo>
                </a:path>
                <a:path extrusionOk="0" h="52704" w="4916170">
                  <a:moveTo>
                    <a:pt x="4915801" y="52565"/>
                  </a:moveTo>
                  <a:lnTo>
                    <a:pt x="4915801" y="0"/>
                  </a:lnTo>
                </a:path>
                <a:path extrusionOk="0" h="52704" w="4916170">
                  <a:moveTo>
                    <a:pt x="0" y="0"/>
                  </a:moveTo>
                  <a:lnTo>
                    <a:pt x="4915801" y="0"/>
                  </a:lnTo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1233716" y="2314079"/>
              <a:ext cx="655955" cy="1731645"/>
            </a:xfrm>
            <a:custGeom>
              <a:rect b="b" l="l" r="r" t="t"/>
              <a:pathLst>
                <a:path extrusionOk="0" h="1731645" w="655955">
                  <a:moveTo>
                    <a:pt x="655561" y="0"/>
                  </a:moveTo>
                  <a:lnTo>
                    <a:pt x="0" y="0"/>
                  </a:lnTo>
                  <a:lnTo>
                    <a:pt x="0" y="1731238"/>
                  </a:lnTo>
                  <a:lnTo>
                    <a:pt x="655561" y="1731238"/>
                  </a:lnTo>
                  <a:lnTo>
                    <a:pt x="655561" y="0"/>
                  </a:lnTo>
                  <a:close/>
                </a:path>
              </a:pathLst>
            </a:custGeom>
            <a:solidFill>
              <a:srgbClr val="9EAB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2872435" y="2601353"/>
              <a:ext cx="655320" cy="1443990"/>
            </a:xfrm>
            <a:custGeom>
              <a:rect b="b" l="l" r="r" t="t"/>
              <a:pathLst>
                <a:path extrusionOk="0" h="1443989" w="655320">
                  <a:moveTo>
                    <a:pt x="655205" y="0"/>
                  </a:moveTo>
                  <a:lnTo>
                    <a:pt x="0" y="0"/>
                  </a:lnTo>
                  <a:lnTo>
                    <a:pt x="0" y="1443964"/>
                  </a:lnTo>
                  <a:lnTo>
                    <a:pt x="655205" y="1443964"/>
                  </a:lnTo>
                  <a:lnTo>
                    <a:pt x="655205" y="0"/>
                  </a:lnTo>
                  <a:close/>
                </a:path>
              </a:pathLst>
            </a:custGeom>
            <a:solidFill>
              <a:srgbClr val="3EBE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4510798" y="2855163"/>
              <a:ext cx="655955" cy="1190625"/>
            </a:xfrm>
            <a:custGeom>
              <a:rect b="b" l="l" r="r" t="t"/>
              <a:pathLst>
                <a:path extrusionOk="0" h="1190625" w="655954">
                  <a:moveTo>
                    <a:pt x="655561" y="0"/>
                  </a:moveTo>
                  <a:lnTo>
                    <a:pt x="0" y="0"/>
                  </a:lnTo>
                  <a:lnTo>
                    <a:pt x="0" y="1190155"/>
                  </a:lnTo>
                  <a:lnTo>
                    <a:pt x="655561" y="1190155"/>
                  </a:lnTo>
                  <a:lnTo>
                    <a:pt x="655561" y="0"/>
                  </a:lnTo>
                  <a:close/>
                </a:path>
              </a:pathLst>
            </a:custGeom>
            <a:solidFill>
              <a:srgbClr val="E7A23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73" name="Google Shape;273;p8"/>
          <p:cNvSpPr txBox="1"/>
          <p:nvPr/>
        </p:nvSpPr>
        <p:spPr>
          <a:xfrm>
            <a:off x="1372488" y="4113529"/>
            <a:ext cx="37909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2939808" y="4113529"/>
            <a:ext cx="52070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4539894" y="4113529"/>
            <a:ext cx="59309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808456" y="1782262"/>
            <a:ext cx="1858010" cy="502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2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5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MAE (kW) — lower is better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581025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424.3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3015767" y="2369565"/>
            <a:ext cx="368935" cy="202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353.9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4654372" y="2623502"/>
            <a:ext cx="368935" cy="202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291.7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9" name="Google Shape;279;p8"/>
          <p:cNvGrpSpPr/>
          <p:nvPr/>
        </p:nvGrpSpPr>
        <p:grpSpPr>
          <a:xfrm>
            <a:off x="6109563" y="1621434"/>
            <a:ext cx="5610961" cy="2958845"/>
            <a:chOff x="6109563" y="1621434"/>
            <a:chExt cx="5610961" cy="2958845"/>
          </a:xfrm>
        </p:grpSpPr>
        <p:pic>
          <p:nvPicPr>
            <p:cNvPr id="280" name="Google Shape;280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09563" y="1621434"/>
              <a:ext cx="5610961" cy="29588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8"/>
            <p:cNvSpPr/>
            <p:nvPr/>
          </p:nvSpPr>
          <p:spPr>
            <a:xfrm>
              <a:off x="6217564" y="1691284"/>
              <a:ext cx="5394960" cy="2743200"/>
            </a:xfrm>
            <a:custGeom>
              <a:rect b="b" l="l" r="r" t="t"/>
              <a:pathLst>
                <a:path extrusionOk="0" h="2743200" w="5394959">
                  <a:moveTo>
                    <a:pt x="532151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670111"/>
                  </a:lnTo>
                  <a:lnTo>
                    <a:pt x="15041" y="2714489"/>
                  </a:lnTo>
                  <a:lnTo>
                    <a:pt x="54041" y="2740769"/>
                  </a:lnTo>
                  <a:lnTo>
                    <a:pt x="73075" y="2743199"/>
                  </a:lnTo>
                  <a:lnTo>
                    <a:pt x="5321871" y="2742831"/>
                  </a:lnTo>
                  <a:lnTo>
                    <a:pt x="5366249" y="2727790"/>
                  </a:lnTo>
                  <a:lnTo>
                    <a:pt x="5392514" y="2688834"/>
                  </a:lnTo>
                  <a:lnTo>
                    <a:pt x="5394937" y="2670111"/>
                  </a:lnTo>
                  <a:lnTo>
                    <a:pt x="5394959" y="2669755"/>
                  </a:lnTo>
                  <a:lnTo>
                    <a:pt x="5394591" y="73075"/>
                  </a:lnTo>
                  <a:lnTo>
                    <a:pt x="5379550" y="28698"/>
                  </a:lnTo>
                  <a:lnTo>
                    <a:pt x="5340550" y="2428"/>
                  </a:lnTo>
                  <a:lnTo>
                    <a:pt x="5331149" y="607"/>
                  </a:lnTo>
                  <a:lnTo>
                    <a:pt x="532151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6217564" y="1691284"/>
              <a:ext cx="5394960" cy="2743200"/>
            </a:xfrm>
            <a:custGeom>
              <a:rect b="b" l="l" r="r" t="t"/>
              <a:pathLst>
                <a:path extrusionOk="0" h="2743200" w="539495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41"/>
                  </a:lnTo>
                  <a:lnTo>
                    <a:pt x="73075" y="0"/>
                  </a:lnTo>
                  <a:lnTo>
                    <a:pt x="5321515" y="0"/>
                  </a:lnTo>
                  <a:lnTo>
                    <a:pt x="5366193" y="15096"/>
                  </a:lnTo>
                  <a:lnTo>
                    <a:pt x="5392162" y="54357"/>
                  </a:lnTo>
                  <a:lnTo>
                    <a:pt x="5394591" y="73075"/>
                  </a:lnTo>
                  <a:lnTo>
                    <a:pt x="5394959" y="2669755"/>
                  </a:lnTo>
                  <a:lnTo>
                    <a:pt x="5394352" y="2679389"/>
                  </a:lnTo>
                  <a:lnTo>
                    <a:pt x="5392529" y="2688790"/>
                  </a:lnTo>
                  <a:lnTo>
                    <a:pt x="5366249" y="2727790"/>
                  </a:lnTo>
                  <a:lnTo>
                    <a:pt x="5321871" y="2742831"/>
                  </a:lnTo>
                  <a:lnTo>
                    <a:pt x="73075" y="2743199"/>
                  </a:lnTo>
                  <a:lnTo>
                    <a:pt x="28398" y="2728090"/>
                  </a:lnTo>
                  <a:lnTo>
                    <a:pt x="2428" y="2688834"/>
                  </a:lnTo>
                  <a:lnTo>
                    <a:pt x="0" y="2670111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3" name="Google Shape;283;p8"/>
          <p:cNvSpPr txBox="1"/>
          <p:nvPr/>
        </p:nvSpPr>
        <p:spPr>
          <a:xfrm>
            <a:off x="6523456" y="1839137"/>
            <a:ext cx="2425700" cy="21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5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Daytime MAPE (%) — lower is better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p8"/>
          <p:cNvGrpSpPr/>
          <p:nvPr/>
        </p:nvGrpSpPr>
        <p:grpSpPr>
          <a:xfrm>
            <a:off x="6355080" y="2103119"/>
            <a:ext cx="5120640" cy="2240280"/>
            <a:chOff x="6355080" y="2103119"/>
            <a:chExt cx="5120640" cy="2240280"/>
          </a:xfrm>
        </p:grpSpPr>
        <p:sp>
          <p:nvSpPr>
            <p:cNvPr id="285" name="Google Shape;285;p8"/>
            <p:cNvSpPr/>
            <p:nvPr/>
          </p:nvSpPr>
          <p:spPr>
            <a:xfrm>
              <a:off x="6355080" y="2103119"/>
              <a:ext cx="5120640" cy="2240280"/>
            </a:xfrm>
            <a:custGeom>
              <a:rect b="b" l="l" r="r" t="t"/>
              <a:pathLst>
                <a:path extrusionOk="0" h="2240279" w="5120640">
                  <a:moveTo>
                    <a:pt x="5120284" y="0"/>
                  </a:moveTo>
                  <a:lnTo>
                    <a:pt x="0" y="0"/>
                  </a:lnTo>
                  <a:lnTo>
                    <a:pt x="0" y="2239924"/>
                  </a:lnTo>
                  <a:lnTo>
                    <a:pt x="2560320" y="2239924"/>
                  </a:lnTo>
                  <a:lnTo>
                    <a:pt x="5120284" y="2239924"/>
                  </a:lnTo>
                  <a:lnTo>
                    <a:pt x="5120284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6457314" y="4036682"/>
              <a:ext cx="4916170" cy="54610"/>
            </a:xfrm>
            <a:custGeom>
              <a:rect b="b" l="l" r="r" t="t"/>
              <a:pathLst>
                <a:path extrusionOk="0" h="54610" w="4916170">
                  <a:moveTo>
                    <a:pt x="0" y="54000"/>
                  </a:moveTo>
                  <a:lnTo>
                    <a:pt x="0" y="0"/>
                  </a:lnTo>
                </a:path>
                <a:path extrusionOk="0" h="54610" w="4916170">
                  <a:moveTo>
                    <a:pt x="1638719" y="54000"/>
                  </a:moveTo>
                  <a:lnTo>
                    <a:pt x="1638719" y="0"/>
                  </a:lnTo>
                </a:path>
                <a:path extrusionOk="0" h="54610" w="4916170">
                  <a:moveTo>
                    <a:pt x="3277082" y="54000"/>
                  </a:moveTo>
                  <a:lnTo>
                    <a:pt x="3277082" y="0"/>
                  </a:lnTo>
                </a:path>
                <a:path extrusionOk="0" h="54610" w="4916170">
                  <a:moveTo>
                    <a:pt x="4915801" y="54000"/>
                  </a:moveTo>
                  <a:lnTo>
                    <a:pt x="4915801" y="0"/>
                  </a:lnTo>
                </a:path>
                <a:path extrusionOk="0" h="54610" w="4916170">
                  <a:moveTo>
                    <a:pt x="0" y="0"/>
                  </a:moveTo>
                  <a:lnTo>
                    <a:pt x="4915801" y="0"/>
                  </a:lnTo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6948716" y="2540165"/>
              <a:ext cx="655955" cy="1496695"/>
            </a:xfrm>
            <a:custGeom>
              <a:rect b="b" l="l" r="r" t="t"/>
              <a:pathLst>
                <a:path extrusionOk="0" h="1496695" w="655954">
                  <a:moveTo>
                    <a:pt x="655561" y="0"/>
                  </a:moveTo>
                  <a:lnTo>
                    <a:pt x="0" y="0"/>
                  </a:lnTo>
                  <a:lnTo>
                    <a:pt x="0" y="1496517"/>
                  </a:lnTo>
                  <a:lnTo>
                    <a:pt x="655561" y="1496517"/>
                  </a:lnTo>
                  <a:lnTo>
                    <a:pt x="655561" y="0"/>
                  </a:lnTo>
                  <a:close/>
                </a:path>
              </a:pathLst>
            </a:custGeom>
            <a:solidFill>
              <a:srgbClr val="9EAB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8587435" y="3378962"/>
              <a:ext cx="655320" cy="657860"/>
            </a:xfrm>
            <a:custGeom>
              <a:rect b="b" l="l" r="r" t="t"/>
              <a:pathLst>
                <a:path extrusionOk="0" h="657860" w="655320">
                  <a:moveTo>
                    <a:pt x="655205" y="0"/>
                  </a:moveTo>
                  <a:lnTo>
                    <a:pt x="0" y="0"/>
                  </a:lnTo>
                  <a:lnTo>
                    <a:pt x="0" y="657720"/>
                  </a:lnTo>
                  <a:lnTo>
                    <a:pt x="655205" y="657720"/>
                  </a:lnTo>
                  <a:lnTo>
                    <a:pt x="655205" y="0"/>
                  </a:lnTo>
                  <a:close/>
                </a:path>
              </a:pathLst>
            </a:custGeom>
            <a:solidFill>
              <a:srgbClr val="3EBE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10225798" y="3598202"/>
              <a:ext cx="655955" cy="438784"/>
            </a:xfrm>
            <a:custGeom>
              <a:rect b="b" l="l" r="r" t="t"/>
              <a:pathLst>
                <a:path extrusionOk="0" h="438785" w="655954">
                  <a:moveTo>
                    <a:pt x="65556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655561" y="438480"/>
                  </a:lnTo>
                  <a:lnTo>
                    <a:pt x="655561" y="0"/>
                  </a:lnTo>
                  <a:close/>
                </a:path>
              </a:pathLst>
            </a:custGeom>
            <a:solidFill>
              <a:srgbClr val="E7A23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0" name="Google Shape;290;p8"/>
          <p:cNvSpPr txBox="1"/>
          <p:nvPr/>
        </p:nvSpPr>
        <p:spPr>
          <a:xfrm>
            <a:off x="7087437" y="4107560"/>
            <a:ext cx="37909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8654770" y="4107560"/>
            <a:ext cx="51943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10254856" y="4107560"/>
            <a:ext cx="59245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7130275" y="2301367"/>
            <a:ext cx="2933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19.8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8807043" y="3140392"/>
            <a:ext cx="2171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8.7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 txBox="1"/>
          <p:nvPr/>
        </p:nvSpPr>
        <p:spPr>
          <a:xfrm>
            <a:off x="10445648" y="3359594"/>
            <a:ext cx="2171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5.8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 txBox="1"/>
          <p:nvPr/>
        </p:nvSpPr>
        <p:spPr>
          <a:xfrm>
            <a:off x="502564" y="4734623"/>
            <a:ext cx="338363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rgbClr val="E7A2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31.2%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relative MAE reduction vs. linear baseline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 txBox="1"/>
          <p:nvPr/>
        </p:nvSpPr>
        <p:spPr>
          <a:xfrm>
            <a:off x="4374616" y="4734623"/>
            <a:ext cx="28041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rgbClr val="E7A2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70.7%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relative daytime MAPE reduction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7772400" y="4734623"/>
            <a:ext cx="360108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rgbClr val="E7A2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1.8 kW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Nighttime MAE — near-zero, as it should be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 txBox="1"/>
          <p:nvPr/>
        </p:nvSpPr>
        <p:spPr>
          <a:xfrm>
            <a:off x="579856" y="6353543"/>
            <a:ext cx="11014926" cy="227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4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Test window untouched by tuning or interval calibration. MAPE excludes rows with actual generation ≤ 100 kW (nighṄme).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 txBox="1"/>
          <p:nvPr/>
        </p:nvSpPr>
        <p:spPr>
          <a:xfrm>
            <a:off x="502564" y="264296"/>
            <a:ext cx="5211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AN HONEST ENGINEERING DECISION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305" name="Google Shape;305;p9"/>
          <p:cNvSpPr txBox="1"/>
          <p:nvPr>
            <p:ph type="title"/>
          </p:nvPr>
        </p:nvSpPr>
        <p:spPr>
          <a:xfrm>
            <a:off x="579856" y="523341"/>
            <a:ext cx="9920605" cy="1001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We removed features the live system couldn't honestly provide</a:t>
            </a:r>
            <a:endParaRPr/>
          </a:p>
        </p:txBody>
      </p:sp>
      <p:grpSp>
        <p:nvGrpSpPr>
          <p:cNvPr id="306" name="Google Shape;306;p9"/>
          <p:cNvGrpSpPr/>
          <p:nvPr/>
        </p:nvGrpSpPr>
        <p:grpSpPr>
          <a:xfrm>
            <a:off x="394919" y="1712874"/>
            <a:ext cx="5565241" cy="2135885"/>
            <a:chOff x="394919" y="1712874"/>
            <a:chExt cx="5565241" cy="2135885"/>
          </a:xfrm>
        </p:grpSpPr>
        <p:pic>
          <p:nvPicPr>
            <p:cNvPr id="307" name="Google Shape;30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4919" y="1712874"/>
              <a:ext cx="5565241" cy="21358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9"/>
            <p:cNvSpPr/>
            <p:nvPr/>
          </p:nvSpPr>
          <p:spPr>
            <a:xfrm>
              <a:off x="502920" y="1782724"/>
              <a:ext cx="5349240" cy="1920239"/>
            </a:xfrm>
            <a:custGeom>
              <a:rect b="b" l="l" r="r" t="t"/>
              <a:pathLst>
                <a:path extrusionOk="0" h="1920239" w="5349240">
                  <a:moveTo>
                    <a:pt x="52757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847151"/>
                  </a:lnTo>
                  <a:lnTo>
                    <a:pt x="15046" y="1891529"/>
                  </a:lnTo>
                  <a:lnTo>
                    <a:pt x="54046" y="1917809"/>
                  </a:lnTo>
                  <a:lnTo>
                    <a:pt x="73075" y="1920239"/>
                  </a:lnTo>
                  <a:lnTo>
                    <a:pt x="5276164" y="1919871"/>
                  </a:lnTo>
                  <a:lnTo>
                    <a:pt x="5320534" y="1904830"/>
                  </a:lnTo>
                  <a:lnTo>
                    <a:pt x="5346796" y="1865874"/>
                  </a:lnTo>
                  <a:lnTo>
                    <a:pt x="5349217" y="1847151"/>
                  </a:lnTo>
                  <a:lnTo>
                    <a:pt x="5349240" y="1846795"/>
                  </a:lnTo>
                  <a:lnTo>
                    <a:pt x="5348884" y="73075"/>
                  </a:lnTo>
                  <a:lnTo>
                    <a:pt x="5333830" y="28698"/>
                  </a:lnTo>
                  <a:lnTo>
                    <a:pt x="5294836" y="2428"/>
                  </a:lnTo>
                  <a:lnTo>
                    <a:pt x="5285435" y="607"/>
                  </a:lnTo>
                  <a:lnTo>
                    <a:pt x="5275795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502920" y="1782724"/>
              <a:ext cx="5349240" cy="1920239"/>
            </a:xfrm>
            <a:custGeom>
              <a:rect b="b" l="l" r="r" t="t"/>
              <a:pathLst>
                <a:path extrusionOk="0" h="1920239" w="534924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41"/>
                  </a:lnTo>
                  <a:lnTo>
                    <a:pt x="73075" y="0"/>
                  </a:lnTo>
                  <a:lnTo>
                    <a:pt x="5275795" y="0"/>
                  </a:lnTo>
                  <a:lnTo>
                    <a:pt x="5320478" y="15096"/>
                  </a:lnTo>
                  <a:lnTo>
                    <a:pt x="5346453" y="54357"/>
                  </a:lnTo>
                  <a:lnTo>
                    <a:pt x="5348884" y="73075"/>
                  </a:lnTo>
                  <a:lnTo>
                    <a:pt x="5349240" y="1846795"/>
                  </a:lnTo>
                  <a:lnTo>
                    <a:pt x="5348632" y="1856429"/>
                  </a:lnTo>
                  <a:lnTo>
                    <a:pt x="5346811" y="1865830"/>
                  </a:lnTo>
                  <a:lnTo>
                    <a:pt x="5320534" y="1904830"/>
                  </a:lnTo>
                  <a:lnTo>
                    <a:pt x="5276164" y="1919871"/>
                  </a:lnTo>
                  <a:lnTo>
                    <a:pt x="73075" y="1920239"/>
                  </a:lnTo>
                  <a:lnTo>
                    <a:pt x="28399" y="1905130"/>
                  </a:lnTo>
                  <a:lnTo>
                    <a:pt x="2428" y="1865874"/>
                  </a:lnTo>
                  <a:lnTo>
                    <a:pt x="0" y="1847151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0" name="Google Shape;310;p9"/>
          <p:cNvSpPr txBox="1"/>
          <p:nvPr/>
        </p:nvSpPr>
        <p:spPr>
          <a:xfrm>
            <a:off x="854544" y="1998611"/>
            <a:ext cx="1946111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854544" y="2394978"/>
            <a:ext cx="3830954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Real, historical current-power readings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807897" y="2764028"/>
            <a:ext cx="4906011" cy="791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Three lag/rolling power features looked genuinely predictive offline - because they had real SCADA-like history to draw from.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3" name="Google Shape;313;p9"/>
          <p:cNvGrpSpPr/>
          <p:nvPr/>
        </p:nvGrpSpPr>
        <p:grpSpPr>
          <a:xfrm>
            <a:off x="6064199" y="1712874"/>
            <a:ext cx="5565241" cy="2135885"/>
            <a:chOff x="6064199" y="1712874"/>
            <a:chExt cx="5565241" cy="2135885"/>
          </a:xfrm>
        </p:grpSpPr>
        <p:pic>
          <p:nvPicPr>
            <p:cNvPr id="314" name="Google Shape;314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64199" y="1712874"/>
              <a:ext cx="5565241" cy="21358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9"/>
            <p:cNvSpPr/>
            <p:nvPr/>
          </p:nvSpPr>
          <p:spPr>
            <a:xfrm>
              <a:off x="6172200" y="1782724"/>
              <a:ext cx="5349240" cy="1920239"/>
            </a:xfrm>
            <a:custGeom>
              <a:rect b="b" l="l" r="r" t="t"/>
              <a:pathLst>
                <a:path extrusionOk="0" h="1920239" w="5349240">
                  <a:moveTo>
                    <a:pt x="527579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67" y="21280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847151"/>
                  </a:lnTo>
                  <a:lnTo>
                    <a:pt x="15046" y="1891529"/>
                  </a:lnTo>
                  <a:lnTo>
                    <a:pt x="54046" y="1917809"/>
                  </a:lnTo>
                  <a:lnTo>
                    <a:pt x="73075" y="1920239"/>
                  </a:lnTo>
                  <a:lnTo>
                    <a:pt x="5276164" y="1919871"/>
                  </a:lnTo>
                  <a:lnTo>
                    <a:pt x="5320534" y="1904830"/>
                  </a:lnTo>
                  <a:lnTo>
                    <a:pt x="5346796" y="1865874"/>
                  </a:lnTo>
                  <a:lnTo>
                    <a:pt x="5349217" y="1847151"/>
                  </a:lnTo>
                  <a:lnTo>
                    <a:pt x="5349240" y="1846795"/>
                  </a:lnTo>
                  <a:lnTo>
                    <a:pt x="5348884" y="73075"/>
                  </a:lnTo>
                  <a:lnTo>
                    <a:pt x="5333830" y="28698"/>
                  </a:lnTo>
                  <a:lnTo>
                    <a:pt x="5294836" y="2428"/>
                  </a:lnTo>
                  <a:lnTo>
                    <a:pt x="5285435" y="607"/>
                  </a:lnTo>
                  <a:lnTo>
                    <a:pt x="5275795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6172200" y="1782724"/>
              <a:ext cx="5349240" cy="1920239"/>
            </a:xfrm>
            <a:custGeom>
              <a:rect b="b" l="l" r="r" t="t"/>
              <a:pathLst>
                <a:path extrusionOk="0" h="1920239" w="534924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705" y="15041"/>
                  </a:lnTo>
                  <a:lnTo>
                    <a:pt x="73075" y="0"/>
                  </a:lnTo>
                  <a:lnTo>
                    <a:pt x="5275795" y="0"/>
                  </a:lnTo>
                  <a:lnTo>
                    <a:pt x="5320478" y="15096"/>
                  </a:lnTo>
                  <a:lnTo>
                    <a:pt x="5346453" y="54357"/>
                  </a:lnTo>
                  <a:lnTo>
                    <a:pt x="5348884" y="73075"/>
                  </a:lnTo>
                  <a:lnTo>
                    <a:pt x="5349240" y="1846795"/>
                  </a:lnTo>
                  <a:lnTo>
                    <a:pt x="5348632" y="1856429"/>
                  </a:lnTo>
                  <a:lnTo>
                    <a:pt x="5346811" y="1865830"/>
                  </a:lnTo>
                  <a:lnTo>
                    <a:pt x="5320534" y="1904830"/>
                  </a:lnTo>
                  <a:lnTo>
                    <a:pt x="5276164" y="1919871"/>
                  </a:lnTo>
                  <a:lnTo>
                    <a:pt x="73075" y="1920239"/>
                  </a:lnTo>
                  <a:lnTo>
                    <a:pt x="28399" y="1905130"/>
                  </a:lnTo>
                  <a:lnTo>
                    <a:pt x="2428" y="1865874"/>
                  </a:lnTo>
                  <a:lnTo>
                    <a:pt x="0" y="1847151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E75C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7" name="Google Shape;317;p9"/>
          <p:cNvSpPr txBox="1"/>
          <p:nvPr/>
        </p:nvSpPr>
        <p:spPr>
          <a:xfrm>
            <a:off x="6523825" y="1998611"/>
            <a:ext cx="2315375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L IV E I NF E RE NCE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6523825" y="2394978"/>
            <a:ext cx="4312920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SCADA feed → artificial zero placeholders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9"/>
          <p:cNvSpPr txBox="1"/>
          <p:nvPr/>
        </p:nvSpPr>
        <p:spPr>
          <a:xfrm>
            <a:off x="6523825" y="2739124"/>
            <a:ext cx="4860278" cy="791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This prototype has no live plant telemetry. Serving those same features as constant zeros at inference would be quietly dishonest.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 txBox="1"/>
          <p:nvPr/>
        </p:nvSpPr>
        <p:spPr>
          <a:xfrm>
            <a:off x="5947105" y="2577490"/>
            <a:ext cx="255904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1" name="Google Shape;321;p9"/>
          <p:cNvGrpSpPr/>
          <p:nvPr/>
        </p:nvGrpSpPr>
        <p:grpSpPr>
          <a:xfrm>
            <a:off x="394563" y="3907790"/>
            <a:ext cx="11401564" cy="1815846"/>
            <a:chOff x="394563" y="3907790"/>
            <a:chExt cx="11401564" cy="1815846"/>
          </a:xfrm>
        </p:grpSpPr>
        <p:pic>
          <p:nvPicPr>
            <p:cNvPr id="322" name="Google Shape;322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4563" y="3907790"/>
              <a:ext cx="11401564" cy="18158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9"/>
            <p:cNvSpPr/>
            <p:nvPr/>
          </p:nvSpPr>
          <p:spPr>
            <a:xfrm>
              <a:off x="502564" y="3977640"/>
              <a:ext cx="11186160" cy="1600200"/>
            </a:xfrm>
            <a:custGeom>
              <a:rect b="b" l="l" r="r" t="t"/>
              <a:pathLst>
                <a:path extrusionOk="0" h="1600200" w="11186160">
                  <a:moveTo>
                    <a:pt x="11112474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527124"/>
                  </a:lnTo>
                  <a:lnTo>
                    <a:pt x="594" y="1536395"/>
                  </a:lnTo>
                  <a:lnTo>
                    <a:pt x="607" y="1536600"/>
                  </a:lnTo>
                  <a:lnTo>
                    <a:pt x="2394" y="1545796"/>
                  </a:lnTo>
                  <a:lnTo>
                    <a:pt x="2428" y="1545975"/>
                  </a:lnTo>
                  <a:lnTo>
                    <a:pt x="5412" y="1554859"/>
                  </a:lnTo>
                  <a:lnTo>
                    <a:pt x="5464" y="1555015"/>
                  </a:lnTo>
                  <a:lnTo>
                    <a:pt x="36360" y="1590484"/>
                  </a:lnTo>
                  <a:lnTo>
                    <a:pt x="73075" y="1600200"/>
                  </a:lnTo>
                  <a:lnTo>
                    <a:pt x="11112830" y="1599844"/>
                  </a:lnTo>
                  <a:lnTo>
                    <a:pt x="11157207" y="1584740"/>
                  </a:lnTo>
                  <a:lnTo>
                    <a:pt x="11180371" y="1555015"/>
                  </a:lnTo>
                  <a:lnTo>
                    <a:pt x="11180448" y="1554859"/>
                  </a:lnTo>
                  <a:lnTo>
                    <a:pt x="11185895" y="1527124"/>
                  </a:lnTo>
                  <a:lnTo>
                    <a:pt x="11185918" y="1526755"/>
                  </a:lnTo>
                  <a:lnTo>
                    <a:pt x="11185550" y="73075"/>
                  </a:lnTo>
                  <a:lnTo>
                    <a:pt x="11170459" y="28705"/>
                  </a:lnTo>
                  <a:lnTo>
                    <a:pt x="11131513" y="2428"/>
                  </a:lnTo>
                  <a:lnTo>
                    <a:pt x="11122113" y="607"/>
                  </a:lnTo>
                  <a:lnTo>
                    <a:pt x="11112474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502564" y="3977640"/>
              <a:ext cx="11186160" cy="1600200"/>
            </a:xfrm>
            <a:custGeom>
              <a:rect b="b" l="l" r="r" t="t"/>
              <a:pathLst>
                <a:path extrusionOk="0" h="1600200" w="111861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1112474" y="0"/>
                  </a:lnTo>
                  <a:lnTo>
                    <a:pt x="11157002" y="15104"/>
                  </a:lnTo>
                  <a:lnTo>
                    <a:pt x="11183121" y="54224"/>
                  </a:lnTo>
                  <a:lnTo>
                    <a:pt x="11185550" y="73075"/>
                  </a:lnTo>
                  <a:lnTo>
                    <a:pt x="11185918" y="1526755"/>
                  </a:lnTo>
                  <a:lnTo>
                    <a:pt x="11185311" y="1536395"/>
                  </a:lnTo>
                  <a:lnTo>
                    <a:pt x="11183488" y="1545796"/>
                  </a:lnTo>
                  <a:lnTo>
                    <a:pt x="11157207" y="1584740"/>
                  </a:lnTo>
                  <a:lnTo>
                    <a:pt x="11112830" y="1599844"/>
                  </a:lnTo>
                  <a:lnTo>
                    <a:pt x="73075" y="1600200"/>
                  </a:lnTo>
                  <a:lnTo>
                    <a:pt x="28548" y="1585095"/>
                  </a:lnTo>
                  <a:lnTo>
                    <a:pt x="2428" y="1545975"/>
                  </a:lnTo>
                  <a:lnTo>
                    <a:pt x="0" y="152712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E7A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5" name="Google Shape;325;p9"/>
          <p:cNvSpPr txBox="1"/>
          <p:nvPr/>
        </p:nvSpPr>
        <p:spPr>
          <a:xfrm>
            <a:off x="834879" y="4077388"/>
            <a:ext cx="10377805" cy="140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A23C"/>
                </a:solidFill>
                <a:latin typeface="Calibri"/>
                <a:ea typeface="Calibri"/>
                <a:cs typeface="Calibri"/>
                <a:sym typeface="Calibri"/>
              </a:rPr>
              <a:t>THE D ECIS IO 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Remove the three historical current-power features. Retrain on nine features that are honestly available live - weather, time, and pvlib solar geometry. Accept a measured offline accuracy trade-off in exchange for a model that behaves in production exactly as it was evaluated. This is presented as an engineering-integrity decision, not a compromise to hide.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 txBox="1"/>
          <p:nvPr/>
        </p:nvSpPr>
        <p:spPr>
          <a:xfrm>
            <a:off x="11594782" y="6500390"/>
            <a:ext cx="15430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"/>
          <p:cNvSpPr txBox="1"/>
          <p:nvPr/>
        </p:nvSpPr>
        <p:spPr>
          <a:xfrm>
            <a:off x="534518" y="325591"/>
            <a:ext cx="43422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UNCERTAINTY</a:t>
            </a:r>
            <a:r>
              <a:rPr b="1" lang="pt-BR" sz="16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1" lang="pt-BR" sz="16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DECISIONS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332" name="Google Shape;332;p10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The forecast gets honest about what it doesn't know</a:t>
            </a:r>
            <a:endParaRPr/>
          </a:p>
        </p:txBody>
      </p:sp>
      <p:grpSp>
        <p:nvGrpSpPr>
          <p:cNvPr id="333" name="Google Shape;333;p10"/>
          <p:cNvGrpSpPr/>
          <p:nvPr/>
        </p:nvGrpSpPr>
        <p:grpSpPr>
          <a:xfrm>
            <a:off x="394563" y="1621789"/>
            <a:ext cx="5610961" cy="3096006"/>
            <a:chOff x="394563" y="1621789"/>
            <a:chExt cx="5610961" cy="3096006"/>
          </a:xfrm>
        </p:grpSpPr>
        <p:pic>
          <p:nvPicPr>
            <p:cNvPr id="334" name="Google Shape;33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4563" y="1621789"/>
              <a:ext cx="5610961" cy="30960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10"/>
            <p:cNvSpPr/>
            <p:nvPr/>
          </p:nvSpPr>
          <p:spPr>
            <a:xfrm>
              <a:off x="502564" y="1691639"/>
              <a:ext cx="5394960" cy="2880360"/>
            </a:xfrm>
            <a:custGeom>
              <a:rect b="b" l="l" r="r" t="t"/>
              <a:pathLst>
                <a:path extrusionOk="0" h="2880360" w="5394960">
                  <a:moveTo>
                    <a:pt x="532151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807284"/>
                  </a:lnTo>
                  <a:lnTo>
                    <a:pt x="15041" y="2851654"/>
                  </a:lnTo>
                  <a:lnTo>
                    <a:pt x="54041" y="2877931"/>
                  </a:lnTo>
                  <a:lnTo>
                    <a:pt x="73075" y="2880360"/>
                  </a:lnTo>
                  <a:lnTo>
                    <a:pt x="5321871" y="2880004"/>
                  </a:lnTo>
                  <a:lnTo>
                    <a:pt x="5366249" y="2864950"/>
                  </a:lnTo>
                  <a:lnTo>
                    <a:pt x="5392514" y="2826002"/>
                  </a:lnTo>
                  <a:lnTo>
                    <a:pt x="5394960" y="2806915"/>
                  </a:lnTo>
                  <a:lnTo>
                    <a:pt x="5394591" y="73075"/>
                  </a:lnTo>
                  <a:lnTo>
                    <a:pt x="5379550" y="28705"/>
                  </a:lnTo>
                  <a:lnTo>
                    <a:pt x="5340550" y="2428"/>
                  </a:lnTo>
                  <a:lnTo>
                    <a:pt x="532151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" name="Google Shape;336;p10"/>
            <p:cNvSpPr/>
            <p:nvPr/>
          </p:nvSpPr>
          <p:spPr>
            <a:xfrm>
              <a:off x="502564" y="1691639"/>
              <a:ext cx="5394960" cy="2880360"/>
            </a:xfrm>
            <a:custGeom>
              <a:rect b="b" l="l" r="r" t="t"/>
              <a:pathLst>
                <a:path extrusionOk="0" h="2880360" w="53949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46"/>
                  </a:lnTo>
                  <a:lnTo>
                    <a:pt x="73075" y="0"/>
                  </a:lnTo>
                  <a:lnTo>
                    <a:pt x="5321515" y="0"/>
                  </a:lnTo>
                  <a:lnTo>
                    <a:pt x="5366193" y="15104"/>
                  </a:lnTo>
                  <a:lnTo>
                    <a:pt x="5392162" y="54357"/>
                  </a:lnTo>
                  <a:lnTo>
                    <a:pt x="5394591" y="73075"/>
                  </a:lnTo>
                  <a:lnTo>
                    <a:pt x="5394960" y="2806915"/>
                  </a:lnTo>
                  <a:lnTo>
                    <a:pt x="5394352" y="2816555"/>
                  </a:lnTo>
                  <a:lnTo>
                    <a:pt x="5392529" y="2825956"/>
                  </a:lnTo>
                  <a:lnTo>
                    <a:pt x="5366249" y="2864950"/>
                  </a:lnTo>
                  <a:lnTo>
                    <a:pt x="5321871" y="2880004"/>
                  </a:lnTo>
                  <a:lnTo>
                    <a:pt x="73075" y="2880360"/>
                  </a:lnTo>
                  <a:lnTo>
                    <a:pt x="28398" y="2865255"/>
                  </a:lnTo>
                  <a:lnTo>
                    <a:pt x="2428" y="2826002"/>
                  </a:lnTo>
                  <a:lnTo>
                    <a:pt x="0" y="280728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37" name="Google Shape;337;p10"/>
          <p:cNvSpPr txBox="1"/>
          <p:nvPr/>
        </p:nvSpPr>
        <p:spPr>
          <a:xfrm>
            <a:off x="808456" y="1839137"/>
            <a:ext cx="345874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90th-percentile residual by horizon (kW)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" name="Google Shape;338;p10"/>
          <p:cNvGrpSpPr/>
          <p:nvPr/>
        </p:nvGrpSpPr>
        <p:grpSpPr>
          <a:xfrm>
            <a:off x="640080" y="2103119"/>
            <a:ext cx="5120640" cy="2377440"/>
            <a:chOff x="640080" y="2103119"/>
            <a:chExt cx="5120640" cy="2377440"/>
          </a:xfrm>
        </p:grpSpPr>
        <p:sp>
          <p:nvSpPr>
            <p:cNvPr id="339" name="Google Shape;339;p10"/>
            <p:cNvSpPr/>
            <p:nvPr/>
          </p:nvSpPr>
          <p:spPr>
            <a:xfrm>
              <a:off x="640080" y="2103119"/>
              <a:ext cx="5120640" cy="2377440"/>
            </a:xfrm>
            <a:custGeom>
              <a:rect b="b" l="l" r="r" t="t"/>
              <a:pathLst>
                <a:path extrusionOk="0" h="2377440" w="5120640">
                  <a:moveTo>
                    <a:pt x="5120284" y="0"/>
                  </a:moveTo>
                  <a:lnTo>
                    <a:pt x="0" y="0"/>
                  </a:lnTo>
                  <a:lnTo>
                    <a:pt x="0" y="2377084"/>
                  </a:lnTo>
                  <a:lnTo>
                    <a:pt x="2560320" y="2377084"/>
                  </a:lnTo>
                  <a:lnTo>
                    <a:pt x="5120284" y="2377084"/>
                  </a:lnTo>
                  <a:lnTo>
                    <a:pt x="5120284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10"/>
            <p:cNvSpPr/>
            <p:nvPr/>
          </p:nvSpPr>
          <p:spPr>
            <a:xfrm>
              <a:off x="742315" y="4170959"/>
              <a:ext cx="4916170" cy="54610"/>
            </a:xfrm>
            <a:custGeom>
              <a:rect b="b" l="l" r="r" t="t"/>
              <a:pathLst>
                <a:path extrusionOk="0" h="54610" w="4916170">
                  <a:moveTo>
                    <a:pt x="0" y="54000"/>
                  </a:moveTo>
                  <a:lnTo>
                    <a:pt x="0" y="0"/>
                  </a:lnTo>
                </a:path>
                <a:path extrusionOk="0" h="54610" w="4916170">
                  <a:moveTo>
                    <a:pt x="1638719" y="54000"/>
                  </a:moveTo>
                  <a:lnTo>
                    <a:pt x="1638719" y="0"/>
                  </a:lnTo>
                </a:path>
                <a:path extrusionOk="0" h="54610" w="4916170">
                  <a:moveTo>
                    <a:pt x="3277082" y="54000"/>
                  </a:moveTo>
                  <a:lnTo>
                    <a:pt x="3277082" y="0"/>
                  </a:lnTo>
                </a:path>
                <a:path extrusionOk="0" h="54610" w="4916170">
                  <a:moveTo>
                    <a:pt x="4915801" y="54000"/>
                  </a:moveTo>
                  <a:lnTo>
                    <a:pt x="4915801" y="0"/>
                  </a:lnTo>
                </a:path>
                <a:path extrusionOk="0" h="54610" w="4916170">
                  <a:moveTo>
                    <a:pt x="0" y="0"/>
                  </a:moveTo>
                  <a:lnTo>
                    <a:pt x="4915801" y="0"/>
                  </a:lnTo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10"/>
            <p:cNvSpPr/>
            <p:nvPr/>
          </p:nvSpPr>
          <p:spPr>
            <a:xfrm>
              <a:off x="1233716" y="2361234"/>
              <a:ext cx="3933190" cy="1809750"/>
            </a:xfrm>
            <a:custGeom>
              <a:rect b="b" l="l" r="r" t="t"/>
              <a:pathLst>
                <a:path extrusionOk="0" h="1809750" w="3933190">
                  <a:moveTo>
                    <a:pt x="655561" y="411124"/>
                  </a:moveTo>
                  <a:lnTo>
                    <a:pt x="0" y="411124"/>
                  </a:lnTo>
                  <a:lnTo>
                    <a:pt x="0" y="1809724"/>
                  </a:lnTo>
                  <a:lnTo>
                    <a:pt x="655561" y="1809724"/>
                  </a:lnTo>
                  <a:lnTo>
                    <a:pt x="655561" y="411124"/>
                  </a:lnTo>
                  <a:close/>
                </a:path>
                <a:path extrusionOk="0" h="1809750" w="3933190">
                  <a:moveTo>
                    <a:pt x="2293924" y="260642"/>
                  </a:moveTo>
                  <a:lnTo>
                    <a:pt x="1638719" y="260642"/>
                  </a:lnTo>
                  <a:lnTo>
                    <a:pt x="1638719" y="1809724"/>
                  </a:lnTo>
                  <a:lnTo>
                    <a:pt x="2293924" y="1809724"/>
                  </a:lnTo>
                  <a:lnTo>
                    <a:pt x="2293924" y="260642"/>
                  </a:lnTo>
                  <a:close/>
                </a:path>
                <a:path extrusionOk="0" h="1809750" w="3933190">
                  <a:moveTo>
                    <a:pt x="3932644" y="0"/>
                  </a:moveTo>
                  <a:lnTo>
                    <a:pt x="3277082" y="0"/>
                  </a:lnTo>
                  <a:lnTo>
                    <a:pt x="3277082" y="1809724"/>
                  </a:lnTo>
                  <a:lnTo>
                    <a:pt x="3932644" y="1809724"/>
                  </a:lnTo>
                  <a:lnTo>
                    <a:pt x="3932644" y="0"/>
                  </a:lnTo>
                  <a:close/>
                </a:path>
              </a:pathLst>
            </a:custGeom>
            <a:solidFill>
              <a:srgbClr val="3EBE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2" name="Google Shape;342;p10"/>
          <p:cNvSpPr txBox="1"/>
          <p:nvPr/>
        </p:nvSpPr>
        <p:spPr>
          <a:xfrm>
            <a:off x="1367802" y="4241850"/>
            <a:ext cx="38481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1–24h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2972930" y="4241850"/>
            <a:ext cx="451484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25–48h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4611179" y="4241850"/>
            <a:ext cx="451484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49–72h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1377162" y="2533548"/>
            <a:ext cx="3695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692.1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15767" y="2383091"/>
            <a:ext cx="3695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766.5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4654372" y="2122500"/>
            <a:ext cx="3695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895.5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8" name="Google Shape;348;p10"/>
          <p:cNvGrpSpPr/>
          <p:nvPr/>
        </p:nvGrpSpPr>
        <p:grpSpPr>
          <a:xfrm>
            <a:off x="6109563" y="1621789"/>
            <a:ext cx="5610961" cy="3096006"/>
            <a:chOff x="6109563" y="1621789"/>
            <a:chExt cx="5610961" cy="3096006"/>
          </a:xfrm>
        </p:grpSpPr>
        <p:pic>
          <p:nvPicPr>
            <p:cNvPr id="349" name="Google Shape;34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09563" y="1621789"/>
              <a:ext cx="5610961" cy="30960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10"/>
            <p:cNvSpPr/>
            <p:nvPr/>
          </p:nvSpPr>
          <p:spPr>
            <a:xfrm>
              <a:off x="6217564" y="1691639"/>
              <a:ext cx="5394960" cy="2880360"/>
            </a:xfrm>
            <a:custGeom>
              <a:rect b="b" l="l" r="r" t="t"/>
              <a:pathLst>
                <a:path extrusionOk="0" h="2880360" w="5394959">
                  <a:moveTo>
                    <a:pt x="532151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85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807284"/>
                  </a:lnTo>
                  <a:lnTo>
                    <a:pt x="597" y="2816555"/>
                  </a:lnTo>
                  <a:lnTo>
                    <a:pt x="607" y="2816710"/>
                  </a:lnTo>
                  <a:lnTo>
                    <a:pt x="21280" y="2858892"/>
                  </a:lnTo>
                  <a:lnTo>
                    <a:pt x="63442" y="2879752"/>
                  </a:lnTo>
                  <a:lnTo>
                    <a:pt x="73075" y="2880360"/>
                  </a:lnTo>
                  <a:lnTo>
                    <a:pt x="5321871" y="2880004"/>
                  </a:lnTo>
                  <a:lnTo>
                    <a:pt x="5366249" y="2864950"/>
                  </a:lnTo>
                  <a:lnTo>
                    <a:pt x="5392514" y="2826002"/>
                  </a:lnTo>
                  <a:lnTo>
                    <a:pt x="5394936" y="2807284"/>
                  </a:lnTo>
                  <a:lnTo>
                    <a:pt x="5394959" y="2806915"/>
                  </a:lnTo>
                  <a:lnTo>
                    <a:pt x="5394591" y="73075"/>
                  </a:lnTo>
                  <a:lnTo>
                    <a:pt x="5379550" y="28705"/>
                  </a:lnTo>
                  <a:lnTo>
                    <a:pt x="5340550" y="2428"/>
                  </a:lnTo>
                  <a:lnTo>
                    <a:pt x="5331149" y="607"/>
                  </a:lnTo>
                  <a:lnTo>
                    <a:pt x="5321515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1" name="Google Shape;351;p10"/>
            <p:cNvSpPr/>
            <p:nvPr/>
          </p:nvSpPr>
          <p:spPr>
            <a:xfrm>
              <a:off x="6217564" y="1691639"/>
              <a:ext cx="5394960" cy="2880360"/>
            </a:xfrm>
            <a:custGeom>
              <a:rect b="b" l="l" r="r" t="t"/>
              <a:pathLst>
                <a:path extrusionOk="0" h="2880360" w="539495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46"/>
                  </a:lnTo>
                  <a:lnTo>
                    <a:pt x="73075" y="0"/>
                  </a:lnTo>
                  <a:lnTo>
                    <a:pt x="5321515" y="0"/>
                  </a:lnTo>
                  <a:lnTo>
                    <a:pt x="5366193" y="15104"/>
                  </a:lnTo>
                  <a:lnTo>
                    <a:pt x="5392162" y="54357"/>
                  </a:lnTo>
                  <a:lnTo>
                    <a:pt x="5394591" y="73075"/>
                  </a:lnTo>
                  <a:lnTo>
                    <a:pt x="5394959" y="2806915"/>
                  </a:lnTo>
                  <a:lnTo>
                    <a:pt x="5394352" y="2816555"/>
                  </a:lnTo>
                  <a:lnTo>
                    <a:pt x="5392529" y="2825956"/>
                  </a:lnTo>
                  <a:lnTo>
                    <a:pt x="5366249" y="2864950"/>
                  </a:lnTo>
                  <a:lnTo>
                    <a:pt x="5321871" y="2880004"/>
                  </a:lnTo>
                  <a:lnTo>
                    <a:pt x="73075" y="2880360"/>
                  </a:lnTo>
                  <a:lnTo>
                    <a:pt x="28398" y="2865255"/>
                  </a:lnTo>
                  <a:lnTo>
                    <a:pt x="2428" y="2826002"/>
                  </a:lnTo>
                  <a:lnTo>
                    <a:pt x="0" y="280728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52" name="Google Shape;352;p10"/>
          <p:cNvSpPr txBox="1"/>
          <p:nvPr/>
        </p:nvSpPr>
        <p:spPr>
          <a:xfrm>
            <a:off x="6569176" y="1854263"/>
            <a:ext cx="145986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CF0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engine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3" name="Google Shape;353;p10"/>
          <p:cNvGrpSpPr/>
          <p:nvPr/>
        </p:nvGrpSpPr>
        <p:grpSpPr>
          <a:xfrm>
            <a:off x="6491884" y="2331720"/>
            <a:ext cx="4846320" cy="567055"/>
            <a:chOff x="6491884" y="2331720"/>
            <a:chExt cx="4846320" cy="567055"/>
          </a:xfrm>
        </p:grpSpPr>
        <p:sp>
          <p:nvSpPr>
            <p:cNvPr id="354" name="Google Shape;354;p10"/>
            <p:cNvSpPr/>
            <p:nvPr/>
          </p:nvSpPr>
          <p:spPr>
            <a:xfrm>
              <a:off x="6491884" y="2331720"/>
              <a:ext cx="4846320" cy="567055"/>
            </a:xfrm>
            <a:custGeom>
              <a:rect b="b" l="l" r="r" t="t"/>
              <a:pathLst>
                <a:path extrusionOk="0" h="567055" w="4846320">
                  <a:moveTo>
                    <a:pt x="47912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12279"/>
                  </a:lnTo>
                  <a:lnTo>
                    <a:pt x="452" y="519132"/>
                  </a:lnTo>
                  <a:lnTo>
                    <a:pt x="466" y="519338"/>
                  </a:lnTo>
                  <a:lnTo>
                    <a:pt x="1799" y="526140"/>
                  </a:lnTo>
                  <a:lnTo>
                    <a:pt x="1843" y="526362"/>
                  </a:lnTo>
                  <a:lnTo>
                    <a:pt x="27355" y="559803"/>
                  </a:lnTo>
                  <a:lnTo>
                    <a:pt x="48008" y="566635"/>
                  </a:lnTo>
                  <a:lnTo>
                    <a:pt x="49037" y="566635"/>
                  </a:lnTo>
                  <a:lnTo>
                    <a:pt x="54711" y="567004"/>
                  </a:lnTo>
                  <a:lnTo>
                    <a:pt x="4791595" y="566635"/>
                  </a:lnTo>
                  <a:lnTo>
                    <a:pt x="4830249" y="550710"/>
                  </a:lnTo>
                  <a:lnTo>
                    <a:pt x="4845811" y="519338"/>
                  </a:lnTo>
                  <a:lnTo>
                    <a:pt x="4845852" y="519132"/>
                  </a:lnTo>
                  <a:lnTo>
                    <a:pt x="4846296" y="512279"/>
                  </a:lnTo>
                  <a:lnTo>
                    <a:pt x="4846320" y="511924"/>
                  </a:lnTo>
                  <a:lnTo>
                    <a:pt x="4845951" y="54724"/>
                  </a:lnTo>
                  <a:lnTo>
                    <a:pt x="4830025" y="16063"/>
                  </a:lnTo>
                  <a:lnTo>
                    <a:pt x="4798448" y="466"/>
                  </a:lnTo>
                  <a:lnTo>
                    <a:pt x="4791240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5" name="Google Shape;355;p10"/>
            <p:cNvSpPr/>
            <p:nvPr/>
          </p:nvSpPr>
          <p:spPr>
            <a:xfrm>
              <a:off x="6491884" y="2331720"/>
              <a:ext cx="4846320" cy="567055"/>
            </a:xfrm>
            <a:custGeom>
              <a:rect b="b" l="l" r="r" t="t"/>
              <a:pathLst>
                <a:path extrusionOk="0" h="567055" w="484632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4791240" y="0"/>
                  </a:lnTo>
                  <a:lnTo>
                    <a:pt x="4830025" y="16063"/>
                  </a:lnTo>
                  <a:lnTo>
                    <a:pt x="4845951" y="54724"/>
                  </a:lnTo>
                  <a:lnTo>
                    <a:pt x="4846320" y="511924"/>
                  </a:lnTo>
                  <a:lnTo>
                    <a:pt x="4845852" y="519132"/>
                  </a:lnTo>
                  <a:lnTo>
                    <a:pt x="4844472" y="526140"/>
                  </a:lnTo>
                  <a:lnTo>
                    <a:pt x="4818951" y="559434"/>
                  </a:lnTo>
                  <a:lnTo>
                    <a:pt x="54711" y="567004"/>
                  </a:lnTo>
                  <a:lnTo>
                    <a:pt x="15925" y="550933"/>
                  </a:lnTo>
                  <a:lnTo>
                    <a:pt x="0" y="512279"/>
                  </a:lnTo>
                  <a:lnTo>
                    <a:pt x="0" y="54724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56" name="Google Shape;356;p10"/>
          <p:cNvSpPr txBox="1"/>
          <p:nvPr/>
        </p:nvSpPr>
        <p:spPr>
          <a:xfrm>
            <a:off x="6752056" y="2342103"/>
            <a:ext cx="3688715" cy="521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Daytime output ≥ 90% of capacity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E7A23C"/>
                </a:solidFill>
                <a:latin typeface="Calibri"/>
                <a:ea typeface="Calibri"/>
                <a:cs typeface="Calibri"/>
                <a:sym typeface="Calibri"/>
              </a:rPr>
              <a:t>Curtailment recommended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" name="Google Shape;357;p10"/>
          <p:cNvGrpSpPr/>
          <p:nvPr/>
        </p:nvGrpSpPr>
        <p:grpSpPr>
          <a:xfrm>
            <a:off x="6491884" y="3044875"/>
            <a:ext cx="4846320" cy="1280224"/>
            <a:chOff x="6491884" y="3044875"/>
            <a:chExt cx="4846320" cy="1280224"/>
          </a:xfrm>
        </p:grpSpPr>
        <p:sp>
          <p:nvSpPr>
            <p:cNvPr id="358" name="Google Shape;358;p10"/>
            <p:cNvSpPr/>
            <p:nvPr/>
          </p:nvSpPr>
          <p:spPr>
            <a:xfrm>
              <a:off x="6491884" y="3044875"/>
              <a:ext cx="4846320" cy="567055"/>
            </a:xfrm>
            <a:custGeom>
              <a:rect b="b" l="l" r="r" t="t"/>
              <a:pathLst>
                <a:path extrusionOk="0" h="567054" w="4846320">
                  <a:moveTo>
                    <a:pt x="4791240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512279"/>
                  </a:lnTo>
                  <a:lnTo>
                    <a:pt x="3994" y="532878"/>
                  </a:lnTo>
                  <a:lnTo>
                    <a:pt x="4098" y="533195"/>
                  </a:lnTo>
                  <a:lnTo>
                    <a:pt x="33757" y="562905"/>
                  </a:lnTo>
                  <a:lnTo>
                    <a:pt x="48065" y="566648"/>
                  </a:lnTo>
                  <a:lnTo>
                    <a:pt x="49212" y="566648"/>
                  </a:lnTo>
                  <a:lnTo>
                    <a:pt x="54711" y="567004"/>
                  </a:lnTo>
                  <a:lnTo>
                    <a:pt x="4791595" y="566648"/>
                  </a:lnTo>
                  <a:lnTo>
                    <a:pt x="4830249" y="550711"/>
                  </a:lnTo>
                  <a:lnTo>
                    <a:pt x="4844395" y="526368"/>
                  </a:lnTo>
                  <a:lnTo>
                    <a:pt x="4844472" y="526140"/>
                  </a:lnTo>
                  <a:lnTo>
                    <a:pt x="4845811" y="519340"/>
                  </a:lnTo>
                  <a:lnTo>
                    <a:pt x="4845852" y="519132"/>
                  </a:lnTo>
                  <a:lnTo>
                    <a:pt x="4846296" y="512279"/>
                  </a:lnTo>
                  <a:lnTo>
                    <a:pt x="4846320" y="511924"/>
                  </a:lnTo>
                  <a:lnTo>
                    <a:pt x="4845951" y="54724"/>
                  </a:lnTo>
                  <a:lnTo>
                    <a:pt x="4830025" y="16070"/>
                  </a:lnTo>
                  <a:lnTo>
                    <a:pt x="4798448" y="467"/>
                  </a:lnTo>
                  <a:lnTo>
                    <a:pt x="4791240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10"/>
            <p:cNvSpPr/>
            <p:nvPr/>
          </p:nvSpPr>
          <p:spPr>
            <a:xfrm>
              <a:off x="6491884" y="3044875"/>
              <a:ext cx="4846320" cy="567055"/>
            </a:xfrm>
            <a:custGeom>
              <a:rect b="b" l="l" r="r" t="t"/>
              <a:pathLst>
                <a:path extrusionOk="0" h="567054" w="484632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4791240" y="0"/>
                  </a:lnTo>
                  <a:lnTo>
                    <a:pt x="4830025" y="16070"/>
                  </a:lnTo>
                  <a:lnTo>
                    <a:pt x="4845951" y="54724"/>
                  </a:lnTo>
                  <a:lnTo>
                    <a:pt x="4846320" y="511924"/>
                  </a:lnTo>
                  <a:lnTo>
                    <a:pt x="4845852" y="519132"/>
                  </a:lnTo>
                  <a:lnTo>
                    <a:pt x="4844472" y="526140"/>
                  </a:lnTo>
                  <a:lnTo>
                    <a:pt x="4818951" y="559447"/>
                  </a:lnTo>
                  <a:lnTo>
                    <a:pt x="54711" y="567004"/>
                  </a:lnTo>
                  <a:lnTo>
                    <a:pt x="15925" y="550940"/>
                  </a:lnTo>
                  <a:lnTo>
                    <a:pt x="0" y="512279"/>
                  </a:lnTo>
                  <a:lnTo>
                    <a:pt x="0" y="54724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" name="Google Shape;360;p10"/>
            <p:cNvSpPr/>
            <p:nvPr/>
          </p:nvSpPr>
          <p:spPr>
            <a:xfrm>
              <a:off x="6491884" y="3758044"/>
              <a:ext cx="4846320" cy="567055"/>
            </a:xfrm>
            <a:custGeom>
              <a:rect b="b" l="l" r="r" t="t"/>
              <a:pathLst>
                <a:path extrusionOk="0" h="567054" w="4846320">
                  <a:moveTo>
                    <a:pt x="479124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3" y="21420"/>
                  </a:lnTo>
                  <a:lnTo>
                    <a:pt x="0" y="54711"/>
                  </a:lnTo>
                  <a:lnTo>
                    <a:pt x="0" y="512279"/>
                  </a:lnTo>
                  <a:lnTo>
                    <a:pt x="452" y="519127"/>
                  </a:lnTo>
                  <a:lnTo>
                    <a:pt x="466" y="519338"/>
                  </a:lnTo>
                  <a:lnTo>
                    <a:pt x="1799" y="526138"/>
                  </a:lnTo>
                  <a:lnTo>
                    <a:pt x="1843" y="526362"/>
                  </a:lnTo>
                  <a:lnTo>
                    <a:pt x="3997" y="532878"/>
                  </a:lnTo>
                  <a:lnTo>
                    <a:pt x="33757" y="562892"/>
                  </a:lnTo>
                  <a:lnTo>
                    <a:pt x="48065" y="566635"/>
                  </a:lnTo>
                  <a:lnTo>
                    <a:pt x="49212" y="566635"/>
                  </a:lnTo>
                  <a:lnTo>
                    <a:pt x="54711" y="566991"/>
                  </a:lnTo>
                  <a:lnTo>
                    <a:pt x="4791595" y="566635"/>
                  </a:lnTo>
                  <a:lnTo>
                    <a:pt x="4830249" y="550710"/>
                  </a:lnTo>
                  <a:lnTo>
                    <a:pt x="4844397" y="526362"/>
                  </a:lnTo>
                  <a:lnTo>
                    <a:pt x="4844472" y="526138"/>
                  </a:lnTo>
                  <a:lnTo>
                    <a:pt x="4845810" y="519338"/>
                  </a:lnTo>
                  <a:lnTo>
                    <a:pt x="4845852" y="519127"/>
                  </a:lnTo>
                  <a:lnTo>
                    <a:pt x="4846296" y="512279"/>
                  </a:lnTo>
                  <a:lnTo>
                    <a:pt x="4846320" y="511911"/>
                  </a:lnTo>
                  <a:lnTo>
                    <a:pt x="4845951" y="54711"/>
                  </a:lnTo>
                  <a:lnTo>
                    <a:pt x="4830025" y="16059"/>
                  </a:lnTo>
                  <a:lnTo>
                    <a:pt x="4798448" y="466"/>
                  </a:lnTo>
                  <a:lnTo>
                    <a:pt x="4791240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1" name="Google Shape;361;p10"/>
            <p:cNvSpPr/>
            <p:nvPr/>
          </p:nvSpPr>
          <p:spPr>
            <a:xfrm>
              <a:off x="6491884" y="3758044"/>
              <a:ext cx="4846320" cy="567055"/>
            </a:xfrm>
            <a:custGeom>
              <a:rect b="b" l="l" r="r" t="t"/>
              <a:pathLst>
                <a:path extrusionOk="0" h="567054" w="484632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4791240" y="0"/>
                  </a:lnTo>
                  <a:lnTo>
                    <a:pt x="4830025" y="16059"/>
                  </a:lnTo>
                  <a:lnTo>
                    <a:pt x="4845951" y="54711"/>
                  </a:lnTo>
                  <a:lnTo>
                    <a:pt x="4846320" y="511911"/>
                  </a:lnTo>
                  <a:lnTo>
                    <a:pt x="4845852" y="519127"/>
                  </a:lnTo>
                  <a:lnTo>
                    <a:pt x="4844472" y="526138"/>
                  </a:lnTo>
                  <a:lnTo>
                    <a:pt x="4818951" y="559435"/>
                  </a:lnTo>
                  <a:lnTo>
                    <a:pt x="54711" y="566991"/>
                  </a:lnTo>
                  <a:lnTo>
                    <a:pt x="15925" y="550932"/>
                  </a:lnTo>
                  <a:lnTo>
                    <a:pt x="0" y="512279"/>
                  </a:lnTo>
                  <a:lnTo>
                    <a:pt x="0" y="54711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62" name="Google Shape;362;p10"/>
          <p:cNvSpPr txBox="1"/>
          <p:nvPr/>
        </p:nvSpPr>
        <p:spPr>
          <a:xfrm>
            <a:off x="6733246" y="3017020"/>
            <a:ext cx="3382544" cy="1283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Daytime output ≤ 10% of capacity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Backup dispatch recommended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Otherwise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3" name="Google Shape;363;p10"/>
          <p:cNvGrpSpPr/>
          <p:nvPr/>
        </p:nvGrpSpPr>
        <p:grpSpPr>
          <a:xfrm>
            <a:off x="394563" y="4685029"/>
            <a:ext cx="11401920" cy="1450086"/>
            <a:chOff x="394563" y="4685029"/>
            <a:chExt cx="11401920" cy="1450086"/>
          </a:xfrm>
        </p:grpSpPr>
        <p:pic>
          <p:nvPicPr>
            <p:cNvPr id="364" name="Google Shape;36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4563" y="4685029"/>
              <a:ext cx="11401920" cy="14500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10"/>
            <p:cNvSpPr/>
            <p:nvPr/>
          </p:nvSpPr>
          <p:spPr>
            <a:xfrm>
              <a:off x="502564" y="4754879"/>
              <a:ext cx="11186160" cy="1234440"/>
            </a:xfrm>
            <a:custGeom>
              <a:rect b="b" l="l" r="r" t="t"/>
              <a:pathLst>
                <a:path extrusionOk="0" h="1234439" w="11186160">
                  <a:moveTo>
                    <a:pt x="11112474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161364"/>
                  </a:lnTo>
                  <a:lnTo>
                    <a:pt x="594" y="1170635"/>
                  </a:lnTo>
                  <a:lnTo>
                    <a:pt x="607" y="1170840"/>
                  </a:lnTo>
                  <a:lnTo>
                    <a:pt x="2394" y="1180036"/>
                  </a:lnTo>
                  <a:lnTo>
                    <a:pt x="2428" y="1180215"/>
                  </a:lnTo>
                  <a:lnTo>
                    <a:pt x="5412" y="1189099"/>
                  </a:lnTo>
                  <a:lnTo>
                    <a:pt x="36360" y="1224724"/>
                  </a:lnTo>
                  <a:lnTo>
                    <a:pt x="73075" y="1234440"/>
                  </a:lnTo>
                  <a:lnTo>
                    <a:pt x="11112830" y="1234084"/>
                  </a:lnTo>
                  <a:lnTo>
                    <a:pt x="11157207" y="1218980"/>
                  </a:lnTo>
                  <a:lnTo>
                    <a:pt x="11180371" y="1189255"/>
                  </a:lnTo>
                  <a:lnTo>
                    <a:pt x="11180448" y="1189099"/>
                  </a:lnTo>
                  <a:lnTo>
                    <a:pt x="11185895" y="1161364"/>
                  </a:lnTo>
                  <a:lnTo>
                    <a:pt x="11185918" y="1160995"/>
                  </a:lnTo>
                  <a:lnTo>
                    <a:pt x="11185550" y="73075"/>
                  </a:lnTo>
                  <a:lnTo>
                    <a:pt x="11170459" y="28705"/>
                  </a:lnTo>
                  <a:lnTo>
                    <a:pt x="11131513" y="2428"/>
                  </a:lnTo>
                  <a:lnTo>
                    <a:pt x="11122113" y="607"/>
                  </a:lnTo>
                  <a:lnTo>
                    <a:pt x="11112474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10"/>
            <p:cNvSpPr/>
            <p:nvPr/>
          </p:nvSpPr>
          <p:spPr>
            <a:xfrm>
              <a:off x="502564" y="4754879"/>
              <a:ext cx="11186160" cy="1234440"/>
            </a:xfrm>
            <a:custGeom>
              <a:rect b="b" l="l" r="r" t="t"/>
              <a:pathLst>
                <a:path extrusionOk="0" h="1234439" w="111861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1112474" y="0"/>
                  </a:lnTo>
                  <a:lnTo>
                    <a:pt x="11157002" y="15104"/>
                  </a:lnTo>
                  <a:lnTo>
                    <a:pt x="11183121" y="54224"/>
                  </a:lnTo>
                  <a:lnTo>
                    <a:pt x="11185550" y="73075"/>
                  </a:lnTo>
                  <a:lnTo>
                    <a:pt x="11185918" y="1160995"/>
                  </a:lnTo>
                  <a:lnTo>
                    <a:pt x="11185311" y="1170635"/>
                  </a:lnTo>
                  <a:lnTo>
                    <a:pt x="11183488" y="1180036"/>
                  </a:lnTo>
                  <a:lnTo>
                    <a:pt x="11157207" y="1218980"/>
                  </a:lnTo>
                  <a:lnTo>
                    <a:pt x="11112830" y="1234084"/>
                  </a:lnTo>
                  <a:lnTo>
                    <a:pt x="73075" y="1234440"/>
                  </a:lnTo>
                  <a:lnTo>
                    <a:pt x="28548" y="1219335"/>
                  </a:lnTo>
                  <a:lnTo>
                    <a:pt x="2428" y="1180215"/>
                  </a:lnTo>
                  <a:lnTo>
                    <a:pt x="0" y="116136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67" name="Google Shape;367;p10"/>
          <p:cNvSpPr txBox="1"/>
          <p:nvPr/>
        </p:nvSpPr>
        <p:spPr>
          <a:xfrm>
            <a:off x="854176" y="5153375"/>
            <a:ext cx="10332085" cy="545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Capacity thresholds are a practical proxy - not a real grid-market or demand signal. The interval is calibrated on validation residuals only, never on the reported test window.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 txBox="1"/>
          <p:nvPr/>
        </p:nvSpPr>
        <p:spPr>
          <a:xfrm>
            <a:off x="11594782" y="6500390"/>
            <a:ext cx="15430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73" name="Google Shape;373;p11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From access request to an operational forecast</a:t>
            </a:r>
            <a:endParaRPr/>
          </a:p>
        </p:txBody>
      </p:sp>
      <p:grpSp>
        <p:nvGrpSpPr>
          <p:cNvPr id="374" name="Google Shape;374;p11"/>
          <p:cNvGrpSpPr/>
          <p:nvPr/>
        </p:nvGrpSpPr>
        <p:grpSpPr>
          <a:xfrm>
            <a:off x="508864" y="363372"/>
            <a:ext cx="6431280" cy="274320"/>
            <a:chOff x="502564" y="383755"/>
            <a:chExt cx="6431280" cy="274320"/>
          </a:xfrm>
        </p:grpSpPr>
        <p:sp>
          <p:nvSpPr>
            <p:cNvPr id="375" name="Google Shape;375;p11"/>
            <p:cNvSpPr/>
            <p:nvPr/>
          </p:nvSpPr>
          <p:spPr>
            <a:xfrm>
              <a:off x="502564" y="383755"/>
              <a:ext cx="6431280" cy="274320"/>
            </a:xfrm>
            <a:custGeom>
              <a:rect b="b" l="l" r="r" t="t"/>
              <a:pathLst>
                <a:path extrusionOk="0" h="274320" w="6431280">
                  <a:moveTo>
                    <a:pt x="6357594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201244"/>
                  </a:lnTo>
                  <a:lnTo>
                    <a:pt x="594" y="210520"/>
                  </a:lnTo>
                  <a:lnTo>
                    <a:pt x="607" y="210722"/>
                  </a:lnTo>
                  <a:lnTo>
                    <a:pt x="2393" y="219917"/>
                  </a:lnTo>
                  <a:lnTo>
                    <a:pt x="2428" y="220100"/>
                  </a:lnTo>
                  <a:lnTo>
                    <a:pt x="5410" y="228979"/>
                  </a:lnTo>
                  <a:lnTo>
                    <a:pt x="5464" y="229140"/>
                  </a:lnTo>
                  <a:lnTo>
                    <a:pt x="9715" y="237604"/>
                  </a:lnTo>
                  <a:lnTo>
                    <a:pt x="44979" y="268855"/>
                  </a:lnTo>
                  <a:lnTo>
                    <a:pt x="73075" y="274320"/>
                  </a:lnTo>
                  <a:lnTo>
                    <a:pt x="6357950" y="273964"/>
                  </a:lnTo>
                  <a:lnTo>
                    <a:pt x="6402327" y="258865"/>
                  </a:lnTo>
                  <a:lnTo>
                    <a:pt x="6428546" y="220100"/>
                  </a:lnTo>
                  <a:lnTo>
                    <a:pt x="6428608" y="219917"/>
                  </a:lnTo>
                  <a:lnTo>
                    <a:pt x="6430392" y="210722"/>
                  </a:lnTo>
                  <a:lnTo>
                    <a:pt x="6430431" y="210520"/>
                  </a:lnTo>
                  <a:lnTo>
                    <a:pt x="6431016" y="201244"/>
                  </a:lnTo>
                  <a:lnTo>
                    <a:pt x="6431038" y="200888"/>
                  </a:lnTo>
                  <a:lnTo>
                    <a:pt x="6430670" y="73088"/>
                  </a:lnTo>
                  <a:lnTo>
                    <a:pt x="6415579" y="28710"/>
                  </a:lnTo>
                  <a:lnTo>
                    <a:pt x="6376633" y="2430"/>
                  </a:lnTo>
                  <a:lnTo>
                    <a:pt x="6367233" y="607"/>
                  </a:lnTo>
                  <a:lnTo>
                    <a:pt x="6357594" y="0"/>
                  </a:lnTo>
                  <a:close/>
                </a:path>
              </a:pathLst>
            </a:custGeom>
            <a:solidFill>
              <a:srgbClr val="39291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11"/>
            <p:cNvSpPr/>
            <p:nvPr/>
          </p:nvSpPr>
          <p:spPr>
            <a:xfrm>
              <a:off x="502564" y="383755"/>
              <a:ext cx="6431280" cy="274320"/>
            </a:xfrm>
            <a:custGeom>
              <a:rect b="b" l="l" r="r" t="t"/>
              <a:pathLst>
                <a:path extrusionOk="0" h="274320" w="643128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6357594" y="0"/>
                  </a:lnTo>
                  <a:lnTo>
                    <a:pt x="6402122" y="15109"/>
                  </a:lnTo>
                  <a:lnTo>
                    <a:pt x="6428241" y="54232"/>
                  </a:lnTo>
                  <a:lnTo>
                    <a:pt x="6430670" y="73088"/>
                  </a:lnTo>
                  <a:lnTo>
                    <a:pt x="6431038" y="200888"/>
                  </a:lnTo>
                  <a:lnTo>
                    <a:pt x="6430431" y="210520"/>
                  </a:lnTo>
                  <a:lnTo>
                    <a:pt x="6428608" y="219917"/>
                  </a:lnTo>
                  <a:lnTo>
                    <a:pt x="6402327" y="258865"/>
                  </a:lnTo>
                  <a:lnTo>
                    <a:pt x="6357950" y="273964"/>
                  </a:lnTo>
                  <a:lnTo>
                    <a:pt x="73075" y="274320"/>
                  </a:lnTo>
                  <a:lnTo>
                    <a:pt x="28548" y="259223"/>
                  </a:lnTo>
                  <a:lnTo>
                    <a:pt x="2428" y="220100"/>
                  </a:lnTo>
                  <a:lnTo>
                    <a:pt x="0" y="201244"/>
                  </a:lnTo>
                  <a:lnTo>
                    <a:pt x="0" y="73088"/>
                  </a:lnTo>
                  <a:close/>
                </a:path>
              </a:pathLst>
            </a:custGeom>
            <a:noFill/>
            <a:ln cap="flat" cmpd="sng" w="12575">
              <a:solidFill>
                <a:srgbClr val="E7A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77" name="Google Shape;377;p11"/>
          <p:cNvSpPr txBox="1"/>
          <p:nvPr/>
        </p:nvSpPr>
        <p:spPr>
          <a:xfrm>
            <a:off x="618273" y="406265"/>
            <a:ext cx="4892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pt-BR" sz="180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ILLUSTRATIVE JOURNEY</a:t>
            </a:r>
            <a:endParaRPr baseline="30000" sz="18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8" name="Google Shape;378;p11"/>
          <p:cNvGrpSpPr/>
          <p:nvPr/>
        </p:nvGrpSpPr>
        <p:grpSpPr>
          <a:xfrm>
            <a:off x="394563" y="1713229"/>
            <a:ext cx="3873246" cy="1815846"/>
            <a:chOff x="394563" y="1713229"/>
            <a:chExt cx="3873246" cy="1815846"/>
          </a:xfrm>
        </p:grpSpPr>
        <p:pic>
          <p:nvPicPr>
            <p:cNvPr id="379" name="Google Shape;37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4563" y="1713229"/>
              <a:ext cx="3873246" cy="18158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11"/>
            <p:cNvSpPr/>
            <p:nvPr/>
          </p:nvSpPr>
          <p:spPr>
            <a:xfrm>
              <a:off x="502564" y="1783079"/>
              <a:ext cx="3657600" cy="1600200"/>
            </a:xfrm>
            <a:custGeom>
              <a:rect b="b" l="l" r="r" t="t"/>
              <a:pathLst>
                <a:path extrusionOk="0" h="1600200" w="365760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527124"/>
                  </a:lnTo>
                  <a:lnTo>
                    <a:pt x="594" y="1536395"/>
                  </a:lnTo>
                  <a:lnTo>
                    <a:pt x="607" y="1536600"/>
                  </a:lnTo>
                  <a:lnTo>
                    <a:pt x="2394" y="1545796"/>
                  </a:lnTo>
                  <a:lnTo>
                    <a:pt x="2428" y="1545975"/>
                  </a:lnTo>
                  <a:lnTo>
                    <a:pt x="5412" y="1554859"/>
                  </a:lnTo>
                  <a:lnTo>
                    <a:pt x="5464" y="1555015"/>
                  </a:lnTo>
                  <a:lnTo>
                    <a:pt x="9715" y="1563484"/>
                  </a:lnTo>
                  <a:lnTo>
                    <a:pt x="44979" y="1594735"/>
                  </a:lnTo>
                  <a:lnTo>
                    <a:pt x="73075" y="1600200"/>
                  </a:lnTo>
                  <a:lnTo>
                    <a:pt x="3584511" y="1599844"/>
                  </a:lnTo>
                  <a:lnTo>
                    <a:pt x="3628889" y="1584740"/>
                  </a:lnTo>
                  <a:lnTo>
                    <a:pt x="3655109" y="1545975"/>
                  </a:lnTo>
                  <a:lnTo>
                    <a:pt x="3655169" y="1545796"/>
                  </a:lnTo>
                  <a:lnTo>
                    <a:pt x="3656952" y="1536600"/>
                  </a:lnTo>
                  <a:lnTo>
                    <a:pt x="3656992" y="1536395"/>
                  </a:lnTo>
                  <a:lnTo>
                    <a:pt x="3657576" y="1527124"/>
                  </a:lnTo>
                  <a:lnTo>
                    <a:pt x="3657600" y="1526755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11"/>
            <p:cNvSpPr/>
            <p:nvPr/>
          </p:nvSpPr>
          <p:spPr>
            <a:xfrm>
              <a:off x="502564" y="1783079"/>
              <a:ext cx="3657600" cy="1600200"/>
            </a:xfrm>
            <a:custGeom>
              <a:rect b="b" l="l" r="r" t="t"/>
              <a:pathLst>
                <a:path extrusionOk="0" h="1600200" w="36576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600" y="1526755"/>
                  </a:lnTo>
                  <a:lnTo>
                    <a:pt x="3656992" y="1536395"/>
                  </a:lnTo>
                  <a:lnTo>
                    <a:pt x="3655169" y="1545796"/>
                  </a:lnTo>
                  <a:lnTo>
                    <a:pt x="3628889" y="1584740"/>
                  </a:lnTo>
                  <a:lnTo>
                    <a:pt x="3584511" y="1599844"/>
                  </a:lnTo>
                  <a:lnTo>
                    <a:pt x="73075" y="1600200"/>
                  </a:lnTo>
                  <a:lnTo>
                    <a:pt x="28548" y="1585095"/>
                  </a:lnTo>
                  <a:lnTo>
                    <a:pt x="2428" y="1545975"/>
                  </a:lnTo>
                  <a:lnTo>
                    <a:pt x="0" y="152712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11"/>
            <p:cNvSpPr/>
            <p:nvPr/>
          </p:nvSpPr>
          <p:spPr>
            <a:xfrm>
              <a:off x="731164" y="1983955"/>
              <a:ext cx="365760" cy="365760"/>
            </a:xfrm>
            <a:custGeom>
              <a:rect b="b" l="l" r="r" t="t"/>
              <a:pathLst>
                <a:path extrusionOk="0" h="365760" w="365759">
                  <a:moveTo>
                    <a:pt x="182879" y="0"/>
                  </a:moveTo>
                  <a:lnTo>
                    <a:pt x="135535" y="6165"/>
                  </a:lnTo>
                  <a:lnTo>
                    <a:pt x="91440" y="24485"/>
                  </a:lnTo>
                  <a:lnTo>
                    <a:pt x="53636" y="53643"/>
                  </a:lnTo>
                  <a:lnTo>
                    <a:pt x="24472" y="91439"/>
                  </a:lnTo>
                  <a:lnTo>
                    <a:pt x="6164" y="135540"/>
                  </a:lnTo>
                  <a:lnTo>
                    <a:pt x="0" y="182880"/>
                  </a:lnTo>
                  <a:lnTo>
                    <a:pt x="1546" y="206788"/>
                  </a:lnTo>
                  <a:lnTo>
                    <a:pt x="13817" y="252847"/>
                  </a:lnTo>
                  <a:lnTo>
                    <a:pt x="37874" y="294200"/>
                  </a:lnTo>
                  <a:lnTo>
                    <a:pt x="71559" y="327885"/>
                  </a:lnTo>
                  <a:lnTo>
                    <a:pt x="112912" y="351942"/>
                  </a:lnTo>
                  <a:lnTo>
                    <a:pt x="158971" y="364213"/>
                  </a:lnTo>
                  <a:lnTo>
                    <a:pt x="182879" y="365760"/>
                  </a:lnTo>
                  <a:lnTo>
                    <a:pt x="206781" y="364213"/>
                  </a:lnTo>
                  <a:lnTo>
                    <a:pt x="252840" y="351942"/>
                  </a:lnTo>
                  <a:lnTo>
                    <a:pt x="294195" y="327885"/>
                  </a:lnTo>
                  <a:lnTo>
                    <a:pt x="327878" y="294200"/>
                  </a:lnTo>
                  <a:lnTo>
                    <a:pt x="351936" y="252847"/>
                  </a:lnTo>
                  <a:lnTo>
                    <a:pt x="364212" y="206788"/>
                  </a:lnTo>
                  <a:lnTo>
                    <a:pt x="365759" y="182880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78" y="71564"/>
                  </a:lnTo>
                  <a:lnTo>
                    <a:pt x="294195" y="37881"/>
                  </a:lnTo>
                  <a:lnTo>
                    <a:pt x="252840" y="13823"/>
                  </a:lnTo>
                  <a:lnTo>
                    <a:pt x="206781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11"/>
            <p:cNvSpPr/>
            <p:nvPr/>
          </p:nvSpPr>
          <p:spPr>
            <a:xfrm>
              <a:off x="731164" y="1983955"/>
              <a:ext cx="365760" cy="365760"/>
            </a:xfrm>
            <a:custGeom>
              <a:rect b="b" l="l" r="r" t="t"/>
              <a:pathLst>
                <a:path extrusionOk="0" h="365760" w="365759">
                  <a:moveTo>
                    <a:pt x="0" y="182880"/>
                  </a:moveTo>
                  <a:lnTo>
                    <a:pt x="1546" y="158973"/>
                  </a:lnTo>
                  <a:lnTo>
                    <a:pt x="6164" y="135540"/>
                  </a:lnTo>
                  <a:lnTo>
                    <a:pt x="24472" y="91439"/>
                  </a:lnTo>
                  <a:lnTo>
                    <a:pt x="53636" y="53643"/>
                  </a:lnTo>
                  <a:lnTo>
                    <a:pt x="91440" y="24485"/>
                  </a:lnTo>
                  <a:lnTo>
                    <a:pt x="135535" y="6165"/>
                  </a:lnTo>
                  <a:lnTo>
                    <a:pt x="182879" y="0"/>
                  </a:lnTo>
                  <a:lnTo>
                    <a:pt x="230214" y="6165"/>
                  </a:lnTo>
                  <a:lnTo>
                    <a:pt x="274319" y="24485"/>
                  </a:lnTo>
                  <a:lnTo>
                    <a:pt x="312116" y="53643"/>
                  </a:lnTo>
                  <a:lnTo>
                    <a:pt x="341274" y="91439"/>
                  </a:lnTo>
                  <a:lnTo>
                    <a:pt x="359594" y="135540"/>
                  </a:lnTo>
                  <a:lnTo>
                    <a:pt x="365759" y="182880"/>
                  </a:lnTo>
                  <a:lnTo>
                    <a:pt x="364212" y="206788"/>
                  </a:lnTo>
                  <a:lnTo>
                    <a:pt x="359594" y="230224"/>
                  </a:lnTo>
                  <a:lnTo>
                    <a:pt x="341274" y="274320"/>
                  </a:lnTo>
                  <a:lnTo>
                    <a:pt x="312116" y="312123"/>
                  </a:lnTo>
                  <a:lnTo>
                    <a:pt x="274319" y="341287"/>
                  </a:lnTo>
                  <a:lnTo>
                    <a:pt x="230214" y="359595"/>
                  </a:lnTo>
                  <a:lnTo>
                    <a:pt x="182879" y="365760"/>
                  </a:lnTo>
                  <a:lnTo>
                    <a:pt x="135535" y="359595"/>
                  </a:lnTo>
                  <a:lnTo>
                    <a:pt x="91440" y="341287"/>
                  </a:lnTo>
                  <a:lnTo>
                    <a:pt x="53636" y="312123"/>
                  </a:lnTo>
                  <a:lnTo>
                    <a:pt x="24472" y="274320"/>
                  </a:lnTo>
                  <a:lnTo>
                    <a:pt x="6164" y="230224"/>
                  </a:lnTo>
                  <a:lnTo>
                    <a:pt x="1546" y="206788"/>
                  </a:lnTo>
                  <a:lnTo>
                    <a:pt x="0" y="182880"/>
                  </a:lnTo>
                  <a:close/>
                </a:path>
              </a:pathLst>
            </a:custGeom>
            <a:noFill/>
            <a:ln cap="flat" cmpd="sng" w="190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84" name="Google Shape;384;p11"/>
          <p:cNvSpPr txBox="1"/>
          <p:nvPr/>
        </p:nvSpPr>
        <p:spPr>
          <a:xfrm>
            <a:off x="860666" y="2052256"/>
            <a:ext cx="158369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pt-BR" sz="21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	</a:t>
            </a:r>
            <a:r>
              <a:rPr b="1" lang="pt-BR" sz="14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Request access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 txBox="1"/>
          <p:nvPr/>
        </p:nvSpPr>
        <p:spPr>
          <a:xfrm>
            <a:off x="808456" y="2737700"/>
            <a:ext cx="2741295" cy="379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0" lvl="0" marL="1270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Public GreenCast screen → employee submits name, username, password, 6-digit ID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6" name="Google Shape;386;p11"/>
          <p:cNvGrpSpPr/>
          <p:nvPr/>
        </p:nvGrpSpPr>
        <p:grpSpPr>
          <a:xfrm>
            <a:off x="4189323" y="1713229"/>
            <a:ext cx="3873245" cy="1815846"/>
            <a:chOff x="4189323" y="1713229"/>
            <a:chExt cx="3873245" cy="1815846"/>
          </a:xfrm>
        </p:grpSpPr>
        <p:pic>
          <p:nvPicPr>
            <p:cNvPr id="387" name="Google Shape;38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89323" y="1713229"/>
              <a:ext cx="3873245" cy="18158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11"/>
            <p:cNvSpPr/>
            <p:nvPr/>
          </p:nvSpPr>
          <p:spPr>
            <a:xfrm>
              <a:off x="4297324" y="1783079"/>
              <a:ext cx="3657600" cy="1600200"/>
            </a:xfrm>
            <a:custGeom>
              <a:rect b="b" l="l" r="r" t="t"/>
              <a:pathLst>
                <a:path extrusionOk="0" h="1600200" w="365760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527124"/>
                  </a:lnTo>
                  <a:lnTo>
                    <a:pt x="594" y="1536395"/>
                  </a:lnTo>
                  <a:lnTo>
                    <a:pt x="607" y="1536600"/>
                  </a:lnTo>
                  <a:lnTo>
                    <a:pt x="2394" y="1545796"/>
                  </a:lnTo>
                  <a:lnTo>
                    <a:pt x="2428" y="1545975"/>
                  </a:lnTo>
                  <a:lnTo>
                    <a:pt x="28548" y="1585095"/>
                  </a:lnTo>
                  <a:lnTo>
                    <a:pt x="73075" y="1600200"/>
                  </a:lnTo>
                  <a:lnTo>
                    <a:pt x="3584511" y="1599844"/>
                  </a:lnTo>
                  <a:lnTo>
                    <a:pt x="3628889" y="1584740"/>
                  </a:lnTo>
                  <a:lnTo>
                    <a:pt x="3652052" y="1555015"/>
                  </a:lnTo>
                  <a:lnTo>
                    <a:pt x="3652129" y="1554859"/>
                  </a:lnTo>
                  <a:lnTo>
                    <a:pt x="3657576" y="1527124"/>
                  </a:lnTo>
                  <a:lnTo>
                    <a:pt x="3657599" y="1526755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11"/>
            <p:cNvSpPr/>
            <p:nvPr/>
          </p:nvSpPr>
          <p:spPr>
            <a:xfrm>
              <a:off x="4297324" y="1783079"/>
              <a:ext cx="3657600" cy="1600200"/>
            </a:xfrm>
            <a:custGeom>
              <a:rect b="b" l="l" r="r" t="t"/>
              <a:pathLst>
                <a:path extrusionOk="0" h="1600200" w="36576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599" y="1526755"/>
                  </a:lnTo>
                  <a:lnTo>
                    <a:pt x="3656992" y="1536395"/>
                  </a:lnTo>
                  <a:lnTo>
                    <a:pt x="3655169" y="1545796"/>
                  </a:lnTo>
                  <a:lnTo>
                    <a:pt x="3628889" y="1584740"/>
                  </a:lnTo>
                  <a:lnTo>
                    <a:pt x="3584511" y="1599844"/>
                  </a:lnTo>
                  <a:lnTo>
                    <a:pt x="73075" y="1600200"/>
                  </a:lnTo>
                  <a:lnTo>
                    <a:pt x="28548" y="1585095"/>
                  </a:lnTo>
                  <a:lnTo>
                    <a:pt x="2428" y="1545975"/>
                  </a:lnTo>
                  <a:lnTo>
                    <a:pt x="0" y="152712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11"/>
            <p:cNvSpPr/>
            <p:nvPr/>
          </p:nvSpPr>
          <p:spPr>
            <a:xfrm>
              <a:off x="4525924" y="1983955"/>
              <a:ext cx="365760" cy="365760"/>
            </a:xfrm>
            <a:custGeom>
              <a:rect b="b" l="l" r="r" t="t"/>
              <a:pathLst>
                <a:path extrusionOk="0" h="365760" w="365760">
                  <a:moveTo>
                    <a:pt x="182879" y="0"/>
                  </a:moveTo>
                  <a:lnTo>
                    <a:pt x="135535" y="6165"/>
                  </a:lnTo>
                  <a:lnTo>
                    <a:pt x="91439" y="24485"/>
                  </a:lnTo>
                  <a:lnTo>
                    <a:pt x="53636" y="53643"/>
                  </a:lnTo>
                  <a:lnTo>
                    <a:pt x="24472" y="91439"/>
                  </a:lnTo>
                  <a:lnTo>
                    <a:pt x="6164" y="135540"/>
                  </a:lnTo>
                  <a:lnTo>
                    <a:pt x="0" y="182880"/>
                  </a:lnTo>
                  <a:lnTo>
                    <a:pt x="1546" y="206788"/>
                  </a:lnTo>
                  <a:lnTo>
                    <a:pt x="13817" y="252847"/>
                  </a:lnTo>
                  <a:lnTo>
                    <a:pt x="37874" y="294200"/>
                  </a:lnTo>
                  <a:lnTo>
                    <a:pt x="71559" y="327885"/>
                  </a:lnTo>
                  <a:lnTo>
                    <a:pt x="112912" y="351942"/>
                  </a:lnTo>
                  <a:lnTo>
                    <a:pt x="158971" y="364213"/>
                  </a:lnTo>
                  <a:lnTo>
                    <a:pt x="182879" y="365760"/>
                  </a:lnTo>
                  <a:lnTo>
                    <a:pt x="206781" y="364213"/>
                  </a:lnTo>
                  <a:lnTo>
                    <a:pt x="252840" y="351942"/>
                  </a:lnTo>
                  <a:lnTo>
                    <a:pt x="294195" y="327885"/>
                  </a:lnTo>
                  <a:lnTo>
                    <a:pt x="327878" y="294200"/>
                  </a:lnTo>
                  <a:lnTo>
                    <a:pt x="351936" y="252847"/>
                  </a:lnTo>
                  <a:lnTo>
                    <a:pt x="364212" y="206788"/>
                  </a:lnTo>
                  <a:lnTo>
                    <a:pt x="365760" y="182880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78" y="71564"/>
                  </a:lnTo>
                  <a:lnTo>
                    <a:pt x="294195" y="37881"/>
                  </a:lnTo>
                  <a:lnTo>
                    <a:pt x="252840" y="13823"/>
                  </a:lnTo>
                  <a:lnTo>
                    <a:pt x="206781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11"/>
            <p:cNvSpPr/>
            <p:nvPr/>
          </p:nvSpPr>
          <p:spPr>
            <a:xfrm>
              <a:off x="4525924" y="1983955"/>
              <a:ext cx="365760" cy="365760"/>
            </a:xfrm>
            <a:custGeom>
              <a:rect b="b" l="l" r="r" t="t"/>
              <a:pathLst>
                <a:path extrusionOk="0" h="365760" w="365760">
                  <a:moveTo>
                    <a:pt x="0" y="182880"/>
                  </a:moveTo>
                  <a:lnTo>
                    <a:pt x="1546" y="158973"/>
                  </a:lnTo>
                  <a:lnTo>
                    <a:pt x="6164" y="135540"/>
                  </a:lnTo>
                  <a:lnTo>
                    <a:pt x="24472" y="91439"/>
                  </a:lnTo>
                  <a:lnTo>
                    <a:pt x="53636" y="53643"/>
                  </a:lnTo>
                  <a:lnTo>
                    <a:pt x="91439" y="24485"/>
                  </a:lnTo>
                  <a:lnTo>
                    <a:pt x="135535" y="6165"/>
                  </a:lnTo>
                  <a:lnTo>
                    <a:pt x="182879" y="0"/>
                  </a:lnTo>
                  <a:lnTo>
                    <a:pt x="230214" y="6165"/>
                  </a:lnTo>
                  <a:lnTo>
                    <a:pt x="274319" y="24485"/>
                  </a:lnTo>
                  <a:lnTo>
                    <a:pt x="312116" y="53643"/>
                  </a:lnTo>
                  <a:lnTo>
                    <a:pt x="341274" y="91439"/>
                  </a:lnTo>
                  <a:lnTo>
                    <a:pt x="359594" y="135540"/>
                  </a:lnTo>
                  <a:lnTo>
                    <a:pt x="365760" y="182880"/>
                  </a:lnTo>
                  <a:lnTo>
                    <a:pt x="364212" y="206788"/>
                  </a:lnTo>
                  <a:lnTo>
                    <a:pt x="359594" y="230224"/>
                  </a:lnTo>
                  <a:lnTo>
                    <a:pt x="341274" y="274320"/>
                  </a:lnTo>
                  <a:lnTo>
                    <a:pt x="312116" y="312123"/>
                  </a:lnTo>
                  <a:lnTo>
                    <a:pt x="274319" y="341287"/>
                  </a:lnTo>
                  <a:lnTo>
                    <a:pt x="230214" y="359595"/>
                  </a:lnTo>
                  <a:lnTo>
                    <a:pt x="182879" y="365760"/>
                  </a:lnTo>
                  <a:lnTo>
                    <a:pt x="135535" y="359595"/>
                  </a:lnTo>
                  <a:lnTo>
                    <a:pt x="91439" y="341287"/>
                  </a:lnTo>
                  <a:lnTo>
                    <a:pt x="53636" y="312123"/>
                  </a:lnTo>
                  <a:lnTo>
                    <a:pt x="24472" y="274320"/>
                  </a:lnTo>
                  <a:lnTo>
                    <a:pt x="6164" y="230224"/>
                  </a:lnTo>
                  <a:lnTo>
                    <a:pt x="1546" y="206788"/>
                  </a:lnTo>
                  <a:lnTo>
                    <a:pt x="0" y="182880"/>
                  </a:lnTo>
                  <a:close/>
                </a:path>
              </a:pathLst>
            </a:custGeom>
            <a:noFill/>
            <a:ln cap="flat" cmpd="sng" w="190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92" name="Google Shape;392;p11"/>
          <p:cNvSpPr txBox="1"/>
          <p:nvPr/>
        </p:nvSpPr>
        <p:spPr>
          <a:xfrm>
            <a:off x="4650740" y="2052256"/>
            <a:ext cx="165798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pt-BR" sz="21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	</a:t>
            </a:r>
            <a:r>
              <a:rPr b="1" lang="pt-BR" sz="14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Admin approval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 txBox="1"/>
          <p:nvPr/>
        </p:nvSpPr>
        <p:spPr>
          <a:xfrm>
            <a:off x="4603216" y="2737700"/>
            <a:ext cx="2966720" cy="379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0" lvl="0" marL="1270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Admin reviews the pending request and approves or rejects it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4" name="Google Shape;394;p11"/>
          <p:cNvGrpSpPr/>
          <p:nvPr/>
        </p:nvGrpSpPr>
        <p:grpSpPr>
          <a:xfrm>
            <a:off x="7984083" y="1713229"/>
            <a:ext cx="3873601" cy="1815846"/>
            <a:chOff x="7984083" y="1713229"/>
            <a:chExt cx="3873601" cy="1815846"/>
          </a:xfrm>
        </p:grpSpPr>
        <p:pic>
          <p:nvPicPr>
            <p:cNvPr id="395" name="Google Shape;395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84083" y="1713229"/>
              <a:ext cx="3873601" cy="18158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6" name="Google Shape;396;p11"/>
            <p:cNvSpPr/>
            <p:nvPr/>
          </p:nvSpPr>
          <p:spPr>
            <a:xfrm>
              <a:off x="8092084" y="1783079"/>
              <a:ext cx="3657600" cy="1600200"/>
            </a:xfrm>
            <a:custGeom>
              <a:rect b="b" l="l" r="r" t="t"/>
              <a:pathLst>
                <a:path extrusionOk="0" h="1600200" w="365760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527124"/>
                  </a:lnTo>
                  <a:lnTo>
                    <a:pt x="594" y="1536395"/>
                  </a:lnTo>
                  <a:lnTo>
                    <a:pt x="607" y="1536600"/>
                  </a:lnTo>
                  <a:lnTo>
                    <a:pt x="2394" y="1545796"/>
                  </a:lnTo>
                  <a:lnTo>
                    <a:pt x="2428" y="1545975"/>
                  </a:lnTo>
                  <a:lnTo>
                    <a:pt x="5412" y="1554859"/>
                  </a:lnTo>
                  <a:lnTo>
                    <a:pt x="5464" y="1555015"/>
                  </a:lnTo>
                  <a:lnTo>
                    <a:pt x="36360" y="1590484"/>
                  </a:lnTo>
                  <a:lnTo>
                    <a:pt x="73075" y="1600200"/>
                  </a:lnTo>
                  <a:lnTo>
                    <a:pt x="3584511" y="1599844"/>
                  </a:lnTo>
                  <a:lnTo>
                    <a:pt x="3628889" y="1584740"/>
                  </a:lnTo>
                  <a:lnTo>
                    <a:pt x="3652052" y="1555015"/>
                  </a:lnTo>
                  <a:lnTo>
                    <a:pt x="3652129" y="1554859"/>
                  </a:lnTo>
                  <a:lnTo>
                    <a:pt x="3657576" y="1527124"/>
                  </a:lnTo>
                  <a:lnTo>
                    <a:pt x="3657600" y="1526755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8092084" y="1783079"/>
              <a:ext cx="3657600" cy="1600200"/>
            </a:xfrm>
            <a:custGeom>
              <a:rect b="b" l="l" r="r" t="t"/>
              <a:pathLst>
                <a:path extrusionOk="0" h="1600200" w="36576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600" y="1526755"/>
                  </a:lnTo>
                  <a:lnTo>
                    <a:pt x="3656992" y="1536395"/>
                  </a:lnTo>
                  <a:lnTo>
                    <a:pt x="3655169" y="1545796"/>
                  </a:lnTo>
                  <a:lnTo>
                    <a:pt x="3628889" y="1584740"/>
                  </a:lnTo>
                  <a:lnTo>
                    <a:pt x="3584511" y="1599844"/>
                  </a:lnTo>
                  <a:lnTo>
                    <a:pt x="73075" y="1600200"/>
                  </a:lnTo>
                  <a:lnTo>
                    <a:pt x="28548" y="1585095"/>
                  </a:lnTo>
                  <a:lnTo>
                    <a:pt x="2428" y="1545975"/>
                  </a:lnTo>
                  <a:lnTo>
                    <a:pt x="0" y="152712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8320684" y="1983955"/>
              <a:ext cx="365760" cy="365760"/>
            </a:xfrm>
            <a:custGeom>
              <a:rect b="b" l="l" r="r" t="t"/>
              <a:pathLst>
                <a:path extrusionOk="0" h="365760" w="365759">
                  <a:moveTo>
                    <a:pt x="182879" y="0"/>
                  </a:moveTo>
                  <a:lnTo>
                    <a:pt x="135535" y="6165"/>
                  </a:lnTo>
                  <a:lnTo>
                    <a:pt x="91439" y="24485"/>
                  </a:lnTo>
                  <a:lnTo>
                    <a:pt x="53636" y="53643"/>
                  </a:lnTo>
                  <a:lnTo>
                    <a:pt x="24472" y="91439"/>
                  </a:lnTo>
                  <a:lnTo>
                    <a:pt x="6164" y="135540"/>
                  </a:lnTo>
                  <a:lnTo>
                    <a:pt x="0" y="182880"/>
                  </a:lnTo>
                  <a:lnTo>
                    <a:pt x="1546" y="206788"/>
                  </a:lnTo>
                  <a:lnTo>
                    <a:pt x="13817" y="252847"/>
                  </a:lnTo>
                  <a:lnTo>
                    <a:pt x="37874" y="294200"/>
                  </a:lnTo>
                  <a:lnTo>
                    <a:pt x="71559" y="327885"/>
                  </a:lnTo>
                  <a:lnTo>
                    <a:pt x="112912" y="351942"/>
                  </a:lnTo>
                  <a:lnTo>
                    <a:pt x="158971" y="364213"/>
                  </a:lnTo>
                  <a:lnTo>
                    <a:pt x="182879" y="365760"/>
                  </a:lnTo>
                  <a:lnTo>
                    <a:pt x="206781" y="364213"/>
                  </a:lnTo>
                  <a:lnTo>
                    <a:pt x="252840" y="351942"/>
                  </a:lnTo>
                  <a:lnTo>
                    <a:pt x="294195" y="327885"/>
                  </a:lnTo>
                  <a:lnTo>
                    <a:pt x="327878" y="294200"/>
                  </a:lnTo>
                  <a:lnTo>
                    <a:pt x="351936" y="252847"/>
                  </a:lnTo>
                  <a:lnTo>
                    <a:pt x="364212" y="206788"/>
                  </a:lnTo>
                  <a:lnTo>
                    <a:pt x="365759" y="182880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78" y="71564"/>
                  </a:lnTo>
                  <a:lnTo>
                    <a:pt x="294195" y="37881"/>
                  </a:lnTo>
                  <a:lnTo>
                    <a:pt x="252840" y="13823"/>
                  </a:lnTo>
                  <a:lnTo>
                    <a:pt x="206781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" name="Google Shape;399;p11"/>
            <p:cNvSpPr/>
            <p:nvPr/>
          </p:nvSpPr>
          <p:spPr>
            <a:xfrm>
              <a:off x="8320684" y="1983955"/>
              <a:ext cx="365760" cy="365760"/>
            </a:xfrm>
            <a:custGeom>
              <a:rect b="b" l="l" r="r" t="t"/>
              <a:pathLst>
                <a:path extrusionOk="0" h="365760" w="365759">
                  <a:moveTo>
                    <a:pt x="0" y="182880"/>
                  </a:moveTo>
                  <a:lnTo>
                    <a:pt x="1546" y="158973"/>
                  </a:lnTo>
                  <a:lnTo>
                    <a:pt x="6164" y="135540"/>
                  </a:lnTo>
                  <a:lnTo>
                    <a:pt x="24472" y="91439"/>
                  </a:lnTo>
                  <a:lnTo>
                    <a:pt x="53636" y="53643"/>
                  </a:lnTo>
                  <a:lnTo>
                    <a:pt x="91439" y="24485"/>
                  </a:lnTo>
                  <a:lnTo>
                    <a:pt x="135535" y="6165"/>
                  </a:lnTo>
                  <a:lnTo>
                    <a:pt x="182879" y="0"/>
                  </a:lnTo>
                  <a:lnTo>
                    <a:pt x="230214" y="6165"/>
                  </a:lnTo>
                  <a:lnTo>
                    <a:pt x="274320" y="24485"/>
                  </a:lnTo>
                  <a:lnTo>
                    <a:pt x="312116" y="53643"/>
                  </a:lnTo>
                  <a:lnTo>
                    <a:pt x="341274" y="91439"/>
                  </a:lnTo>
                  <a:lnTo>
                    <a:pt x="359594" y="135540"/>
                  </a:lnTo>
                  <a:lnTo>
                    <a:pt x="365759" y="182880"/>
                  </a:lnTo>
                  <a:lnTo>
                    <a:pt x="364212" y="206788"/>
                  </a:lnTo>
                  <a:lnTo>
                    <a:pt x="359594" y="230224"/>
                  </a:lnTo>
                  <a:lnTo>
                    <a:pt x="341274" y="274320"/>
                  </a:lnTo>
                  <a:lnTo>
                    <a:pt x="312116" y="312123"/>
                  </a:lnTo>
                  <a:lnTo>
                    <a:pt x="274320" y="341287"/>
                  </a:lnTo>
                  <a:lnTo>
                    <a:pt x="230214" y="359595"/>
                  </a:lnTo>
                  <a:lnTo>
                    <a:pt x="182879" y="365760"/>
                  </a:lnTo>
                  <a:lnTo>
                    <a:pt x="135535" y="359595"/>
                  </a:lnTo>
                  <a:lnTo>
                    <a:pt x="91439" y="341287"/>
                  </a:lnTo>
                  <a:lnTo>
                    <a:pt x="53636" y="312123"/>
                  </a:lnTo>
                  <a:lnTo>
                    <a:pt x="24472" y="274320"/>
                  </a:lnTo>
                  <a:lnTo>
                    <a:pt x="6164" y="230224"/>
                  </a:lnTo>
                  <a:lnTo>
                    <a:pt x="1546" y="206788"/>
                  </a:lnTo>
                  <a:lnTo>
                    <a:pt x="0" y="182880"/>
                  </a:lnTo>
                  <a:close/>
                </a:path>
              </a:pathLst>
            </a:custGeom>
            <a:noFill/>
            <a:ln cap="flat" cmpd="sng" w="190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00" name="Google Shape;400;p11"/>
          <p:cNvSpPr txBox="1"/>
          <p:nvPr/>
        </p:nvSpPr>
        <p:spPr>
          <a:xfrm>
            <a:off x="8445500" y="2052256"/>
            <a:ext cx="20675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pt-BR" sz="21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	</a:t>
            </a:r>
            <a:r>
              <a:rPr b="1" lang="pt-BR" sz="14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Open Plant 1 forecast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 txBox="1"/>
          <p:nvPr/>
        </p:nvSpPr>
        <p:spPr>
          <a:xfrm>
            <a:off x="8397976" y="2737700"/>
            <a:ext cx="2821305" cy="379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0" lvl="0" marL="1270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Approved user signs in and opens the validated Plant 1 dashboard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p11"/>
          <p:cNvGrpSpPr/>
          <p:nvPr/>
        </p:nvGrpSpPr>
        <p:grpSpPr>
          <a:xfrm>
            <a:off x="394563" y="3542029"/>
            <a:ext cx="3873246" cy="1815846"/>
            <a:chOff x="394563" y="3542029"/>
            <a:chExt cx="3873246" cy="1815846"/>
          </a:xfrm>
        </p:grpSpPr>
        <p:pic>
          <p:nvPicPr>
            <p:cNvPr id="403" name="Google Shape;40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4563" y="3542029"/>
              <a:ext cx="3873246" cy="18158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11"/>
            <p:cNvSpPr/>
            <p:nvPr/>
          </p:nvSpPr>
          <p:spPr>
            <a:xfrm>
              <a:off x="502564" y="3611879"/>
              <a:ext cx="3657600" cy="1600200"/>
            </a:xfrm>
            <a:custGeom>
              <a:rect b="b" l="l" r="r" t="t"/>
              <a:pathLst>
                <a:path extrusionOk="0" h="1600200" w="365760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527124"/>
                  </a:lnTo>
                  <a:lnTo>
                    <a:pt x="594" y="1536395"/>
                  </a:lnTo>
                  <a:lnTo>
                    <a:pt x="607" y="1536600"/>
                  </a:lnTo>
                  <a:lnTo>
                    <a:pt x="2394" y="1545796"/>
                  </a:lnTo>
                  <a:lnTo>
                    <a:pt x="2428" y="1545975"/>
                  </a:lnTo>
                  <a:lnTo>
                    <a:pt x="5412" y="1554859"/>
                  </a:lnTo>
                  <a:lnTo>
                    <a:pt x="5464" y="1555015"/>
                  </a:lnTo>
                  <a:lnTo>
                    <a:pt x="9715" y="1563484"/>
                  </a:lnTo>
                  <a:lnTo>
                    <a:pt x="44979" y="1594735"/>
                  </a:lnTo>
                  <a:lnTo>
                    <a:pt x="73075" y="1600200"/>
                  </a:lnTo>
                  <a:lnTo>
                    <a:pt x="3584511" y="1599844"/>
                  </a:lnTo>
                  <a:lnTo>
                    <a:pt x="3628889" y="1584740"/>
                  </a:lnTo>
                  <a:lnTo>
                    <a:pt x="3655109" y="1545975"/>
                  </a:lnTo>
                  <a:lnTo>
                    <a:pt x="3657600" y="1526755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11"/>
            <p:cNvSpPr/>
            <p:nvPr/>
          </p:nvSpPr>
          <p:spPr>
            <a:xfrm>
              <a:off x="502564" y="3611879"/>
              <a:ext cx="3657600" cy="1600200"/>
            </a:xfrm>
            <a:custGeom>
              <a:rect b="b" l="l" r="r" t="t"/>
              <a:pathLst>
                <a:path extrusionOk="0" h="1600200" w="36576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600" y="1526755"/>
                  </a:lnTo>
                  <a:lnTo>
                    <a:pt x="3656992" y="1536395"/>
                  </a:lnTo>
                  <a:lnTo>
                    <a:pt x="3655169" y="1545796"/>
                  </a:lnTo>
                  <a:lnTo>
                    <a:pt x="3628889" y="1584740"/>
                  </a:lnTo>
                  <a:lnTo>
                    <a:pt x="3584511" y="1599844"/>
                  </a:lnTo>
                  <a:lnTo>
                    <a:pt x="73075" y="1600200"/>
                  </a:lnTo>
                  <a:lnTo>
                    <a:pt x="28548" y="1585095"/>
                  </a:lnTo>
                  <a:lnTo>
                    <a:pt x="2428" y="1545975"/>
                  </a:lnTo>
                  <a:lnTo>
                    <a:pt x="0" y="152712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11"/>
            <p:cNvSpPr/>
            <p:nvPr/>
          </p:nvSpPr>
          <p:spPr>
            <a:xfrm>
              <a:off x="731164" y="3812755"/>
              <a:ext cx="365760" cy="365760"/>
            </a:xfrm>
            <a:custGeom>
              <a:rect b="b" l="l" r="r" t="t"/>
              <a:pathLst>
                <a:path extrusionOk="0" h="365760" w="365759">
                  <a:moveTo>
                    <a:pt x="182879" y="0"/>
                  </a:moveTo>
                  <a:lnTo>
                    <a:pt x="135535" y="6165"/>
                  </a:lnTo>
                  <a:lnTo>
                    <a:pt x="91440" y="24485"/>
                  </a:lnTo>
                  <a:lnTo>
                    <a:pt x="53636" y="53643"/>
                  </a:lnTo>
                  <a:lnTo>
                    <a:pt x="24472" y="91440"/>
                  </a:lnTo>
                  <a:lnTo>
                    <a:pt x="6164" y="135540"/>
                  </a:lnTo>
                  <a:lnTo>
                    <a:pt x="0" y="182880"/>
                  </a:lnTo>
                  <a:lnTo>
                    <a:pt x="1546" y="206788"/>
                  </a:lnTo>
                  <a:lnTo>
                    <a:pt x="13817" y="252847"/>
                  </a:lnTo>
                  <a:lnTo>
                    <a:pt x="37874" y="294200"/>
                  </a:lnTo>
                  <a:lnTo>
                    <a:pt x="71559" y="327885"/>
                  </a:lnTo>
                  <a:lnTo>
                    <a:pt x="112912" y="351942"/>
                  </a:lnTo>
                  <a:lnTo>
                    <a:pt x="158971" y="364213"/>
                  </a:lnTo>
                  <a:lnTo>
                    <a:pt x="182879" y="365760"/>
                  </a:lnTo>
                  <a:lnTo>
                    <a:pt x="206781" y="364213"/>
                  </a:lnTo>
                  <a:lnTo>
                    <a:pt x="252840" y="351942"/>
                  </a:lnTo>
                  <a:lnTo>
                    <a:pt x="294195" y="327885"/>
                  </a:lnTo>
                  <a:lnTo>
                    <a:pt x="327878" y="294200"/>
                  </a:lnTo>
                  <a:lnTo>
                    <a:pt x="351936" y="252847"/>
                  </a:lnTo>
                  <a:lnTo>
                    <a:pt x="364212" y="206788"/>
                  </a:lnTo>
                  <a:lnTo>
                    <a:pt x="365759" y="182880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78" y="71564"/>
                  </a:lnTo>
                  <a:lnTo>
                    <a:pt x="294195" y="37881"/>
                  </a:lnTo>
                  <a:lnTo>
                    <a:pt x="252840" y="13823"/>
                  </a:lnTo>
                  <a:lnTo>
                    <a:pt x="206781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731164" y="3812755"/>
              <a:ext cx="365760" cy="365760"/>
            </a:xfrm>
            <a:custGeom>
              <a:rect b="b" l="l" r="r" t="t"/>
              <a:pathLst>
                <a:path extrusionOk="0" h="365760" w="365759">
                  <a:moveTo>
                    <a:pt x="0" y="182880"/>
                  </a:moveTo>
                  <a:lnTo>
                    <a:pt x="1546" y="158973"/>
                  </a:lnTo>
                  <a:lnTo>
                    <a:pt x="6164" y="135540"/>
                  </a:lnTo>
                  <a:lnTo>
                    <a:pt x="24472" y="91440"/>
                  </a:lnTo>
                  <a:lnTo>
                    <a:pt x="53636" y="53643"/>
                  </a:lnTo>
                  <a:lnTo>
                    <a:pt x="91440" y="24485"/>
                  </a:lnTo>
                  <a:lnTo>
                    <a:pt x="135535" y="6165"/>
                  </a:lnTo>
                  <a:lnTo>
                    <a:pt x="182879" y="0"/>
                  </a:lnTo>
                  <a:lnTo>
                    <a:pt x="230214" y="6165"/>
                  </a:lnTo>
                  <a:lnTo>
                    <a:pt x="274319" y="24485"/>
                  </a:lnTo>
                  <a:lnTo>
                    <a:pt x="312116" y="53643"/>
                  </a:lnTo>
                  <a:lnTo>
                    <a:pt x="341274" y="91440"/>
                  </a:lnTo>
                  <a:lnTo>
                    <a:pt x="359594" y="135540"/>
                  </a:lnTo>
                  <a:lnTo>
                    <a:pt x="365759" y="182880"/>
                  </a:lnTo>
                  <a:lnTo>
                    <a:pt x="364212" y="206788"/>
                  </a:lnTo>
                  <a:lnTo>
                    <a:pt x="359594" y="230224"/>
                  </a:lnTo>
                  <a:lnTo>
                    <a:pt x="341274" y="274320"/>
                  </a:lnTo>
                  <a:lnTo>
                    <a:pt x="312116" y="312123"/>
                  </a:lnTo>
                  <a:lnTo>
                    <a:pt x="274319" y="341287"/>
                  </a:lnTo>
                  <a:lnTo>
                    <a:pt x="230214" y="359595"/>
                  </a:lnTo>
                  <a:lnTo>
                    <a:pt x="182879" y="365760"/>
                  </a:lnTo>
                  <a:lnTo>
                    <a:pt x="135535" y="359595"/>
                  </a:lnTo>
                  <a:lnTo>
                    <a:pt x="91440" y="341287"/>
                  </a:lnTo>
                  <a:lnTo>
                    <a:pt x="53636" y="312123"/>
                  </a:lnTo>
                  <a:lnTo>
                    <a:pt x="24472" y="274320"/>
                  </a:lnTo>
                  <a:lnTo>
                    <a:pt x="6164" y="230224"/>
                  </a:lnTo>
                  <a:lnTo>
                    <a:pt x="1546" y="206788"/>
                  </a:lnTo>
                  <a:lnTo>
                    <a:pt x="0" y="182880"/>
                  </a:lnTo>
                  <a:close/>
                </a:path>
              </a:pathLst>
            </a:custGeom>
            <a:noFill/>
            <a:ln cap="flat" cmpd="sng" w="190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08" name="Google Shape;408;p11"/>
          <p:cNvSpPr txBox="1"/>
          <p:nvPr/>
        </p:nvSpPr>
        <p:spPr>
          <a:xfrm>
            <a:off x="852385" y="3881056"/>
            <a:ext cx="195961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pt-BR" sz="21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	</a:t>
            </a:r>
            <a:r>
              <a:rPr b="1" lang="pt-BR" sz="14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Explore the forecast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 txBox="1"/>
          <p:nvPr/>
        </p:nvSpPr>
        <p:spPr>
          <a:xfrm>
            <a:off x="808456" y="4566501"/>
            <a:ext cx="2658745" cy="379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0" lvl="0" marL="1270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Switch chart/table, pick 24/48/72h, read the range, export CSV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0" name="Google Shape;410;p11"/>
          <p:cNvGrpSpPr/>
          <p:nvPr/>
        </p:nvGrpSpPr>
        <p:grpSpPr>
          <a:xfrm>
            <a:off x="4189323" y="3542029"/>
            <a:ext cx="3873245" cy="1815846"/>
            <a:chOff x="4189323" y="3542029"/>
            <a:chExt cx="3873245" cy="1815846"/>
          </a:xfrm>
        </p:grpSpPr>
        <p:pic>
          <p:nvPicPr>
            <p:cNvPr id="411" name="Google Shape;41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89323" y="3542029"/>
              <a:ext cx="3873245" cy="18158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2" name="Google Shape;412;p11"/>
            <p:cNvSpPr/>
            <p:nvPr/>
          </p:nvSpPr>
          <p:spPr>
            <a:xfrm>
              <a:off x="4297324" y="3611879"/>
              <a:ext cx="3657600" cy="1600200"/>
            </a:xfrm>
            <a:custGeom>
              <a:rect b="b" l="l" r="r" t="t"/>
              <a:pathLst>
                <a:path extrusionOk="0" h="1600200" w="365760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527124"/>
                  </a:lnTo>
                  <a:lnTo>
                    <a:pt x="5412" y="1554859"/>
                  </a:lnTo>
                  <a:lnTo>
                    <a:pt x="5464" y="1555015"/>
                  </a:lnTo>
                  <a:lnTo>
                    <a:pt x="36360" y="1590484"/>
                  </a:lnTo>
                  <a:lnTo>
                    <a:pt x="73075" y="1600200"/>
                  </a:lnTo>
                  <a:lnTo>
                    <a:pt x="3584511" y="1599844"/>
                  </a:lnTo>
                  <a:lnTo>
                    <a:pt x="3628889" y="1584740"/>
                  </a:lnTo>
                  <a:lnTo>
                    <a:pt x="3652052" y="1555015"/>
                  </a:lnTo>
                  <a:lnTo>
                    <a:pt x="3652129" y="1554859"/>
                  </a:lnTo>
                  <a:lnTo>
                    <a:pt x="3657576" y="1527124"/>
                  </a:lnTo>
                  <a:lnTo>
                    <a:pt x="3657599" y="1526755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11"/>
            <p:cNvSpPr/>
            <p:nvPr/>
          </p:nvSpPr>
          <p:spPr>
            <a:xfrm>
              <a:off x="4297324" y="3611879"/>
              <a:ext cx="3657600" cy="1600200"/>
            </a:xfrm>
            <a:custGeom>
              <a:rect b="b" l="l" r="r" t="t"/>
              <a:pathLst>
                <a:path extrusionOk="0" h="1600200" w="36576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599" y="1526755"/>
                  </a:lnTo>
                  <a:lnTo>
                    <a:pt x="3656992" y="1536395"/>
                  </a:lnTo>
                  <a:lnTo>
                    <a:pt x="3655169" y="1545796"/>
                  </a:lnTo>
                  <a:lnTo>
                    <a:pt x="3628889" y="1584740"/>
                  </a:lnTo>
                  <a:lnTo>
                    <a:pt x="3584511" y="1599844"/>
                  </a:lnTo>
                  <a:lnTo>
                    <a:pt x="73075" y="1600200"/>
                  </a:lnTo>
                  <a:lnTo>
                    <a:pt x="28548" y="1585095"/>
                  </a:lnTo>
                  <a:lnTo>
                    <a:pt x="2428" y="1545975"/>
                  </a:lnTo>
                  <a:lnTo>
                    <a:pt x="0" y="152712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4525924" y="3812755"/>
              <a:ext cx="365760" cy="365760"/>
            </a:xfrm>
            <a:custGeom>
              <a:rect b="b" l="l" r="r" t="t"/>
              <a:pathLst>
                <a:path extrusionOk="0" h="365760" w="365760">
                  <a:moveTo>
                    <a:pt x="182879" y="0"/>
                  </a:moveTo>
                  <a:lnTo>
                    <a:pt x="135535" y="6165"/>
                  </a:lnTo>
                  <a:lnTo>
                    <a:pt x="91439" y="24485"/>
                  </a:lnTo>
                  <a:lnTo>
                    <a:pt x="53636" y="53643"/>
                  </a:lnTo>
                  <a:lnTo>
                    <a:pt x="24472" y="91440"/>
                  </a:lnTo>
                  <a:lnTo>
                    <a:pt x="6164" y="135540"/>
                  </a:lnTo>
                  <a:lnTo>
                    <a:pt x="0" y="182880"/>
                  </a:lnTo>
                  <a:lnTo>
                    <a:pt x="1546" y="206788"/>
                  </a:lnTo>
                  <a:lnTo>
                    <a:pt x="13817" y="252847"/>
                  </a:lnTo>
                  <a:lnTo>
                    <a:pt x="37874" y="294200"/>
                  </a:lnTo>
                  <a:lnTo>
                    <a:pt x="71559" y="327885"/>
                  </a:lnTo>
                  <a:lnTo>
                    <a:pt x="112912" y="351942"/>
                  </a:lnTo>
                  <a:lnTo>
                    <a:pt x="158971" y="364213"/>
                  </a:lnTo>
                  <a:lnTo>
                    <a:pt x="182879" y="365760"/>
                  </a:lnTo>
                  <a:lnTo>
                    <a:pt x="206781" y="364213"/>
                  </a:lnTo>
                  <a:lnTo>
                    <a:pt x="252840" y="351942"/>
                  </a:lnTo>
                  <a:lnTo>
                    <a:pt x="294195" y="327885"/>
                  </a:lnTo>
                  <a:lnTo>
                    <a:pt x="327878" y="294200"/>
                  </a:lnTo>
                  <a:lnTo>
                    <a:pt x="351936" y="252847"/>
                  </a:lnTo>
                  <a:lnTo>
                    <a:pt x="364212" y="206788"/>
                  </a:lnTo>
                  <a:lnTo>
                    <a:pt x="365760" y="182880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78" y="71564"/>
                  </a:lnTo>
                  <a:lnTo>
                    <a:pt x="294195" y="37881"/>
                  </a:lnTo>
                  <a:lnTo>
                    <a:pt x="252840" y="13823"/>
                  </a:lnTo>
                  <a:lnTo>
                    <a:pt x="206781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4525924" y="3812755"/>
              <a:ext cx="365760" cy="365760"/>
            </a:xfrm>
            <a:custGeom>
              <a:rect b="b" l="l" r="r" t="t"/>
              <a:pathLst>
                <a:path extrusionOk="0" h="365760" w="365760">
                  <a:moveTo>
                    <a:pt x="0" y="182880"/>
                  </a:moveTo>
                  <a:lnTo>
                    <a:pt x="1546" y="158973"/>
                  </a:lnTo>
                  <a:lnTo>
                    <a:pt x="6164" y="135540"/>
                  </a:lnTo>
                  <a:lnTo>
                    <a:pt x="24472" y="91440"/>
                  </a:lnTo>
                  <a:lnTo>
                    <a:pt x="53636" y="53643"/>
                  </a:lnTo>
                  <a:lnTo>
                    <a:pt x="91439" y="24485"/>
                  </a:lnTo>
                  <a:lnTo>
                    <a:pt x="135535" y="6165"/>
                  </a:lnTo>
                  <a:lnTo>
                    <a:pt x="182879" y="0"/>
                  </a:lnTo>
                  <a:lnTo>
                    <a:pt x="230214" y="6165"/>
                  </a:lnTo>
                  <a:lnTo>
                    <a:pt x="274319" y="24485"/>
                  </a:lnTo>
                  <a:lnTo>
                    <a:pt x="312116" y="53643"/>
                  </a:lnTo>
                  <a:lnTo>
                    <a:pt x="341274" y="91440"/>
                  </a:lnTo>
                  <a:lnTo>
                    <a:pt x="359594" y="135540"/>
                  </a:lnTo>
                  <a:lnTo>
                    <a:pt x="365760" y="182880"/>
                  </a:lnTo>
                  <a:lnTo>
                    <a:pt x="364212" y="206788"/>
                  </a:lnTo>
                  <a:lnTo>
                    <a:pt x="359594" y="230224"/>
                  </a:lnTo>
                  <a:lnTo>
                    <a:pt x="341274" y="274320"/>
                  </a:lnTo>
                  <a:lnTo>
                    <a:pt x="312116" y="312123"/>
                  </a:lnTo>
                  <a:lnTo>
                    <a:pt x="274319" y="341287"/>
                  </a:lnTo>
                  <a:lnTo>
                    <a:pt x="230214" y="359595"/>
                  </a:lnTo>
                  <a:lnTo>
                    <a:pt x="182879" y="365760"/>
                  </a:lnTo>
                  <a:lnTo>
                    <a:pt x="135535" y="359595"/>
                  </a:lnTo>
                  <a:lnTo>
                    <a:pt x="91439" y="341287"/>
                  </a:lnTo>
                  <a:lnTo>
                    <a:pt x="53636" y="312123"/>
                  </a:lnTo>
                  <a:lnTo>
                    <a:pt x="24472" y="274320"/>
                  </a:lnTo>
                  <a:lnTo>
                    <a:pt x="6164" y="230224"/>
                  </a:lnTo>
                  <a:lnTo>
                    <a:pt x="1546" y="206788"/>
                  </a:lnTo>
                  <a:lnTo>
                    <a:pt x="0" y="182880"/>
                  </a:lnTo>
                  <a:close/>
                </a:path>
              </a:pathLst>
            </a:custGeom>
            <a:noFill/>
            <a:ln cap="flat" cmpd="sng" w="190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6" name="Google Shape;416;p11"/>
          <p:cNvSpPr txBox="1"/>
          <p:nvPr/>
        </p:nvSpPr>
        <p:spPr>
          <a:xfrm>
            <a:off x="4650016" y="3881056"/>
            <a:ext cx="158686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pt-BR" sz="21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	</a:t>
            </a:r>
            <a:r>
              <a:rPr b="1" lang="pt-BR" sz="14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Review actions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 txBox="1"/>
          <p:nvPr/>
        </p:nvSpPr>
        <p:spPr>
          <a:xfrm>
            <a:off x="4603216" y="4566501"/>
            <a:ext cx="2731135" cy="379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0" lvl="0" marL="1270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See which hours are flagged normal / curtail / backup-dispatch, and why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8" name="Google Shape;418;p11"/>
          <p:cNvGrpSpPr/>
          <p:nvPr/>
        </p:nvGrpSpPr>
        <p:grpSpPr>
          <a:xfrm>
            <a:off x="7984083" y="3542029"/>
            <a:ext cx="3873601" cy="1815846"/>
            <a:chOff x="7984083" y="3542029"/>
            <a:chExt cx="3873601" cy="1815846"/>
          </a:xfrm>
        </p:grpSpPr>
        <p:pic>
          <p:nvPicPr>
            <p:cNvPr id="419" name="Google Shape;41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84083" y="3542029"/>
              <a:ext cx="3873601" cy="18158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11"/>
            <p:cNvSpPr/>
            <p:nvPr/>
          </p:nvSpPr>
          <p:spPr>
            <a:xfrm>
              <a:off x="8092084" y="3611879"/>
              <a:ext cx="3657600" cy="1600200"/>
            </a:xfrm>
            <a:custGeom>
              <a:rect b="b" l="l" r="r" t="t"/>
              <a:pathLst>
                <a:path extrusionOk="0" h="1600200" w="3657600">
                  <a:moveTo>
                    <a:pt x="3584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1527124"/>
                  </a:lnTo>
                  <a:lnTo>
                    <a:pt x="594" y="1536395"/>
                  </a:lnTo>
                  <a:lnTo>
                    <a:pt x="607" y="1536600"/>
                  </a:lnTo>
                  <a:lnTo>
                    <a:pt x="2394" y="1545796"/>
                  </a:lnTo>
                  <a:lnTo>
                    <a:pt x="2428" y="1545975"/>
                  </a:lnTo>
                  <a:lnTo>
                    <a:pt x="5412" y="1554859"/>
                  </a:lnTo>
                  <a:lnTo>
                    <a:pt x="36360" y="1590484"/>
                  </a:lnTo>
                  <a:lnTo>
                    <a:pt x="73075" y="1600200"/>
                  </a:lnTo>
                  <a:lnTo>
                    <a:pt x="3584511" y="1599844"/>
                  </a:lnTo>
                  <a:lnTo>
                    <a:pt x="3628889" y="1584740"/>
                  </a:lnTo>
                  <a:lnTo>
                    <a:pt x="3652052" y="1555015"/>
                  </a:lnTo>
                  <a:lnTo>
                    <a:pt x="3652129" y="1554859"/>
                  </a:lnTo>
                  <a:lnTo>
                    <a:pt x="3657576" y="1527124"/>
                  </a:lnTo>
                  <a:lnTo>
                    <a:pt x="3657600" y="1526755"/>
                  </a:lnTo>
                  <a:lnTo>
                    <a:pt x="3657231" y="73075"/>
                  </a:lnTo>
                  <a:lnTo>
                    <a:pt x="3642140" y="28705"/>
                  </a:lnTo>
                  <a:lnTo>
                    <a:pt x="3603190" y="2428"/>
                  </a:lnTo>
                  <a:lnTo>
                    <a:pt x="3593789" y="607"/>
                  </a:lnTo>
                  <a:lnTo>
                    <a:pt x="3584155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1" name="Google Shape;421;p11"/>
            <p:cNvSpPr/>
            <p:nvPr/>
          </p:nvSpPr>
          <p:spPr>
            <a:xfrm>
              <a:off x="8092084" y="3611879"/>
              <a:ext cx="3657600" cy="1600200"/>
            </a:xfrm>
            <a:custGeom>
              <a:rect b="b" l="l" r="r" t="t"/>
              <a:pathLst>
                <a:path extrusionOk="0" h="1600200" w="36576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3584155" y="0"/>
                  </a:lnTo>
                  <a:lnTo>
                    <a:pt x="3628683" y="15104"/>
                  </a:lnTo>
                  <a:lnTo>
                    <a:pt x="3654802" y="54224"/>
                  </a:lnTo>
                  <a:lnTo>
                    <a:pt x="3657231" y="73075"/>
                  </a:lnTo>
                  <a:lnTo>
                    <a:pt x="3657600" y="1526755"/>
                  </a:lnTo>
                  <a:lnTo>
                    <a:pt x="3656992" y="1536395"/>
                  </a:lnTo>
                  <a:lnTo>
                    <a:pt x="3655169" y="1545796"/>
                  </a:lnTo>
                  <a:lnTo>
                    <a:pt x="3628889" y="1584740"/>
                  </a:lnTo>
                  <a:lnTo>
                    <a:pt x="3584511" y="1599844"/>
                  </a:lnTo>
                  <a:lnTo>
                    <a:pt x="73075" y="1600200"/>
                  </a:lnTo>
                  <a:lnTo>
                    <a:pt x="28548" y="1585095"/>
                  </a:lnTo>
                  <a:lnTo>
                    <a:pt x="2428" y="1545975"/>
                  </a:lnTo>
                  <a:lnTo>
                    <a:pt x="0" y="152712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2" name="Google Shape;422;p11"/>
            <p:cNvSpPr/>
            <p:nvPr/>
          </p:nvSpPr>
          <p:spPr>
            <a:xfrm>
              <a:off x="8320684" y="3812755"/>
              <a:ext cx="365760" cy="365760"/>
            </a:xfrm>
            <a:custGeom>
              <a:rect b="b" l="l" r="r" t="t"/>
              <a:pathLst>
                <a:path extrusionOk="0" h="365760" w="365759">
                  <a:moveTo>
                    <a:pt x="182879" y="0"/>
                  </a:moveTo>
                  <a:lnTo>
                    <a:pt x="135535" y="6165"/>
                  </a:lnTo>
                  <a:lnTo>
                    <a:pt x="91439" y="24485"/>
                  </a:lnTo>
                  <a:lnTo>
                    <a:pt x="53636" y="53643"/>
                  </a:lnTo>
                  <a:lnTo>
                    <a:pt x="24472" y="91440"/>
                  </a:lnTo>
                  <a:lnTo>
                    <a:pt x="6164" y="135540"/>
                  </a:lnTo>
                  <a:lnTo>
                    <a:pt x="0" y="182880"/>
                  </a:lnTo>
                  <a:lnTo>
                    <a:pt x="1546" y="206788"/>
                  </a:lnTo>
                  <a:lnTo>
                    <a:pt x="13817" y="252847"/>
                  </a:lnTo>
                  <a:lnTo>
                    <a:pt x="37874" y="294200"/>
                  </a:lnTo>
                  <a:lnTo>
                    <a:pt x="71559" y="327885"/>
                  </a:lnTo>
                  <a:lnTo>
                    <a:pt x="112912" y="351942"/>
                  </a:lnTo>
                  <a:lnTo>
                    <a:pt x="158971" y="364213"/>
                  </a:lnTo>
                  <a:lnTo>
                    <a:pt x="182879" y="365760"/>
                  </a:lnTo>
                  <a:lnTo>
                    <a:pt x="206781" y="364213"/>
                  </a:lnTo>
                  <a:lnTo>
                    <a:pt x="252840" y="351942"/>
                  </a:lnTo>
                  <a:lnTo>
                    <a:pt x="294195" y="327885"/>
                  </a:lnTo>
                  <a:lnTo>
                    <a:pt x="327878" y="294200"/>
                  </a:lnTo>
                  <a:lnTo>
                    <a:pt x="351936" y="252847"/>
                  </a:lnTo>
                  <a:lnTo>
                    <a:pt x="364212" y="206788"/>
                  </a:lnTo>
                  <a:lnTo>
                    <a:pt x="365759" y="182880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78" y="71564"/>
                  </a:lnTo>
                  <a:lnTo>
                    <a:pt x="294195" y="37881"/>
                  </a:lnTo>
                  <a:lnTo>
                    <a:pt x="252840" y="13823"/>
                  </a:lnTo>
                  <a:lnTo>
                    <a:pt x="206781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" name="Google Shape;423;p11"/>
            <p:cNvSpPr/>
            <p:nvPr/>
          </p:nvSpPr>
          <p:spPr>
            <a:xfrm>
              <a:off x="8320684" y="3812755"/>
              <a:ext cx="365760" cy="365760"/>
            </a:xfrm>
            <a:custGeom>
              <a:rect b="b" l="l" r="r" t="t"/>
              <a:pathLst>
                <a:path extrusionOk="0" h="365760" w="365759">
                  <a:moveTo>
                    <a:pt x="0" y="182880"/>
                  </a:moveTo>
                  <a:lnTo>
                    <a:pt x="1546" y="158973"/>
                  </a:lnTo>
                  <a:lnTo>
                    <a:pt x="6164" y="135540"/>
                  </a:lnTo>
                  <a:lnTo>
                    <a:pt x="24472" y="91440"/>
                  </a:lnTo>
                  <a:lnTo>
                    <a:pt x="53636" y="53643"/>
                  </a:lnTo>
                  <a:lnTo>
                    <a:pt x="91439" y="24485"/>
                  </a:lnTo>
                  <a:lnTo>
                    <a:pt x="135535" y="6165"/>
                  </a:lnTo>
                  <a:lnTo>
                    <a:pt x="182879" y="0"/>
                  </a:lnTo>
                  <a:lnTo>
                    <a:pt x="230214" y="6165"/>
                  </a:lnTo>
                  <a:lnTo>
                    <a:pt x="274320" y="24485"/>
                  </a:lnTo>
                  <a:lnTo>
                    <a:pt x="312116" y="53643"/>
                  </a:lnTo>
                  <a:lnTo>
                    <a:pt x="341274" y="91440"/>
                  </a:lnTo>
                  <a:lnTo>
                    <a:pt x="359594" y="135540"/>
                  </a:lnTo>
                  <a:lnTo>
                    <a:pt x="365759" y="182880"/>
                  </a:lnTo>
                  <a:lnTo>
                    <a:pt x="364212" y="206788"/>
                  </a:lnTo>
                  <a:lnTo>
                    <a:pt x="359594" y="230224"/>
                  </a:lnTo>
                  <a:lnTo>
                    <a:pt x="341274" y="274320"/>
                  </a:lnTo>
                  <a:lnTo>
                    <a:pt x="312116" y="312123"/>
                  </a:lnTo>
                  <a:lnTo>
                    <a:pt x="274320" y="341287"/>
                  </a:lnTo>
                  <a:lnTo>
                    <a:pt x="230214" y="359595"/>
                  </a:lnTo>
                  <a:lnTo>
                    <a:pt x="182879" y="365760"/>
                  </a:lnTo>
                  <a:lnTo>
                    <a:pt x="135535" y="359595"/>
                  </a:lnTo>
                  <a:lnTo>
                    <a:pt x="91439" y="341287"/>
                  </a:lnTo>
                  <a:lnTo>
                    <a:pt x="53636" y="312123"/>
                  </a:lnTo>
                  <a:lnTo>
                    <a:pt x="24472" y="274320"/>
                  </a:lnTo>
                  <a:lnTo>
                    <a:pt x="6164" y="230224"/>
                  </a:lnTo>
                  <a:lnTo>
                    <a:pt x="1546" y="206788"/>
                  </a:lnTo>
                  <a:lnTo>
                    <a:pt x="0" y="182880"/>
                  </a:lnTo>
                  <a:close/>
                </a:path>
              </a:pathLst>
            </a:custGeom>
            <a:noFill/>
            <a:ln cap="flat" cmpd="sng" w="190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4" name="Google Shape;424;p11"/>
          <p:cNvSpPr txBox="1"/>
          <p:nvPr/>
        </p:nvSpPr>
        <p:spPr>
          <a:xfrm>
            <a:off x="8443341" y="3881056"/>
            <a:ext cx="20720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pt-BR" sz="21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	</a:t>
            </a:r>
            <a:r>
              <a:rPr b="1" lang="pt-BR" sz="14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Try What-if (optional)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 txBox="1"/>
          <p:nvPr>
            <p:ph idx="12" type="sldNum"/>
          </p:nvPr>
        </p:nvSpPr>
        <p:spPr>
          <a:xfrm>
            <a:off x="11569382" y="6500390"/>
            <a:ext cx="21780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26" name="Google Shape;426;p11"/>
          <p:cNvSpPr txBox="1"/>
          <p:nvPr/>
        </p:nvSpPr>
        <p:spPr>
          <a:xfrm>
            <a:off x="8397976" y="4566501"/>
            <a:ext cx="2725420" cy="379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0" lvl="0" marL="12700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Search a location, set a capacity, get a labeled approximate estimate</a:t>
            </a:r>
            <a:endParaRPr sz="11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2"/>
          <p:cNvSpPr txBox="1"/>
          <p:nvPr/>
        </p:nvSpPr>
        <p:spPr>
          <a:xfrm>
            <a:off x="579856" y="416776"/>
            <a:ext cx="4525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r>
              <a:rPr b="1" lang="pt-BR" sz="16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1" lang="pt-BR" sz="16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TRUSTWORTHY ACCESS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432" name="Google Shape;432;p12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Access is earned, not assumed</a:t>
            </a:r>
            <a:endParaRPr/>
          </a:p>
        </p:txBody>
      </p:sp>
      <p:sp>
        <p:nvSpPr>
          <p:cNvPr id="433" name="Google Shape;433;p12"/>
          <p:cNvSpPr txBox="1"/>
          <p:nvPr/>
        </p:nvSpPr>
        <p:spPr>
          <a:xfrm>
            <a:off x="580224" y="1838426"/>
            <a:ext cx="1695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3EBEA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2"/>
          <p:cNvSpPr txBox="1"/>
          <p:nvPr/>
        </p:nvSpPr>
        <p:spPr>
          <a:xfrm>
            <a:off x="945616" y="1891334"/>
            <a:ext cx="470916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Signup creates a pending request - not an active account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 txBox="1"/>
          <p:nvPr/>
        </p:nvSpPr>
        <p:spPr>
          <a:xfrm>
            <a:off x="580224" y="2460142"/>
            <a:ext cx="1695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3EBEA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2"/>
          <p:cNvSpPr txBox="1"/>
          <p:nvPr/>
        </p:nvSpPr>
        <p:spPr>
          <a:xfrm>
            <a:off x="945616" y="2513063"/>
            <a:ext cx="415978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Separate admin and user login modes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 txBox="1"/>
          <p:nvPr/>
        </p:nvSpPr>
        <p:spPr>
          <a:xfrm>
            <a:off x="580224" y="3081858"/>
            <a:ext cx="1695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3EBEA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2"/>
          <p:cNvSpPr txBox="1"/>
          <p:nvPr/>
        </p:nvSpPr>
        <p:spPr>
          <a:xfrm>
            <a:off x="945616" y="3134779"/>
            <a:ext cx="3731628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Six-digit employee ID required at signup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 txBox="1"/>
          <p:nvPr/>
        </p:nvSpPr>
        <p:spPr>
          <a:xfrm>
            <a:off x="580224" y="3703942"/>
            <a:ext cx="1695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3EBEA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2"/>
          <p:cNvSpPr txBox="1"/>
          <p:nvPr/>
        </p:nvSpPr>
        <p:spPr>
          <a:xfrm>
            <a:off x="945616" y="3756495"/>
            <a:ext cx="362638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Admin-only account-approval endpoints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 txBox="1"/>
          <p:nvPr/>
        </p:nvSpPr>
        <p:spPr>
          <a:xfrm>
            <a:off x="6203784" y="1838426"/>
            <a:ext cx="1695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3EBEA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2"/>
          <p:cNvSpPr txBox="1"/>
          <p:nvPr/>
        </p:nvSpPr>
        <p:spPr>
          <a:xfrm>
            <a:off x="6569176" y="1891334"/>
            <a:ext cx="5000206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Passwords: salted PBKDF2-HMAC-SHA256, 310,000 iterations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 txBox="1"/>
          <p:nvPr/>
        </p:nvSpPr>
        <p:spPr>
          <a:xfrm>
            <a:off x="6203784" y="2460142"/>
            <a:ext cx="1695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3EBEA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2"/>
          <p:cNvSpPr txBox="1"/>
          <p:nvPr/>
        </p:nvSpPr>
        <p:spPr>
          <a:xfrm>
            <a:off x="6569176" y="2513063"/>
            <a:ext cx="409882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JWT bearer tokens, expire after 8 hours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 txBox="1"/>
          <p:nvPr/>
        </p:nvSpPr>
        <p:spPr>
          <a:xfrm>
            <a:off x="6203784" y="3081858"/>
            <a:ext cx="1695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3EBEA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2"/>
          <p:cNvSpPr txBox="1"/>
          <p:nvPr/>
        </p:nvSpPr>
        <p:spPr>
          <a:xfrm>
            <a:off x="6569176" y="3134779"/>
            <a:ext cx="4677208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Forecast history is scoped to the authenticated user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 txBox="1"/>
          <p:nvPr/>
        </p:nvSpPr>
        <p:spPr>
          <a:xfrm>
            <a:off x="6203784" y="3703942"/>
            <a:ext cx="1695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3EBEAC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 txBox="1"/>
          <p:nvPr/>
        </p:nvSpPr>
        <p:spPr>
          <a:xfrm>
            <a:off x="6569175" y="3756495"/>
            <a:ext cx="4098823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17 backend tests cover auth, roles, and isolation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9" name="Google Shape;449;p12"/>
          <p:cNvGrpSpPr/>
          <p:nvPr/>
        </p:nvGrpSpPr>
        <p:grpSpPr>
          <a:xfrm>
            <a:off x="502564" y="4709160"/>
            <a:ext cx="2377440" cy="777240"/>
            <a:chOff x="502564" y="4709160"/>
            <a:chExt cx="2377440" cy="777240"/>
          </a:xfrm>
        </p:grpSpPr>
        <p:sp>
          <p:nvSpPr>
            <p:cNvPr id="450" name="Google Shape;450;p12"/>
            <p:cNvSpPr/>
            <p:nvPr/>
          </p:nvSpPr>
          <p:spPr>
            <a:xfrm>
              <a:off x="502564" y="4709160"/>
              <a:ext cx="2377440" cy="777240"/>
            </a:xfrm>
            <a:custGeom>
              <a:rect b="b" l="l" r="r" t="t"/>
              <a:pathLst>
                <a:path extrusionOk="0" h="777239" w="2377440">
                  <a:moveTo>
                    <a:pt x="23039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04164"/>
                  </a:lnTo>
                  <a:lnTo>
                    <a:pt x="594" y="713435"/>
                  </a:lnTo>
                  <a:lnTo>
                    <a:pt x="607" y="713640"/>
                  </a:lnTo>
                  <a:lnTo>
                    <a:pt x="2394" y="722836"/>
                  </a:lnTo>
                  <a:lnTo>
                    <a:pt x="2428" y="723015"/>
                  </a:lnTo>
                  <a:lnTo>
                    <a:pt x="5412" y="731899"/>
                  </a:lnTo>
                  <a:lnTo>
                    <a:pt x="5464" y="732055"/>
                  </a:lnTo>
                  <a:lnTo>
                    <a:pt x="36360" y="767524"/>
                  </a:lnTo>
                  <a:lnTo>
                    <a:pt x="73075" y="777239"/>
                  </a:lnTo>
                  <a:lnTo>
                    <a:pt x="2304351" y="776884"/>
                  </a:lnTo>
                  <a:lnTo>
                    <a:pt x="2348729" y="761780"/>
                  </a:lnTo>
                  <a:lnTo>
                    <a:pt x="2371892" y="732055"/>
                  </a:lnTo>
                  <a:lnTo>
                    <a:pt x="2371969" y="731899"/>
                  </a:lnTo>
                  <a:lnTo>
                    <a:pt x="2374949" y="723015"/>
                  </a:lnTo>
                  <a:lnTo>
                    <a:pt x="2375009" y="722836"/>
                  </a:lnTo>
                  <a:lnTo>
                    <a:pt x="2376792" y="713640"/>
                  </a:lnTo>
                  <a:lnTo>
                    <a:pt x="2376832" y="713435"/>
                  </a:lnTo>
                  <a:lnTo>
                    <a:pt x="2377416" y="704164"/>
                  </a:lnTo>
                  <a:lnTo>
                    <a:pt x="2377440" y="703795"/>
                  </a:lnTo>
                  <a:lnTo>
                    <a:pt x="2377071" y="73075"/>
                  </a:lnTo>
                  <a:lnTo>
                    <a:pt x="2361980" y="28705"/>
                  </a:lnTo>
                  <a:lnTo>
                    <a:pt x="2323030" y="2428"/>
                  </a:lnTo>
                  <a:lnTo>
                    <a:pt x="2313629" y="60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12"/>
            <p:cNvSpPr/>
            <p:nvPr/>
          </p:nvSpPr>
          <p:spPr>
            <a:xfrm>
              <a:off x="502564" y="4709160"/>
              <a:ext cx="2377440" cy="777240"/>
            </a:xfrm>
            <a:custGeom>
              <a:rect b="b" l="l" r="r" t="t"/>
              <a:pathLst>
                <a:path extrusionOk="0" h="777239" w="23774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303995" y="0"/>
                  </a:lnTo>
                  <a:lnTo>
                    <a:pt x="2348523" y="15104"/>
                  </a:lnTo>
                  <a:lnTo>
                    <a:pt x="2374642" y="54224"/>
                  </a:lnTo>
                  <a:lnTo>
                    <a:pt x="2377071" y="73075"/>
                  </a:lnTo>
                  <a:lnTo>
                    <a:pt x="2377440" y="703795"/>
                  </a:lnTo>
                  <a:lnTo>
                    <a:pt x="2376832" y="713435"/>
                  </a:lnTo>
                  <a:lnTo>
                    <a:pt x="2375009" y="722836"/>
                  </a:lnTo>
                  <a:lnTo>
                    <a:pt x="2348729" y="761780"/>
                  </a:lnTo>
                  <a:lnTo>
                    <a:pt x="2304351" y="776884"/>
                  </a:lnTo>
                  <a:lnTo>
                    <a:pt x="73075" y="777239"/>
                  </a:lnTo>
                  <a:lnTo>
                    <a:pt x="28548" y="762135"/>
                  </a:lnTo>
                  <a:lnTo>
                    <a:pt x="2428" y="723015"/>
                  </a:lnTo>
                  <a:lnTo>
                    <a:pt x="0" y="70416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9EAB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52" name="Google Shape;452;p12"/>
          <p:cNvSpPr txBox="1"/>
          <p:nvPr/>
        </p:nvSpPr>
        <p:spPr>
          <a:xfrm>
            <a:off x="1398024" y="4964536"/>
            <a:ext cx="1013751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 txBox="1"/>
          <p:nvPr/>
        </p:nvSpPr>
        <p:spPr>
          <a:xfrm>
            <a:off x="2957296" y="4963223"/>
            <a:ext cx="2095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4" name="Google Shape;454;p12"/>
          <p:cNvGrpSpPr/>
          <p:nvPr/>
        </p:nvGrpSpPr>
        <p:grpSpPr>
          <a:xfrm>
            <a:off x="3200044" y="4709160"/>
            <a:ext cx="2377440" cy="777240"/>
            <a:chOff x="3200044" y="4709160"/>
            <a:chExt cx="2377440" cy="777240"/>
          </a:xfrm>
        </p:grpSpPr>
        <p:sp>
          <p:nvSpPr>
            <p:cNvPr id="455" name="Google Shape;455;p12"/>
            <p:cNvSpPr/>
            <p:nvPr/>
          </p:nvSpPr>
          <p:spPr>
            <a:xfrm>
              <a:off x="3200044" y="4709160"/>
              <a:ext cx="2377440" cy="777240"/>
            </a:xfrm>
            <a:custGeom>
              <a:rect b="b" l="l" r="r" t="t"/>
              <a:pathLst>
                <a:path extrusionOk="0" h="777239" w="2377440">
                  <a:moveTo>
                    <a:pt x="23039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04164"/>
                  </a:lnTo>
                  <a:lnTo>
                    <a:pt x="5412" y="731899"/>
                  </a:lnTo>
                  <a:lnTo>
                    <a:pt x="5464" y="732055"/>
                  </a:lnTo>
                  <a:lnTo>
                    <a:pt x="36360" y="767524"/>
                  </a:lnTo>
                  <a:lnTo>
                    <a:pt x="73075" y="777239"/>
                  </a:lnTo>
                  <a:lnTo>
                    <a:pt x="2304351" y="776884"/>
                  </a:lnTo>
                  <a:lnTo>
                    <a:pt x="2348729" y="761780"/>
                  </a:lnTo>
                  <a:lnTo>
                    <a:pt x="2374949" y="723015"/>
                  </a:lnTo>
                  <a:lnTo>
                    <a:pt x="2377440" y="703795"/>
                  </a:lnTo>
                  <a:lnTo>
                    <a:pt x="2377071" y="73075"/>
                  </a:lnTo>
                  <a:lnTo>
                    <a:pt x="2361980" y="28705"/>
                  </a:lnTo>
                  <a:lnTo>
                    <a:pt x="2323030" y="2428"/>
                  </a:lnTo>
                  <a:lnTo>
                    <a:pt x="2313629" y="60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12"/>
            <p:cNvSpPr/>
            <p:nvPr/>
          </p:nvSpPr>
          <p:spPr>
            <a:xfrm>
              <a:off x="3200044" y="4709160"/>
              <a:ext cx="2377440" cy="777240"/>
            </a:xfrm>
            <a:custGeom>
              <a:rect b="b" l="l" r="r" t="t"/>
              <a:pathLst>
                <a:path extrusionOk="0" h="777239" w="23774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303995" y="0"/>
                  </a:lnTo>
                  <a:lnTo>
                    <a:pt x="2348523" y="15104"/>
                  </a:lnTo>
                  <a:lnTo>
                    <a:pt x="2374642" y="54224"/>
                  </a:lnTo>
                  <a:lnTo>
                    <a:pt x="2377071" y="73075"/>
                  </a:lnTo>
                  <a:lnTo>
                    <a:pt x="2377440" y="703795"/>
                  </a:lnTo>
                  <a:lnTo>
                    <a:pt x="2376832" y="713435"/>
                  </a:lnTo>
                  <a:lnTo>
                    <a:pt x="2375009" y="722836"/>
                  </a:lnTo>
                  <a:lnTo>
                    <a:pt x="2348729" y="761780"/>
                  </a:lnTo>
                  <a:lnTo>
                    <a:pt x="2304351" y="776884"/>
                  </a:lnTo>
                  <a:lnTo>
                    <a:pt x="73075" y="777239"/>
                  </a:lnTo>
                  <a:lnTo>
                    <a:pt x="28548" y="762135"/>
                  </a:lnTo>
                  <a:lnTo>
                    <a:pt x="2428" y="723015"/>
                  </a:lnTo>
                  <a:lnTo>
                    <a:pt x="0" y="70416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E7A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57" name="Google Shape;457;p12"/>
          <p:cNvSpPr txBox="1"/>
          <p:nvPr/>
        </p:nvSpPr>
        <p:spPr>
          <a:xfrm>
            <a:off x="3952563" y="4964536"/>
            <a:ext cx="1004736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A23C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 txBox="1"/>
          <p:nvPr/>
        </p:nvSpPr>
        <p:spPr>
          <a:xfrm>
            <a:off x="5654776" y="4963223"/>
            <a:ext cx="2095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9" name="Google Shape;459;p12"/>
          <p:cNvGrpSpPr/>
          <p:nvPr/>
        </p:nvGrpSpPr>
        <p:grpSpPr>
          <a:xfrm>
            <a:off x="5897524" y="4709160"/>
            <a:ext cx="2377440" cy="777240"/>
            <a:chOff x="5897524" y="4709160"/>
            <a:chExt cx="2377440" cy="777240"/>
          </a:xfrm>
        </p:grpSpPr>
        <p:sp>
          <p:nvSpPr>
            <p:cNvPr id="460" name="Google Shape;460;p12"/>
            <p:cNvSpPr/>
            <p:nvPr/>
          </p:nvSpPr>
          <p:spPr>
            <a:xfrm>
              <a:off x="5897524" y="4709160"/>
              <a:ext cx="2377440" cy="777240"/>
            </a:xfrm>
            <a:custGeom>
              <a:rect b="b" l="l" r="r" t="t"/>
              <a:pathLst>
                <a:path extrusionOk="0" h="777239" w="2377440">
                  <a:moveTo>
                    <a:pt x="23039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04164"/>
                  </a:lnTo>
                  <a:lnTo>
                    <a:pt x="15091" y="748534"/>
                  </a:lnTo>
                  <a:lnTo>
                    <a:pt x="54041" y="774811"/>
                  </a:lnTo>
                  <a:lnTo>
                    <a:pt x="73075" y="777239"/>
                  </a:lnTo>
                  <a:lnTo>
                    <a:pt x="2304351" y="776884"/>
                  </a:lnTo>
                  <a:lnTo>
                    <a:pt x="2348729" y="761780"/>
                  </a:lnTo>
                  <a:lnTo>
                    <a:pt x="2371892" y="732055"/>
                  </a:lnTo>
                  <a:lnTo>
                    <a:pt x="2371969" y="731899"/>
                  </a:lnTo>
                  <a:lnTo>
                    <a:pt x="2377416" y="704164"/>
                  </a:lnTo>
                  <a:lnTo>
                    <a:pt x="2377440" y="703795"/>
                  </a:lnTo>
                  <a:lnTo>
                    <a:pt x="2377071" y="73075"/>
                  </a:lnTo>
                  <a:lnTo>
                    <a:pt x="2361980" y="28705"/>
                  </a:lnTo>
                  <a:lnTo>
                    <a:pt x="2323030" y="2428"/>
                  </a:lnTo>
                  <a:lnTo>
                    <a:pt x="2313629" y="60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" name="Google Shape;461;p12"/>
            <p:cNvSpPr/>
            <p:nvPr/>
          </p:nvSpPr>
          <p:spPr>
            <a:xfrm>
              <a:off x="5897524" y="4709160"/>
              <a:ext cx="2377440" cy="777240"/>
            </a:xfrm>
            <a:custGeom>
              <a:rect b="b" l="l" r="r" t="t"/>
              <a:pathLst>
                <a:path extrusionOk="0" h="777239" w="23774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303995" y="0"/>
                  </a:lnTo>
                  <a:lnTo>
                    <a:pt x="2348523" y="15104"/>
                  </a:lnTo>
                  <a:lnTo>
                    <a:pt x="2374642" y="54224"/>
                  </a:lnTo>
                  <a:lnTo>
                    <a:pt x="2377071" y="73075"/>
                  </a:lnTo>
                  <a:lnTo>
                    <a:pt x="2377440" y="703795"/>
                  </a:lnTo>
                  <a:lnTo>
                    <a:pt x="2376832" y="713435"/>
                  </a:lnTo>
                  <a:lnTo>
                    <a:pt x="2375009" y="722836"/>
                  </a:lnTo>
                  <a:lnTo>
                    <a:pt x="2348729" y="761780"/>
                  </a:lnTo>
                  <a:lnTo>
                    <a:pt x="2304351" y="776884"/>
                  </a:lnTo>
                  <a:lnTo>
                    <a:pt x="73075" y="777239"/>
                  </a:lnTo>
                  <a:lnTo>
                    <a:pt x="28548" y="762135"/>
                  </a:lnTo>
                  <a:lnTo>
                    <a:pt x="2428" y="723015"/>
                  </a:lnTo>
                  <a:lnTo>
                    <a:pt x="0" y="70416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62" name="Google Shape;462;p12"/>
          <p:cNvSpPr txBox="1"/>
          <p:nvPr/>
        </p:nvSpPr>
        <p:spPr>
          <a:xfrm>
            <a:off x="6684456" y="4953666"/>
            <a:ext cx="1194371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Approved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 txBox="1"/>
          <p:nvPr/>
        </p:nvSpPr>
        <p:spPr>
          <a:xfrm>
            <a:off x="8352256" y="4963223"/>
            <a:ext cx="20955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4" name="Google Shape;464;p12"/>
          <p:cNvGrpSpPr/>
          <p:nvPr/>
        </p:nvGrpSpPr>
        <p:grpSpPr>
          <a:xfrm>
            <a:off x="8595004" y="4709160"/>
            <a:ext cx="2377440" cy="777240"/>
            <a:chOff x="8595004" y="4709160"/>
            <a:chExt cx="2377440" cy="777240"/>
          </a:xfrm>
        </p:grpSpPr>
        <p:sp>
          <p:nvSpPr>
            <p:cNvPr id="465" name="Google Shape;465;p12"/>
            <p:cNvSpPr/>
            <p:nvPr/>
          </p:nvSpPr>
          <p:spPr>
            <a:xfrm>
              <a:off x="8595004" y="4709160"/>
              <a:ext cx="2377440" cy="777240"/>
            </a:xfrm>
            <a:custGeom>
              <a:rect b="b" l="l" r="r" t="t"/>
              <a:pathLst>
                <a:path extrusionOk="0" h="777239" w="2377440">
                  <a:moveTo>
                    <a:pt x="230399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04164"/>
                  </a:lnTo>
                  <a:lnTo>
                    <a:pt x="594" y="713435"/>
                  </a:lnTo>
                  <a:lnTo>
                    <a:pt x="607" y="713640"/>
                  </a:lnTo>
                  <a:lnTo>
                    <a:pt x="2394" y="722836"/>
                  </a:lnTo>
                  <a:lnTo>
                    <a:pt x="2428" y="723015"/>
                  </a:lnTo>
                  <a:lnTo>
                    <a:pt x="5412" y="731899"/>
                  </a:lnTo>
                  <a:lnTo>
                    <a:pt x="36360" y="767524"/>
                  </a:lnTo>
                  <a:lnTo>
                    <a:pt x="73075" y="777239"/>
                  </a:lnTo>
                  <a:lnTo>
                    <a:pt x="2304351" y="776884"/>
                  </a:lnTo>
                  <a:lnTo>
                    <a:pt x="2348729" y="761780"/>
                  </a:lnTo>
                  <a:lnTo>
                    <a:pt x="2371892" y="732055"/>
                  </a:lnTo>
                  <a:lnTo>
                    <a:pt x="2371969" y="731899"/>
                  </a:lnTo>
                  <a:lnTo>
                    <a:pt x="2377416" y="704164"/>
                  </a:lnTo>
                  <a:lnTo>
                    <a:pt x="2377439" y="703795"/>
                  </a:lnTo>
                  <a:lnTo>
                    <a:pt x="2377071" y="73075"/>
                  </a:lnTo>
                  <a:lnTo>
                    <a:pt x="2361980" y="28705"/>
                  </a:lnTo>
                  <a:lnTo>
                    <a:pt x="2323030" y="2428"/>
                  </a:lnTo>
                  <a:lnTo>
                    <a:pt x="2313629" y="60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6" name="Google Shape;466;p12"/>
            <p:cNvSpPr/>
            <p:nvPr/>
          </p:nvSpPr>
          <p:spPr>
            <a:xfrm>
              <a:off x="8595004" y="4709160"/>
              <a:ext cx="2377440" cy="777240"/>
            </a:xfrm>
            <a:custGeom>
              <a:rect b="b" l="l" r="r" t="t"/>
              <a:pathLst>
                <a:path extrusionOk="0" h="777239" w="237744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303995" y="0"/>
                  </a:lnTo>
                  <a:lnTo>
                    <a:pt x="2348523" y="15104"/>
                  </a:lnTo>
                  <a:lnTo>
                    <a:pt x="2374642" y="54224"/>
                  </a:lnTo>
                  <a:lnTo>
                    <a:pt x="2377071" y="73075"/>
                  </a:lnTo>
                  <a:lnTo>
                    <a:pt x="2377439" y="703795"/>
                  </a:lnTo>
                  <a:lnTo>
                    <a:pt x="2376832" y="713435"/>
                  </a:lnTo>
                  <a:lnTo>
                    <a:pt x="2375009" y="722836"/>
                  </a:lnTo>
                  <a:lnTo>
                    <a:pt x="2348729" y="761780"/>
                  </a:lnTo>
                  <a:lnTo>
                    <a:pt x="2304351" y="776884"/>
                  </a:lnTo>
                  <a:lnTo>
                    <a:pt x="73075" y="777239"/>
                  </a:lnTo>
                  <a:lnTo>
                    <a:pt x="28548" y="762135"/>
                  </a:lnTo>
                  <a:lnTo>
                    <a:pt x="2428" y="723015"/>
                  </a:lnTo>
                  <a:lnTo>
                    <a:pt x="0" y="70416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67" name="Google Shape;467;p12"/>
          <p:cNvSpPr txBox="1"/>
          <p:nvPr/>
        </p:nvSpPr>
        <p:spPr>
          <a:xfrm>
            <a:off x="9261743" y="4988776"/>
            <a:ext cx="1289735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User access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 txBox="1"/>
          <p:nvPr>
            <p:ph idx="12" type="sldNum"/>
          </p:nvPr>
        </p:nvSpPr>
        <p:spPr>
          <a:xfrm>
            <a:off x="11569382" y="6500390"/>
            <a:ext cx="21780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9" name="Google Shape;469;p12"/>
          <p:cNvSpPr txBox="1"/>
          <p:nvPr/>
        </p:nvSpPr>
        <p:spPr>
          <a:xfrm>
            <a:off x="3277336" y="5599709"/>
            <a:ext cx="2209064" cy="22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4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(or Rejected → no access)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3"/>
          <p:cNvSpPr txBox="1"/>
          <p:nvPr/>
        </p:nvSpPr>
        <p:spPr>
          <a:xfrm>
            <a:off x="579856" y="416776"/>
            <a:ext cx="3382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ENGINEERING QUALITY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475" name="Google Shape;475;p13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Evidence, not adjectives</a:t>
            </a:r>
            <a:endParaRPr/>
          </a:p>
        </p:txBody>
      </p:sp>
      <p:pic>
        <p:nvPicPr>
          <p:cNvPr id="476" name="Google Shape;4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564" y="1782724"/>
            <a:ext cx="128155" cy="128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564" y="1782724"/>
            <a:ext cx="128155" cy="128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564" y="2349715"/>
            <a:ext cx="128155" cy="128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564" y="2349715"/>
            <a:ext cx="128155" cy="128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564" y="2916720"/>
            <a:ext cx="128155" cy="12815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3"/>
          <p:cNvSpPr txBox="1"/>
          <p:nvPr/>
        </p:nvSpPr>
        <p:spPr>
          <a:xfrm>
            <a:off x="854176" y="1772894"/>
            <a:ext cx="4143375" cy="136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17 backend tests passing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27875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Physical output bounds + exact nighttime-zero enforcement Clean API / frontend separation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564" y="2916720"/>
            <a:ext cx="128155" cy="12815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3"/>
          <p:cNvSpPr txBox="1"/>
          <p:nvPr/>
        </p:nvSpPr>
        <p:spPr>
          <a:xfrm>
            <a:off x="6569176" y="1772894"/>
            <a:ext cx="4768648" cy="1551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Chronological evaluation throughout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Five-day weather coverage safeguard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195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Reproducible model artifacts + documented decisions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4" name="Google Shape;484;p13"/>
          <p:cNvGrpSpPr/>
          <p:nvPr/>
        </p:nvGrpSpPr>
        <p:grpSpPr>
          <a:xfrm>
            <a:off x="394970" y="3763437"/>
            <a:ext cx="11401920" cy="2547366"/>
            <a:chOff x="394563" y="3724909"/>
            <a:chExt cx="11401920" cy="2547366"/>
          </a:xfrm>
        </p:grpSpPr>
        <p:pic>
          <p:nvPicPr>
            <p:cNvPr id="485" name="Google Shape;485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94563" y="3724909"/>
              <a:ext cx="11401920" cy="25473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6" name="Google Shape;486;p13"/>
            <p:cNvSpPr/>
            <p:nvPr/>
          </p:nvSpPr>
          <p:spPr>
            <a:xfrm>
              <a:off x="502564" y="3794759"/>
              <a:ext cx="11186160" cy="2331720"/>
            </a:xfrm>
            <a:custGeom>
              <a:rect b="b" l="l" r="r" t="t"/>
              <a:pathLst>
                <a:path extrusionOk="0" h="2331720" w="11186160">
                  <a:moveTo>
                    <a:pt x="11112474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2258644"/>
                  </a:lnTo>
                  <a:lnTo>
                    <a:pt x="594" y="2267915"/>
                  </a:lnTo>
                  <a:lnTo>
                    <a:pt x="607" y="2268120"/>
                  </a:lnTo>
                  <a:lnTo>
                    <a:pt x="2394" y="2277316"/>
                  </a:lnTo>
                  <a:lnTo>
                    <a:pt x="2428" y="2277495"/>
                  </a:lnTo>
                  <a:lnTo>
                    <a:pt x="5412" y="2286379"/>
                  </a:lnTo>
                  <a:lnTo>
                    <a:pt x="36360" y="2322004"/>
                  </a:lnTo>
                  <a:lnTo>
                    <a:pt x="73075" y="2331720"/>
                  </a:lnTo>
                  <a:lnTo>
                    <a:pt x="11112830" y="2331364"/>
                  </a:lnTo>
                  <a:lnTo>
                    <a:pt x="11157207" y="2316260"/>
                  </a:lnTo>
                  <a:lnTo>
                    <a:pt x="11180371" y="2286535"/>
                  </a:lnTo>
                  <a:lnTo>
                    <a:pt x="11180448" y="2286379"/>
                  </a:lnTo>
                  <a:lnTo>
                    <a:pt x="11185895" y="2258644"/>
                  </a:lnTo>
                  <a:lnTo>
                    <a:pt x="11185918" y="2258275"/>
                  </a:lnTo>
                  <a:lnTo>
                    <a:pt x="11185550" y="73075"/>
                  </a:lnTo>
                  <a:lnTo>
                    <a:pt x="11170459" y="28705"/>
                  </a:lnTo>
                  <a:lnTo>
                    <a:pt x="11131513" y="2428"/>
                  </a:lnTo>
                  <a:lnTo>
                    <a:pt x="11122113" y="607"/>
                  </a:lnTo>
                  <a:lnTo>
                    <a:pt x="11112474" y="0"/>
                  </a:lnTo>
                  <a:close/>
                </a:path>
              </a:pathLst>
            </a:custGeom>
            <a:solidFill>
              <a:srgbClr val="131B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7" name="Google Shape;487;p13"/>
            <p:cNvSpPr/>
            <p:nvPr/>
          </p:nvSpPr>
          <p:spPr>
            <a:xfrm>
              <a:off x="502564" y="3794759"/>
              <a:ext cx="11186160" cy="2331720"/>
            </a:xfrm>
            <a:custGeom>
              <a:rect b="b" l="l" r="r" t="t"/>
              <a:pathLst>
                <a:path extrusionOk="0" h="2331720" w="1118616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1112474" y="0"/>
                  </a:lnTo>
                  <a:lnTo>
                    <a:pt x="11157002" y="15104"/>
                  </a:lnTo>
                  <a:lnTo>
                    <a:pt x="11183121" y="54224"/>
                  </a:lnTo>
                  <a:lnTo>
                    <a:pt x="11185550" y="73075"/>
                  </a:lnTo>
                  <a:lnTo>
                    <a:pt x="11185918" y="2258275"/>
                  </a:lnTo>
                  <a:lnTo>
                    <a:pt x="11185311" y="2267915"/>
                  </a:lnTo>
                  <a:lnTo>
                    <a:pt x="11183488" y="2277316"/>
                  </a:lnTo>
                  <a:lnTo>
                    <a:pt x="11157207" y="2316260"/>
                  </a:lnTo>
                  <a:lnTo>
                    <a:pt x="11112830" y="2331364"/>
                  </a:lnTo>
                  <a:lnTo>
                    <a:pt x="73075" y="2331720"/>
                  </a:lnTo>
                  <a:lnTo>
                    <a:pt x="28548" y="2316615"/>
                  </a:lnTo>
                  <a:lnTo>
                    <a:pt x="2428" y="2277495"/>
                  </a:lnTo>
                  <a:lnTo>
                    <a:pt x="0" y="2258644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2937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88" name="Google Shape;488;p13"/>
          <p:cNvSpPr txBox="1"/>
          <p:nvPr/>
        </p:nvSpPr>
        <p:spPr>
          <a:xfrm>
            <a:off x="6777844" y="4275185"/>
            <a:ext cx="4320540" cy="856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A23C"/>
                </a:solidFill>
                <a:latin typeface="Calibri"/>
                <a:ea typeface="Calibri"/>
                <a:cs typeface="Calibri"/>
                <a:sym typeface="Calibri"/>
              </a:rPr>
              <a:t>pvlib scalar/DataFrame mismatch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305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A clear-sky calculation returned a DataFrame where a float was assumed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 txBox="1"/>
          <p:nvPr>
            <p:ph idx="12" type="sldNum"/>
          </p:nvPr>
        </p:nvSpPr>
        <p:spPr>
          <a:xfrm>
            <a:off x="11569382" y="6500390"/>
            <a:ext cx="21780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0" name="Google Shape;490;p13"/>
          <p:cNvSpPr txBox="1"/>
          <p:nvPr/>
        </p:nvSpPr>
        <p:spPr>
          <a:xfrm>
            <a:off x="854176" y="3986910"/>
            <a:ext cx="5332921" cy="2044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Bugs caught and fixed — the honest engineering log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65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A23C"/>
                </a:solidFill>
                <a:latin typeface="Calibri"/>
                <a:ea typeface="Calibri"/>
                <a:cs typeface="Calibri"/>
                <a:sym typeface="Calibri"/>
              </a:rPr>
              <a:t>Timeline gaps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31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107 missing 15-min timestamps silently broke position-based lag features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A23C"/>
                </a:solidFill>
                <a:latin typeface="Calibri"/>
                <a:ea typeface="Calibri"/>
                <a:cs typeface="Calibri"/>
                <a:sym typeface="Calibri"/>
              </a:rPr>
              <a:t>Negative &amp; nighttime-jitter predictions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305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Regressor had no built-in floor at the true physical zero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 txBox="1"/>
          <p:nvPr/>
        </p:nvSpPr>
        <p:spPr>
          <a:xfrm>
            <a:off x="6777844" y="5279666"/>
            <a:ext cx="246814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A23C"/>
                </a:solidFill>
                <a:latin typeface="Calibri"/>
                <a:ea typeface="Calibri"/>
                <a:cs typeface="Calibri"/>
                <a:sym typeface="Calibri"/>
              </a:rPr>
              <a:t>Chart tooltip desync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 txBox="1"/>
          <p:nvPr/>
        </p:nvSpPr>
        <p:spPr>
          <a:xfrm>
            <a:off x="6797509" y="5570666"/>
            <a:ext cx="5211344" cy="22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A differently-sized data series broke Recharts' shared hover index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4"/>
          <p:cNvSpPr txBox="1"/>
          <p:nvPr/>
        </p:nvSpPr>
        <p:spPr>
          <a:xfrm>
            <a:off x="579856" y="416776"/>
            <a:ext cx="34587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r>
              <a:rPr b="1" lang="pt-BR" sz="16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1" lang="pt-BR" sz="16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$PPTXTitle" id="498" name="Google Shape;498;p14"/>
          <p:cNvSpPr txBox="1"/>
          <p:nvPr>
            <p:ph type="title"/>
          </p:nvPr>
        </p:nvSpPr>
        <p:spPr>
          <a:xfrm>
            <a:off x="579856" y="767067"/>
            <a:ext cx="986091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What's validated today, and what comes next</a:t>
            </a:r>
            <a:endParaRPr/>
          </a:p>
        </p:txBody>
      </p:sp>
      <p:grpSp>
        <p:nvGrpSpPr>
          <p:cNvPr id="499" name="Google Shape;499;p14"/>
          <p:cNvGrpSpPr/>
          <p:nvPr/>
        </p:nvGrpSpPr>
        <p:grpSpPr>
          <a:xfrm>
            <a:off x="347001" y="1630388"/>
            <a:ext cx="5610961" cy="4421885"/>
            <a:chOff x="394563" y="1621434"/>
            <a:chExt cx="5610961" cy="4421885"/>
          </a:xfrm>
        </p:grpSpPr>
        <p:pic>
          <p:nvPicPr>
            <p:cNvPr id="500" name="Google Shape;50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4563" y="1621434"/>
              <a:ext cx="5610961" cy="44218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14"/>
            <p:cNvSpPr/>
            <p:nvPr/>
          </p:nvSpPr>
          <p:spPr>
            <a:xfrm>
              <a:off x="502564" y="1691284"/>
              <a:ext cx="5394960" cy="4206240"/>
            </a:xfrm>
            <a:custGeom>
              <a:rect b="b" l="l" r="r" t="t"/>
              <a:pathLst>
                <a:path extrusionOk="0" h="4206240" w="5394960">
                  <a:moveTo>
                    <a:pt x="53215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133151"/>
                  </a:lnTo>
                  <a:lnTo>
                    <a:pt x="594" y="4142429"/>
                  </a:lnTo>
                  <a:lnTo>
                    <a:pt x="607" y="4142629"/>
                  </a:lnTo>
                  <a:lnTo>
                    <a:pt x="21413" y="4184769"/>
                  </a:lnTo>
                  <a:lnTo>
                    <a:pt x="63442" y="4205632"/>
                  </a:lnTo>
                  <a:lnTo>
                    <a:pt x="73075" y="4206240"/>
                  </a:lnTo>
                  <a:lnTo>
                    <a:pt x="5321871" y="4205871"/>
                  </a:lnTo>
                  <a:lnTo>
                    <a:pt x="5366249" y="4190780"/>
                  </a:lnTo>
                  <a:lnTo>
                    <a:pt x="5392469" y="4152007"/>
                  </a:lnTo>
                  <a:lnTo>
                    <a:pt x="5394313" y="4142629"/>
                  </a:lnTo>
                  <a:lnTo>
                    <a:pt x="5394352" y="4142429"/>
                  </a:lnTo>
                  <a:lnTo>
                    <a:pt x="5394937" y="4133151"/>
                  </a:lnTo>
                  <a:lnTo>
                    <a:pt x="5394960" y="4132795"/>
                  </a:lnTo>
                  <a:lnTo>
                    <a:pt x="5394591" y="73075"/>
                  </a:lnTo>
                  <a:lnTo>
                    <a:pt x="5379500" y="28698"/>
                  </a:lnTo>
                  <a:lnTo>
                    <a:pt x="5340550" y="2428"/>
                  </a:lnTo>
                  <a:lnTo>
                    <a:pt x="5331149" y="607"/>
                  </a:lnTo>
                  <a:lnTo>
                    <a:pt x="5321515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14"/>
            <p:cNvSpPr/>
            <p:nvPr/>
          </p:nvSpPr>
          <p:spPr>
            <a:xfrm>
              <a:off x="502564" y="1691284"/>
              <a:ext cx="5394960" cy="4206240"/>
            </a:xfrm>
            <a:custGeom>
              <a:rect b="b" l="l" r="r" t="t"/>
              <a:pathLst>
                <a:path extrusionOk="0" h="4206240" w="53949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5321515" y="0"/>
                  </a:lnTo>
                  <a:lnTo>
                    <a:pt x="5366043" y="15096"/>
                  </a:lnTo>
                  <a:lnTo>
                    <a:pt x="5392162" y="54219"/>
                  </a:lnTo>
                  <a:lnTo>
                    <a:pt x="5394591" y="73075"/>
                  </a:lnTo>
                  <a:lnTo>
                    <a:pt x="5394960" y="4132795"/>
                  </a:lnTo>
                  <a:lnTo>
                    <a:pt x="5394352" y="4142429"/>
                  </a:lnTo>
                  <a:lnTo>
                    <a:pt x="5392529" y="4151830"/>
                  </a:lnTo>
                  <a:lnTo>
                    <a:pt x="5366249" y="4190780"/>
                  </a:lnTo>
                  <a:lnTo>
                    <a:pt x="5321871" y="4205871"/>
                  </a:lnTo>
                  <a:lnTo>
                    <a:pt x="73075" y="4206240"/>
                  </a:lnTo>
                  <a:lnTo>
                    <a:pt x="28548" y="4191130"/>
                  </a:lnTo>
                  <a:lnTo>
                    <a:pt x="2428" y="4152007"/>
                  </a:lnTo>
                  <a:lnTo>
                    <a:pt x="0" y="4133151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E75C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03" name="Google Shape;503;p14"/>
          <p:cNvSpPr txBox="1"/>
          <p:nvPr/>
        </p:nvSpPr>
        <p:spPr>
          <a:xfrm>
            <a:off x="854176" y="1861451"/>
            <a:ext cx="36282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r>
              <a:rPr b="1" lang="pt-BR" sz="1600">
                <a:solidFill>
                  <a:srgbClr val="E75C4B"/>
                </a:solidFill>
                <a:latin typeface="Calibri"/>
                <a:ea typeface="Calibri"/>
                <a:cs typeface="Calibri"/>
                <a:sym typeface="Calibri"/>
              </a:rPr>
              <a:t> — TODAY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4" name="Google Shape;504;p14"/>
          <p:cNvGrpSpPr/>
          <p:nvPr/>
        </p:nvGrpSpPr>
        <p:grpSpPr>
          <a:xfrm>
            <a:off x="772587" y="2415133"/>
            <a:ext cx="109804" cy="2962796"/>
            <a:chOff x="777240" y="2240279"/>
            <a:chExt cx="109804" cy="2962796"/>
          </a:xfrm>
        </p:grpSpPr>
        <p:pic>
          <p:nvPicPr>
            <p:cNvPr id="505" name="Google Shape;505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7240" y="2240279"/>
              <a:ext cx="109804" cy="1098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7240" y="2953435"/>
              <a:ext cx="109804" cy="1098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7" name="Google Shape;507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7240" y="3666604"/>
              <a:ext cx="109804" cy="1097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8" name="Google Shape;508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77240" y="4379759"/>
              <a:ext cx="109804" cy="1098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9" name="Google Shape;509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77240" y="5093284"/>
              <a:ext cx="109804" cy="1097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0" name="Google Shape;510;p14"/>
          <p:cNvSpPr txBox="1"/>
          <p:nvPr/>
        </p:nvSpPr>
        <p:spPr>
          <a:xfrm>
            <a:off x="1083144" y="2310739"/>
            <a:ext cx="4631856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One short historical period, one validated site (Plant 1)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 txBox="1"/>
          <p:nvPr/>
        </p:nvSpPr>
        <p:spPr>
          <a:xfrm>
            <a:off x="1083144" y="2928492"/>
            <a:ext cx="4631856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Weather backtest uses target-time observations as a proxy for a real forecast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 txBox="1"/>
          <p:nvPr/>
        </p:nvSpPr>
        <p:spPr>
          <a:xfrm>
            <a:off x="1083144" y="3737051"/>
            <a:ext cx="4611560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What-if mode is capacity-scaled, not site-generalized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 txBox="1"/>
          <p:nvPr/>
        </p:nvSpPr>
        <p:spPr>
          <a:xfrm>
            <a:off x="1083144" y="4450219"/>
            <a:ext cx="4631856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No real SCADA, market prices, demand, or storage state yet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 txBox="1"/>
          <p:nvPr/>
        </p:nvSpPr>
        <p:spPr>
          <a:xfrm>
            <a:off x="1083144" y="5068341"/>
            <a:ext cx="4752340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SQLite and default admin config are prototype choices, not production-hardened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5" name="Google Shape;515;p14"/>
          <p:cNvGrpSpPr/>
          <p:nvPr/>
        </p:nvGrpSpPr>
        <p:grpSpPr>
          <a:xfrm>
            <a:off x="6007863" y="1589863"/>
            <a:ext cx="5610606" cy="4421885"/>
            <a:chOff x="6109563" y="1621434"/>
            <a:chExt cx="5610606" cy="4421885"/>
          </a:xfrm>
        </p:grpSpPr>
        <p:pic>
          <p:nvPicPr>
            <p:cNvPr id="516" name="Google Shape;51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09563" y="1621434"/>
              <a:ext cx="5610606" cy="44218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14"/>
            <p:cNvSpPr/>
            <p:nvPr/>
          </p:nvSpPr>
          <p:spPr>
            <a:xfrm>
              <a:off x="6217564" y="1691284"/>
              <a:ext cx="5394960" cy="4206240"/>
            </a:xfrm>
            <a:custGeom>
              <a:rect b="b" l="l" r="r" t="t"/>
              <a:pathLst>
                <a:path extrusionOk="0" h="4206240" w="5394959">
                  <a:moveTo>
                    <a:pt x="53215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133151"/>
                  </a:lnTo>
                  <a:lnTo>
                    <a:pt x="5412" y="4160892"/>
                  </a:lnTo>
                  <a:lnTo>
                    <a:pt x="5464" y="4161047"/>
                  </a:lnTo>
                  <a:lnTo>
                    <a:pt x="36360" y="4196511"/>
                  </a:lnTo>
                  <a:lnTo>
                    <a:pt x="73075" y="4206240"/>
                  </a:lnTo>
                  <a:lnTo>
                    <a:pt x="5321871" y="4205871"/>
                  </a:lnTo>
                  <a:lnTo>
                    <a:pt x="5366249" y="4190780"/>
                  </a:lnTo>
                  <a:lnTo>
                    <a:pt x="5392469" y="4152007"/>
                  </a:lnTo>
                  <a:lnTo>
                    <a:pt x="5392529" y="4151830"/>
                  </a:lnTo>
                  <a:lnTo>
                    <a:pt x="5394313" y="4142629"/>
                  </a:lnTo>
                  <a:lnTo>
                    <a:pt x="5394352" y="4142429"/>
                  </a:lnTo>
                  <a:lnTo>
                    <a:pt x="5394937" y="4133151"/>
                  </a:lnTo>
                  <a:lnTo>
                    <a:pt x="5394591" y="73075"/>
                  </a:lnTo>
                  <a:lnTo>
                    <a:pt x="5379500" y="28698"/>
                  </a:lnTo>
                  <a:lnTo>
                    <a:pt x="5340550" y="2428"/>
                  </a:lnTo>
                  <a:lnTo>
                    <a:pt x="5331149" y="607"/>
                  </a:lnTo>
                  <a:lnTo>
                    <a:pt x="5321515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14"/>
            <p:cNvSpPr/>
            <p:nvPr/>
          </p:nvSpPr>
          <p:spPr>
            <a:xfrm>
              <a:off x="6217564" y="1691284"/>
              <a:ext cx="5394960" cy="4206240"/>
            </a:xfrm>
            <a:custGeom>
              <a:rect b="b" l="l" r="r" t="t"/>
              <a:pathLst>
                <a:path extrusionOk="0" h="4206240" w="539495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5321515" y="0"/>
                  </a:lnTo>
                  <a:lnTo>
                    <a:pt x="5366043" y="15096"/>
                  </a:lnTo>
                  <a:lnTo>
                    <a:pt x="5392162" y="54219"/>
                  </a:lnTo>
                  <a:lnTo>
                    <a:pt x="5394591" y="73075"/>
                  </a:lnTo>
                  <a:lnTo>
                    <a:pt x="5394959" y="4132795"/>
                  </a:lnTo>
                  <a:lnTo>
                    <a:pt x="5394352" y="4142429"/>
                  </a:lnTo>
                  <a:lnTo>
                    <a:pt x="5392529" y="4151830"/>
                  </a:lnTo>
                  <a:lnTo>
                    <a:pt x="5366249" y="4190780"/>
                  </a:lnTo>
                  <a:lnTo>
                    <a:pt x="5321871" y="4205871"/>
                  </a:lnTo>
                  <a:lnTo>
                    <a:pt x="73075" y="4206240"/>
                  </a:lnTo>
                  <a:lnTo>
                    <a:pt x="28548" y="4191130"/>
                  </a:lnTo>
                  <a:lnTo>
                    <a:pt x="2428" y="4152007"/>
                  </a:lnTo>
                  <a:lnTo>
                    <a:pt x="0" y="4133151"/>
                  </a:lnTo>
                  <a:lnTo>
                    <a:pt x="0" y="73075"/>
                  </a:lnTo>
                  <a:close/>
                </a:path>
              </a:pathLst>
            </a:custGeom>
            <a:noFill/>
            <a:ln cap="flat" cmpd="sng" w="125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19" name="Google Shape;519;p14"/>
          <p:cNvSpPr txBox="1"/>
          <p:nvPr/>
        </p:nvSpPr>
        <p:spPr>
          <a:xfrm>
            <a:off x="6569176" y="1861451"/>
            <a:ext cx="36417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ROADMAP — NEXT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0" name="Google Shape;520;p14"/>
          <p:cNvGrpSpPr/>
          <p:nvPr/>
        </p:nvGrpSpPr>
        <p:grpSpPr>
          <a:xfrm>
            <a:off x="6419198" y="2442803"/>
            <a:ext cx="292735" cy="292735"/>
            <a:chOff x="6419164" y="2148840"/>
            <a:chExt cx="292735" cy="292735"/>
          </a:xfrm>
        </p:grpSpPr>
        <p:sp>
          <p:nvSpPr>
            <p:cNvPr id="521" name="Google Shape;521;p14"/>
            <p:cNvSpPr/>
            <p:nvPr/>
          </p:nvSpPr>
          <p:spPr>
            <a:xfrm>
              <a:off x="6419164" y="2148840"/>
              <a:ext cx="292735" cy="292735"/>
            </a:xfrm>
            <a:custGeom>
              <a:rect b="b" l="l" r="r" t="t"/>
              <a:pathLst>
                <a:path extrusionOk="0" h="292735" w="292734">
                  <a:moveTo>
                    <a:pt x="146519" y="0"/>
                  </a:moveTo>
                  <a:lnTo>
                    <a:pt x="108445" y="4859"/>
                  </a:lnTo>
                  <a:lnTo>
                    <a:pt x="73075" y="19443"/>
                  </a:lnTo>
                  <a:lnTo>
                    <a:pt x="42748" y="42749"/>
                  </a:lnTo>
                  <a:lnTo>
                    <a:pt x="19430" y="73075"/>
                  </a:lnTo>
                  <a:lnTo>
                    <a:pt x="4991" y="108405"/>
                  </a:lnTo>
                  <a:lnTo>
                    <a:pt x="0" y="146164"/>
                  </a:lnTo>
                  <a:lnTo>
                    <a:pt x="1264" y="165224"/>
                  </a:lnTo>
                  <a:lnTo>
                    <a:pt x="19430" y="219240"/>
                  </a:lnTo>
                  <a:lnTo>
                    <a:pt x="42748" y="249567"/>
                  </a:lnTo>
                  <a:lnTo>
                    <a:pt x="73075" y="272884"/>
                  </a:lnTo>
                  <a:lnTo>
                    <a:pt x="108445" y="287642"/>
                  </a:lnTo>
                  <a:lnTo>
                    <a:pt x="146519" y="292684"/>
                  </a:lnTo>
                  <a:lnTo>
                    <a:pt x="165580" y="291412"/>
                  </a:lnTo>
                  <a:lnTo>
                    <a:pt x="202357" y="281443"/>
                  </a:lnTo>
                  <a:lnTo>
                    <a:pt x="235567" y="262170"/>
                  </a:lnTo>
                  <a:lnTo>
                    <a:pt x="262526" y="235212"/>
                  </a:lnTo>
                  <a:lnTo>
                    <a:pt x="281591" y="202001"/>
                  </a:lnTo>
                  <a:lnTo>
                    <a:pt x="292671" y="146164"/>
                  </a:lnTo>
                  <a:lnTo>
                    <a:pt x="291407" y="127098"/>
                  </a:lnTo>
                  <a:lnTo>
                    <a:pt x="273240" y="73075"/>
                  </a:lnTo>
                  <a:lnTo>
                    <a:pt x="249923" y="42749"/>
                  </a:lnTo>
                  <a:lnTo>
                    <a:pt x="219595" y="19443"/>
                  </a:lnTo>
                  <a:lnTo>
                    <a:pt x="184272" y="4859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14"/>
            <p:cNvSpPr/>
            <p:nvPr/>
          </p:nvSpPr>
          <p:spPr>
            <a:xfrm>
              <a:off x="6419164" y="2148840"/>
              <a:ext cx="292735" cy="292735"/>
            </a:xfrm>
            <a:custGeom>
              <a:rect b="b" l="l" r="r" t="t"/>
              <a:pathLst>
                <a:path extrusionOk="0" h="292735" w="292734">
                  <a:moveTo>
                    <a:pt x="0" y="146164"/>
                  </a:moveTo>
                  <a:lnTo>
                    <a:pt x="1264" y="127098"/>
                  </a:lnTo>
                  <a:lnTo>
                    <a:pt x="4991" y="108405"/>
                  </a:lnTo>
                  <a:lnTo>
                    <a:pt x="19430" y="73075"/>
                  </a:lnTo>
                  <a:lnTo>
                    <a:pt x="42748" y="42749"/>
                  </a:lnTo>
                  <a:lnTo>
                    <a:pt x="73075" y="19443"/>
                  </a:lnTo>
                  <a:lnTo>
                    <a:pt x="108445" y="4859"/>
                  </a:lnTo>
                  <a:lnTo>
                    <a:pt x="146519" y="0"/>
                  </a:lnTo>
                  <a:lnTo>
                    <a:pt x="202357" y="10935"/>
                  </a:lnTo>
                  <a:lnTo>
                    <a:pt x="235567" y="30150"/>
                  </a:lnTo>
                  <a:lnTo>
                    <a:pt x="262526" y="57103"/>
                  </a:lnTo>
                  <a:lnTo>
                    <a:pt x="281591" y="90319"/>
                  </a:lnTo>
                  <a:lnTo>
                    <a:pt x="292671" y="146164"/>
                  </a:lnTo>
                  <a:lnTo>
                    <a:pt x="291407" y="165224"/>
                  </a:lnTo>
                  <a:lnTo>
                    <a:pt x="287680" y="183916"/>
                  </a:lnTo>
                  <a:lnTo>
                    <a:pt x="273240" y="219240"/>
                  </a:lnTo>
                  <a:lnTo>
                    <a:pt x="249923" y="249567"/>
                  </a:lnTo>
                  <a:lnTo>
                    <a:pt x="219595" y="272884"/>
                  </a:lnTo>
                  <a:lnTo>
                    <a:pt x="184272" y="287642"/>
                  </a:lnTo>
                  <a:lnTo>
                    <a:pt x="146519" y="292684"/>
                  </a:lnTo>
                  <a:lnTo>
                    <a:pt x="108445" y="287642"/>
                  </a:lnTo>
                  <a:lnTo>
                    <a:pt x="73075" y="272884"/>
                  </a:lnTo>
                  <a:lnTo>
                    <a:pt x="42748" y="249567"/>
                  </a:lnTo>
                  <a:lnTo>
                    <a:pt x="19430" y="219240"/>
                  </a:lnTo>
                  <a:lnTo>
                    <a:pt x="4991" y="183916"/>
                  </a:lnTo>
                  <a:lnTo>
                    <a:pt x="1264" y="165224"/>
                  </a:lnTo>
                  <a:lnTo>
                    <a:pt x="0" y="146164"/>
                  </a:lnTo>
                  <a:close/>
                </a:path>
              </a:pathLst>
            </a:custGeom>
            <a:noFill/>
            <a:ln cap="flat" cmpd="sng" w="190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23" name="Google Shape;523;p14"/>
          <p:cNvSpPr txBox="1"/>
          <p:nvPr/>
        </p:nvSpPr>
        <p:spPr>
          <a:xfrm>
            <a:off x="6511747" y="2482060"/>
            <a:ext cx="107314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p14"/>
          <p:cNvSpPr txBox="1"/>
          <p:nvPr/>
        </p:nvSpPr>
        <p:spPr>
          <a:xfrm>
            <a:off x="6889583" y="2310739"/>
            <a:ext cx="4529829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SCADA-backed retraining with real live current-power telemetry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5" name="Google Shape;525;p14"/>
          <p:cNvGrpSpPr/>
          <p:nvPr/>
        </p:nvGrpSpPr>
        <p:grpSpPr>
          <a:xfrm>
            <a:off x="6429007" y="3126422"/>
            <a:ext cx="292735" cy="292735"/>
            <a:chOff x="6419164" y="2861995"/>
            <a:chExt cx="292735" cy="292735"/>
          </a:xfrm>
        </p:grpSpPr>
        <p:sp>
          <p:nvSpPr>
            <p:cNvPr id="526" name="Google Shape;526;p14"/>
            <p:cNvSpPr/>
            <p:nvPr/>
          </p:nvSpPr>
          <p:spPr>
            <a:xfrm>
              <a:off x="6419164" y="2861995"/>
              <a:ext cx="292735" cy="292735"/>
            </a:xfrm>
            <a:custGeom>
              <a:rect b="b" l="l" r="r" t="t"/>
              <a:pathLst>
                <a:path extrusionOk="0" h="292735" w="292734">
                  <a:moveTo>
                    <a:pt x="146519" y="0"/>
                  </a:moveTo>
                  <a:lnTo>
                    <a:pt x="108445" y="4864"/>
                  </a:lnTo>
                  <a:lnTo>
                    <a:pt x="73075" y="19443"/>
                  </a:lnTo>
                  <a:lnTo>
                    <a:pt x="42748" y="42756"/>
                  </a:lnTo>
                  <a:lnTo>
                    <a:pt x="19430" y="73088"/>
                  </a:lnTo>
                  <a:lnTo>
                    <a:pt x="4991" y="108407"/>
                  </a:lnTo>
                  <a:lnTo>
                    <a:pt x="0" y="146164"/>
                  </a:lnTo>
                  <a:lnTo>
                    <a:pt x="1264" y="165229"/>
                  </a:lnTo>
                  <a:lnTo>
                    <a:pt x="19430" y="219240"/>
                  </a:lnTo>
                  <a:lnTo>
                    <a:pt x="42748" y="249572"/>
                  </a:lnTo>
                  <a:lnTo>
                    <a:pt x="73075" y="272884"/>
                  </a:lnTo>
                  <a:lnTo>
                    <a:pt x="108445" y="287642"/>
                  </a:lnTo>
                  <a:lnTo>
                    <a:pt x="146519" y="292684"/>
                  </a:lnTo>
                  <a:lnTo>
                    <a:pt x="165580" y="291412"/>
                  </a:lnTo>
                  <a:lnTo>
                    <a:pt x="202357" y="281443"/>
                  </a:lnTo>
                  <a:lnTo>
                    <a:pt x="235567" y="262172"/>
                  </a:lnTo>
                  <a:lnTo>
                    <a:pt x="262526" y="235217"/>
                  </a:lnTo>
                  <a:lnTo>
                    <a:pt x="281591" y="202003"/>
                  </a:lnTo>
                  <a:lnTo>
                    <a:pt x="292671" y="146164"/>
                  </a:lnTo>
                  <a:lnTo>
                    <a:pt x="291407" y="127098"/>
                  </a:lnTo>
                  <a:lnTo>
                    <a:pt x="273240" y="73088"/>
                  </a:lnTo>
                  <a:lnTo>
                    <a:pt x="249923" y="42756"/>
                  </a:lnTo>
                  <a:lnTo>
                    <a:pt x="219595" y="19443"/>
                  </a:lnTo>
                  <a:lnTo>
                    <a:pt x="184272" y="4864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14"/>
            <p:cNvSpPr/>
            <p:nvPr/>
          </p:nvSpPr>
          <p:spPr>
            <a:xfrm>
              <a:off x="6419164" y="2861995"/>
              <a:ext cx="292735" cy="292735"/>
            </a:xfrm>
            <a:custGeom>
              <a:rect b="b" l="l" r="r" t="t"/>
              <a:pathLst>
                <a:path extrusionOk="0" h="292735" w="292734">
                  <a:moveTo>
                    <a:pt x="0" y="146164"/>
                  </a:moveTo>
                  <a:lnTo>
                    <a:pt x="1264" y="127098"/>
                  </a:lnTo>
                  <a:lnTo>
                    <a:pt x="4991" y="108407"/>
                  </a:lnTo>
                  <a:lnTo>
                    <a:pt x="19430" y="73088"/>
                  </a:lnTo>
                  <a:lnTo>
                    <a:pt x="42748" y="42756"/>
                  </a:lnTo>
                  <a:lnTo>
                    <a:pt x="73075" y="19443"/>
                  </a:lnTo>
                  <a:lnTo>
                    <a:pt x="108445" y="4864"/>
                  </a:lnTo>
                  <a:lnTo>
                    <a:pt x="146519" y="0"/>
                  </a:lnTo>
                  <a:lnTo>
                    <a:pt x="202357" y="10940"/>
                  </a:lnTo>
                  <a:lnTo>
                    <a:pt x="235567" y="30156"/>
                  </a:lnTo>
                  <a:lnTo>
                    <a:pt x="262526" y="57110"/>
                  </a:lnTo>
                  <a:lnTo>
                    <a:pt x="281591" y="90325"/>
                  </a:lnTo>
                  <a:lnTo>
                    <a:pt x="292671" y="146164"/>
                  </a:lnTo>
                  <a:lnTo>
                    <a:pt x="291407" y="165229"/>
                  </a:lnTo>
                  <a:lnTo>
                    <a:pt x="287680" y="183921"/>
                  </a:lnTo>
                  <a:lnTo>
                    <a:pt x="273240" y="219240"/>
                  </a:lnTo>
                  <a:lnTo>
                    <a:pt x="249923" y="249572"/>
                  </a:lnTo>
                  <a:lnTo>
                    <a:pt x="219595" y="272884"/>
                  </a:lnTo>
                  <a:lnTo>
                    <a:pt x="184272" y="287642"/>
                  </a:lnTo>
                  <a:lnTo>
                    <a:pt x="146519" y="292684"/>
                  </a:lnTo>
                  <a:lnTo>
                    <a:pt x="108445" y="287642"/>
                  </a:lnTo>
                  <a:lnTo>
                    <a:pt x="73075" y="272884"/>
                  </a:lnTo>
                  <a:lnTo>
                    <a:pt x="42748" y="249572"/>
                  </a:lnTo>
                  <a:lnTo>
                    <a:pt x="19430" y="219240"/>
                  </a:lnTo>
                  <a:lnTo>
                    <a:pt x="4991" y="183921"/>
                  </a:lnTo>
                  <a:lnTo>
                    <a:pt x="1264" y="165229"/>
                  </a:lnTo>
                  <a:lnTo>
                    <a:pt x="0" y="146164"/>
                  </a:lnTo>
                  <a:close/>
                </a:path>
              </a:pathLst>
            </a:custGeom>
            <a:noFill/>
            <a:ln cap="flat" cmpd="sng" w="190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28" name="Google Shape;528;p14"/>
          <p:cNvSpPr txBox="1"/>
          <p:nvPr/>
        </p:nvSpPr>
        <p:spPr>
          <a:xfrm>
            <a:off x="6539716" y="3152280"/>
            <a:ext cx="11557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9" name="Google Shape;529;p14"/>
          <p:cNvSpPr txBox="1"/>
          <p:nvPr/>
        </p:nvSpPr>
        <p:spPr>
          <a:xfrm>
            <a:off x="6889584" y="3023895"/>
            <a:ext cx="4679798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Actual-vs-forecast monitoring to measure live error and bias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0" name="Google Shape;530;p14"/>
          <p:cNvGrpSpPr/>
          <p:nvPr/>
        </p:nvGrpSpPr>
        <p:grpSpPr>
          <a:xfrm>
            <a:off x="6419164" y="3759333"/>
            <a:ext cx="292735" cy="292735"/>
            <a:chOff x="6419164" y="3575164"/>
            <a:chExt cx="292735" cy="292735"/>
          </a:xfrm>
        </p:grpSpPr>
        <p:sp>
          <p:nvSpPr>
            <p:cNvPr id="531" name="Google Shape;531;p14"/>
            <p:cNvSpPr/>
            <p:nvPr/>
          </p:nvSpPr>
          <p:spPr>
            <a:xfrm>
              <a:off x="6419164" y="3575164"/>
              <a:ext cx="292735" cy="292735"/>
            </a:xfrm>
            <a:custGeom>
              <a:rect b="b" l="l" r="r" t="t"/>
              <a:pathLst>
                <a:path extrusionOk="0" h="292735" w="292734">
                  <a:moveTo>
                    <a:pt x="146519" y="0"/>
                  </a:moveTo>
                  <a:lnTo>
                    <a:pt x="108445" y="4857"/>
                  </a:lnTo>
                  <a:lnTo>
                    <a:pt x="73075" y="19430"/>
                  </a:lnTo>
                  <a:lnTo>
                    <a:pt x="42748" y="42748"/>
                  </a:lnTo>
                  <a:lnTo>
                    <a:pt x="19430" y="73075"/>
                  </a:lnTo>
                  <a:lnTo>
                    <a:pt x="4991" y="108399"/>
                  </a:lnTo>
                  <a:lnTo>
                    <a:pt x="0" y="146151"/>
                  </a:lnTo>
                  <a:lnTo>
                    <a:pt x="1264" y="165217"/>
                  </a:lnTo>
                  <a:lnTo>
                    <a:pt x="19430" y="219240"/>
                  </a:lnTo>
                  <a:lnTo>
                    <a:pt x="42748" y="249566"/>
                  </a:lnTo>
                  <a:lnTo>
                    <a:pt x="73075" y="272872"/>
                  </a:lnTo>
                  <a:lnTo>
                    <a:pt x="108445" y="287634"/>
                  </a:lnTo>
                  <a:lnTo>
                    <a:pt x="146519" y="292671"/>
                  </a:lnTo>
                  <a:lnTo>
                    <a:pt x="165580" y="291401"/>
                  </a:lnTo>
                  <a:lnTo>
                    <a:pt x="202357" y="281436"/>
                  </a:lnTo>
                  <a:lnTo>
                    <a:pt x="235567" y="262165"/>
                  </a:lnTo>
                  <a:lnTo>
                    <a:pt x="262526" y="235212"/>
                  </a:lnTo>
                  <a:lnTo>
                    <a:pt x="281591" y="201996"/>
                  </a:lnTo>
                  <a:lnTo>
                    <a:pt x="292671" y="146151"/>
                  </a:lnTo>
                  <a:lnTo>
                    <a:pt x="291407" y="127091"/>
                  </a:lnTo>
                  <a:lnTo>
                    <a:pt x="273240" y="73075"/>
                  </a:lnTo>
                  <a:lnTo>
                    <a:pt x="249923" y="42748"/>
                  </a:lnTo>
                  <a:lnTo>
                    <a:pt x="219595" y="19430"/>
                  </a:lnTo>
                  <a:lnTo>
                    <a:pt x="184272" y="4857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2" name="Google Shape;532;p14"/>
            <p:cNvSpPr/>
            <p:nvPr/>
          </p:nvSpPr>
          <p:spPr>
            <a:xfrm>
              <a:off x="6419164" y="3575164"/>
              <a:ext cx="292735" cy="292735"/>
            </a:xfrm>
            <a:custGeom>
              <a:rect b="b" l="l" r="r" t="t"/>
              <a:pathLst>
                <a:path extrusionOk="0" h="292735" w="292734">
                  <a:moveTo>
                    <a:pt x="0" y="146151"/>
                  </a:moveTo>
                  <a:lnTo>
                    <a:pt x="1264" y="127091"/>
                  </a:lnTo>
                  <a:lnTo>
                    <a:pt x="4991" y="108399"/>
                  </a:lnTo>
                  <a:lnTo>
                    <a:pt x="19430" y="73075"/>
                  </a:lnTo>
                  <a:lnTo>
                    <a:pt x="42748" y="42748"/>
                  </a:lnTo>
                  <a:lnTo>
                    <a:pt x="73075" y="19430"/>
                  </a:lnTo>
                  <a:lnTo>
                    <a:pt x="108445" y="4857"/>
                  </a:lnTo>
                  <a:lnTo>
                    <a:pt x="146519" y="0"/>
                  </a:lnTo>
                  <a:lnTo>
                    <a:pt x="202357" y="10929"/>
                  </a:lnTo>
                  <a:lnTo>
                    <a:pt x="235567" y="30145"/>
                  </a:lnTo>
                  <a:lnTo>
                    <a:pt x="262526" y="57103"/>
                  </a:lnTo>
                  <a:lnTo>
                    <a:pt x="281591" y="90314"/>
                  </a:lnTo>
                  <a:lnTo>
                    <a:pt x="292671" y="146151"/>
                  </a:lnTo>
                  <a:lnTo>
                    <a:pt x="291407" y="165217"/>
                  </a:lnTo>
                  <a:lnTo>
                    <a:pt x="287680" y="183910"/>
                  </a:lnTo>
                  <a:lnTo>
                    <a:pt x="273240" y="219240"/>
                  </a:lnTo>
                  <a:lnTo>
                    <a:pt x="249923" y="249566"/>
                  </a:lnTo>
                  <a:lnTo>
                    <a:pt x="219595" y="272872"/>
                  </a:lnTo>
                  <a:lnTo>
                    <a:pt x="184272" y="287634"/>
                  </a:lnTo>
                  <a:lnTo>
                    <a:pt x="146519" y="292671"/>
                  </a:lnTo>
                  <a:lnTo>
                    <a:pt x="108445" y="287634"/>
                  </a:lnTo>
                  <a:lnTo>
                    <a:pt x="73075" y="272872"/>
                  </a:lnTo>
                  <a:lnTo>
                    <a:pt x="42748" y="249566"/>
                  </a:lnTo>
                  <a:lnTo>
                    <a:pt x="19430" y="219240"/>
                  </a:lnTo>
                  <a:lnTo>
                    <a:pt x="4991" y="183910"/>
                  </a:lnTo>
                  <a:lnTo>
                    <a:pt x="1264" y="165217"/>
                  </a:lnTo>
                  <a:lnTo>
                    <a:pt x="0" y="146151"/>
                  </a:lnTo>
                  <a:close/>
                </a:path>
              </a:pathLst>
            </a:custGeom>
            <a:noFill/>
            <a:ln cap="flat" cmpd="sng" w="190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33" name="Google Shape;533;p14"/>
          <p:cNvSpPr txBox="1"/>
          <p:nvPr/>
        </p:nvSpPr>
        <p:spPr>
          <a:xfrm>
            <a:off x="6517271" y="3765201"/>
            <a:ext cx="1162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p14"/>
          <p:cNvSpPr txBox="1"/>
          <p:nvPr/>
        </p:nvSpPr>
        <p:spPr>
          <a:xfrm>
            <a:off x="6889584" y="3641661"/>
            <a:ext cx="4529828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Weather-context explanations (irradiance, cloud cover, sunrise/sunset)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5" name="Google Shape;535;p14"/>
          <p:cNvGrpSpPr/>
          <p:nvPr/>
        </p:nvGrpSpPr>
        <p:grpSpPr>
          <a:xfrm>
            <a:off x="6451134" y="4544726"/>
            <a:ext cx="292735" cy="292735"/>
            <a:chOff x="6419164" y="4288675"/>
            <a:chExt cx="292735" cy="292735"/>
          </a:xfrm>
        </p:grpSpPr>
        <p:sp>
          <p:nvSpPr>
            <p:cNvPr id="536" name="Google Shape;536;p14"/>
            <p:cNvSpPr/>
            <p:nvPr/>
          </p:nvSpPr>
          <p:spPr>
            <a:xfrm>
              <a:off x="6419164" y="4288675"/>
              <a:ext cx="292735" cy="292735"/>
            </a:xfrm>
            <a:custGeom>
              <a:rect b="b" l="l" r="r" t="t"/>
              <a:pathLst>
                <a:path extrusionOk="0" h="292735" w="292734">
                  <a:moveTo>
                    <a:pt x="146519" y="0"/>
                  </a:moveTo>
                  <a:lnTo>
                    <a:pt x="108445" y="4864"/>
                  </a:lnTo>
                  <a:lnTo>
                    <a:pt x="73075" y="19443"/>
                  </a:lnTo>
                  <a:lnTo>
                    <a:pt x="42748" y="42756"/>
                  </a:lnTo>
                  <a:lnTo>
                    <a:pt x="19430" y="73088"/>
                  </a:lnTo>
                  <a:lnTo>
                    <a:pt x="4991" y="108407"/>
                  </a:lnTo>
                  <a:lnTo>
                    <a:pt x="0" y="146164"/>
                  </a:lnTo>
                  <a:lnTo>
                    <a:pt x="1264" y="165229"/>
                  </a:lnTo>
                  <a:lnTo>
                    <a:pt x="19430" y="219240"/>
                  </a:lnTo>
                  <a:lnTo>
                    <a:pt x="42748" y="249572"/>
                  </a:lnTo>
                  <a:lnTo>
                    <a:pt x="73075" y="272884"/>
                  </a:lnTo>
                  <a:lnTo>
                    <a:pt x="108445" y="287642"/>
                  </a:lnTo>
                  <a:lnTo>
                    <a:pt x="146519" y="292684"/>
                  </a:lnTo>
                  <a:lnTo>
                    <a:pt x="165580" y="291412"/>
                  </a:lnTo>
                  <a:lnTo>
                    <a:pt x="202357" y="281443"/>
                  </a:lnTo>
                  <a:lnTo>
                    <a:pt x="235567" y="262172"/>
                  </a:lnTo>
                  <a:lnTo>
                    <a:pt x="262526" y="235217"/>
                  </a:lnTo>
                  <a:lnTo>
                    <a:pt x="281591" y="202003"/>
                  </a:lnTo>
                  <a:lnTo>
                    <a:pt x="292671" y="146164"/>
                  </a:lnTo>
                  <a:lnTo>
                    <a:pt x="291407" y="127098"/>
                  </a:lnTo>
                  <a:lnTo>
                    <a:pt x="273240" y="73088"/>
                  </a:lnTo>
                  <a:lnTo>
                    <a:pt x="249923" y="42756"/>
                  </a:lnTo>
                  <a:lnTo>
                    <a:pt x="219595" y="19443"/>
                  </a:lnTo>
                  <a:lnTo>
                    <a:pt x="184272" y="4864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7" name="Google Shape;537;p14"/>
            <p:cNvSpPr/>
            <p:nvPr/>
          </p:nvSpPr>
          <p:spPr>
            <a:xfrm>
              <a:off x="6419164" y="4288675"/>
              <a:ext cx="292735" cy="292735"/>
            </a:xfrm>
            <a:custGeom>
              <a:rect b="b" l="l" r="r" t="t"/>
              <a:pathLst>
                <a:path extrusionOk="0" h="292735" w="292734">
                  <a:moveTo>
                    <a:pt x="0" y="146164"/>
                  </a:moveTo>
                  <a:lnTo>
                    <a:pt x="1264" y="127098"/>
                  </a:lnTo>
                  <a:lnTo>
                    <a:pt x="4991" y="108407"/>
                  </a:lnTo>
                  <a:lnTo>
                    <a:pt x="19430" y="73088"/>
                  </a:lnTo>
                  <a:lnTo>
                    <a:pt x="42748" y="42756"/>
                  </a:lnTo>
                  <a:lnTo>
                    <a:pt x="73075" y="19443"/>
                  </a:lnTo>
                  <a:lnTo>
                    <a:pt x="108445" y="4864"/>
                  </a:lnTo>
                  <a:lnTo>
                    <a:pt x="146519" y="0"/>
                  </a:lnTo>
                  <a:lnTo>
                    <a:pt x="202357" y="10940"/>
                  </a:lnTo>
                  <a:lnTo>
                    <a:pt x="235567" y="30156"/>
                  </a:lnTo>
                  <a:lnTo>
                    <a:pt x="262526" y="57110"/>
                  </a:lnTo>
                  <a:lnTo>
                    <a:pt x="281591" y="90325"/>
                  </a:lnTo>
                  <a:lnTo>
                    <a:pt x="292671" y="146164"/>
                  </a:lnTo>
                  <a:lnTo>
                    <a:pt x="291407" y="165229"/>
                  </a:lnTo>
                  <a:lnTo>
                    <a:pt x="287680" y="183921"/>
                  </a:lnTo>
                  <a:lnTo>
                    <a:pt x="273240" y="219240"/>
                  </a:lnTo>
                  <a:lnTo>
                    <a:pt x="249923" y="249572"/>
                  </a:lnTo>
                  <a:lnTo>
                    <a:pt x="219595" y="272884"/>
                  </a:lnTo>
                  <a:lnTo>
                    <a:pt x="184272" y="287642"/>
                  </a:lnTo>
                  <a:lnTo>
                    <a:pt x="146519" y="292684"/>
                  </a:lnTo>
                  <a:lnTo>
                    <a:pt x="108445" y="287642"/>
                  </a:lnTo>
                  <a:lnTo>
                    <a:pt x="73075" y="272884"/>
                  </a:lnTo>
                  <a:lnTo>
                    <a:pt x="42748" y="249572"/>
                  </a:lnTo>
                  <a:lnTo>
                    <a:pt x="19430" y="219240"/>
                  </a:lnTo>
                  <a:lnTo>
                    <a:pt x="4991" y="183921"/>
                  </a:lnTo>
                  <a:lnTo>
                    <a:pt x="1264" y="165229"/>
                  </a:lnTo>
                  <a:lnTo>
                    <a:pt x="0" y="146164"/>
                  </a:lnTo>
                  <a:close/>
                </a:path>
              </a:pathLst>
            </a:custGeom>
            <a:noFill/>
            <a:ln cap="flat" cmpd="sng" w="190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38" name="Google Shape;538;p14"/>
          <p:cNvSpPr txBox="1"/>
          <p:nvPr/>
        </p:nvSpPr>
        <p:spPr>
          <a:xfrm>
            <a:off x="6523805" y="4551266"/>
            <a:ext cx="12382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9" name="Google Shape;539;p14"/>
          <p:cNvSpPr txBox="1"/>
          <p:nvPr/>
        </p:nvSpPr>
        <p:spPr>
          <a:xfrm>
            <a:off x="6889584" y="4450219"/>
            <a:ext cx="4722940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Multi-site generalization across plants and renewable types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0" name="Google Shape;540;p14"/>
          <p:cNvGrpSpPr/>
          <p:nvPr/>
        </p:nvGrpSpPr>
        <p:grpSpPr>
          <a:xfrm>
            <a:off x="6451148" y="5264799"/>
            <a:ext cx="292735" cy="292735"/>
            <a:chOff x="6419164" y="5001844"/>
            <a:chExt cx="292735" cy="292735"/>
          </a:xfrm>
        </p:grpSpPr>
        <p:sp>
          <p:nvSpPr>
            <p:cNvPr id="541" name="Google Shape;541;p14"/>
            <p:cNvSpPr/>
            <p:nvPr/>
          </p:nvSpPr>
          <p:spPr>
            <a:xfrm>
              <a:off x="6419164" y="5001844"/>
              <a:ext cx="292735" cy="292735"/>
            </a:xfrm>
            <a:custGeom>
              <a:rect b="b" l="l" r="r" t="t"/>
              <a:pathLst>
                <a:path extrusionOk="0" h="292735" w="292734">
                  <a:moveTo>
                    <a:pt x="146519" y="0"/>
                  </a:moveTo>
                  <a:lnTo>
                    <a:pt x="108445" y="4857"/>
                  </a:lnTo>
                  <a:lnTo>
                    <a:pt x="73075" y="19431"/>
                  </a:lnTo>
                  <a:lnTo>
                    <a:pt x="42748" y="42748"/>
                  </a:lnTo>
                  <a:lnTo>
                    <a:pt x="19430" y="73075"/>
                  </a:lnTo>
                  <a:lnTo>
                    <a:pt x="4991" y="108399"/>
                  </a:lnTo>
                  <a:lnTo>
                    <a:pt x="0" y="146151"/>
                  </a:lnTo>
                  <a:lnTo>
                    <a:pt x="1264" y="165217"/>
                  </a:lnTo>
                  <a:lnTo>
                    <a:pt x="19430" y="219240"/>
                  </a:lnTo>
                  <a:lnTo>
                    <a:pt x="42748" y="249566"/>
                  </a:lnTo>
                  <a:lnTo>
                    <a:pt x="73075" y="272872"/>
                  </a:lnTo>
                  <a:lnTo>
                    <a:pt x="108445" y="287634"/>
                  </a:lnTo>
                  <a:lnTo>
                    <a:pt x="146519" y="292671"/>
                  </a:lnTo>
                  <a:lnTo>
                    <a:pt x="165580" y="291401"/>
                  </a:lnTo>
                  <a:lnTo>
                    <a:pt x="202357" y="281436"/>
                  </a:lnTo>
                  <a:lnTo>
                    <a:pt x="235567" y="262165"/>
                  </a:lnTo>
                  <a:lnTo>
                    <a:pt x="262526" y="235212"/>
                  </a:lnTo>
                  <a:lnTo>
                    <a:pt x="281591" y="201996"/>
                  </a:lnTo>
                  <a:lnTo>
                    <a:pt x="292671" y="146151"/>
                  </a:lnTo>
                  <a:lnTo>
                    <a:pt x="291407" y="127091"/>
                  </a:lnTo>
                  <a:lnTo>
                    <a:pt x="273240" y="73075"/>
                  </a:lnTo>
                  <a:lnTo>
                    <a:pt x="249923" y="42748"/>
                  </a:lnTo>
                  <a:lnTo>
                    <a:pt x="219595" y="19431"/>
                  </a:lnTo>
                  <a:lnTo>
                    <a:pt x="184272" y="4857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1923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14"/>
            <p:cNvSpPr/>
            <p:nvPr/>
          </p:nvSpPr>
          <p:spPr>
            <a:xfrm>
              <a:off x="6419164" y="5001844"/>
              <a:ext cx="292735" cy="292735"/>
            </a:xfrm>
            <a:custGeom>
              <a:rect b="b" l="l" r="r" t="t"/>
              <a:pathLst>
                <a:path extrusionOk="0" h="292735" w="292734">
                  <a:moveTo>
                    <a:pt x="0" y="146151"/>
                  </a:moveTo>
                  <a:lnTo>
                    <a:pt x="1264" y="127091"/>
                  </a:lnTo>
                  <a:lnTo>
                    <a:pt x="4991" y="108399"/>
                  </a:lnTo>
                  <a:lnTo>
                    <a:pt x="19430" y="73075"/>
                  </a:lnTo>
                  <a:lnTo>
                    <a:pt x="42748" y="42748"/>
                  </a:lnTo>
                  <a:lnTo>
                    <a:pt x="73075" y="19431"/>
                  </a:lnTo>
                  <a:lnTo>
                    <a:pt x="108445" y="4857"/>
                  </a:lnTo>
                  <a:lnTo>
                    <a:pt x="146519" y="0"/>
                  </a:lnTo>
                  <a:lnTo>
                    <a:pt x="202357" y="10929"/>
                  </a:lnTo>
                  <a:lnTo>
                    <a:pt x="235567" y="30145"/>
                  </a:lnTo>
                  <a:lnTo>
                    <a:pt x="262526" y="57103"/>
                  </a:lnTo>
                  <a:lnTo>
                    <a:pt x="281591" y="90314"/>
                  </a:lnTo>
                  <a:lnTo>
                    <a:pt x="292671" y="146151"/>
                  </a:lnTo>
                  <a:lnTo>
                    <a:pt x="291407" y="165217"/>
                  </a:lnTo>
                  <a:lnTo>
                    <a:pt x="287680" y="183910"/>
                  </a:lnTo>
                  <a:lnTo>
                    <a:pt x="273240" y="219240"/>
                  </a:lnTo>
                  <a:lnTo>
                    <a:pt x="249923" y="249566"/>
                  </a:lnTo>
                  <a:lnTo>
                    <a:pt x="219595" y="272872"/>
                  </a:lnTo>
                  <a:lnTo>
                    <a:pt x="184272" y="287634"/>
                  </a:lnTo>
                  <a:lnTo>
                    <a:pt x="146519" y="292671"/>
                  </a:lnTo>
                  <a:lnTo>
                    <a:pt x="108445" y="287634"/>
                  </a:lnTo>
                  <a:lnTo>
                    <a:pt x="73075" y="272872"/>
                  </a:lnTo>
                  <a:lnTo>
                    <a:pt x="42748" y="249566"/>
                  </a:lnTo>
                  <a:lnTo>
                    <a:pt x="19430" y="219240"/>
                  </a:lnTo>
                  <a:lnTo>
                    <a:pt x="4991" y="183910"/>
                  </a:lnTo>
                  <a:lnTo>
                    <a:pt x="1264" y="165217"/>
                  </a:lnTo>
                  <a:lnTo>
                    <a:pt x="0" y="146151"/>
                  </a:lnTo>
                  <a:close/>
                </a:path>
              </a:pathLst>
            </a:custGeom>
            <a:noFill/>
            <a:ln cap="flat" cmpd="sng" w="19075">
              <a:solidFill>
                <a:srgbClr val="3EBE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43" name="Google Shape;543;p14"/>
          <p:cNvSpPr txBox="1"/>
          <p:nvPr/>
        </p:nvSpPr>
        <p:spPr>
          <a:xfrm>
            <a:off x="6550148" y="5286574"/>
            <a:ext cx="11811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3EBE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4" name="Google Shape;544;p14"/>
          <p:cNvSpPr txBox="1"/>
          <p:nvPr>
            <p:ph idx="12" type="sldNum"/>
          </p:nvPr>
        </p:nvSpPr>
        <p:spPr>
          <a:xfrm>
            <a:off x="11569382" y="6500390"/>
            <a:ext cx="21780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5" name="Google Shape;545;p14"/>
          <p:cNvSpPr txBox="1"/>
          <p:nvPr/>
        </p:nvSpPr>
        <p:spPr>
          <a:xfrm>
            <a:off x="6889583" y="5163730"/>
            <a:ext cx="4679797" cy="505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CF0F4"/>
                </a:solidFill>
                <a:latin typeface="Calibri"/>
                <a:ea typeface="Calibri"/>
                <a:cs typeface="Calibri"/>
                <a:sym typeface="Calibri"/>
              </a:rPr>
              <a:t>Storage, market, and demand integration with scheduled retraining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15"/>
          <p:cNvGrpSpPr/>
          <p:nvPr/>
        </p:nvGrpSpPr>
        <p:grpSpPr>
          <a:xfrm>
            <a:off x="1234084" y="959764"/>
            <a:ext cx="1188720" cy="1188720"/>
            <a:chOff x="1234084" y="959764"/>
            <a:chExt cx="1188720" cy="1188720"/>
          </a:xfrm>
        </p:grpSpPr>
        <p:sp>
          <p:nvSpPr>
            <p:cNvPr id="551" name="Google Shape;551;p15"/>
            <p:cNvSpPr/>
            <p:nvPr/>
          </p:nvSpPr>
          <p:spPr>
            <a:xfrm>
              <a:off x="1234084" y="959764"/>
              <a:ext cx="1188720" cy="1188720"/>
            </a:xfrm>
            <a:custGeom>
              <a:rect b="b" l="l" r="r" t="t"/>
              <a:pathLst>
                <a:path extrusionOk="0" h="1188720" w="1188720">
                  <a:moveTo>
                    <a:pt x="0" y="594360"/>
                  </a:moveTo>
                  <a:lnTo>
                    <a:pt x="2268" y="542356"/>
                  </a:lnTo>
                  <a:lnTo>
                    <a:pt x="9025" y="490954"/>
                  </a:lnTo>
                  <a:lnTo>
                    <a:pt x="20202" y="440453"/>
                  </a:lnTo>
                  <a:lnTo>
                    <a:pt x="35729" y="391153"/>
                  </a:lnTo>
                  <a:lnTo>
                    <a:pt x="55536" y="343354"/>
                  </a:lnTo>
                  <a:lnTo>
                    <a:pt x="79552" y="297357"/>
                  </a:lnTo>
                  <a:lnTo>
                    <a:pt x="107533" y="253473"/>
                  </a:lnTo>
                  <a:lnTo>
                    <a:pt x="139125" y="212328"/>
                  </a:lnTo>
                  <a:lnTo>
                    <a:pt x="174097" y="174143"/>
                  </a:lnTo>
                  <a:lnTo>
                    <a:pt x="212219" y="139139"/>
                  </a:lnTo>
                  <a:lnTo>
                    <a:pt x="253260" y="107535"/>
                  </a:lnTo>
                  <a:lnTo>
                    <a:pt x="296989" y="79552"/>
                  </a:lnTo>
                  <a:lnTo>
                    <a:pt x="343141" y="55536"/>
                  </a:lnTo>
                  <a:lnTo>
                    <a:pt x="391044" y="35729"/>
                  </a:lnTo>
                  <a:lnTo>
                    <a:pt x="440407" y="20202"/>
                  </a:lnTo>
                  <a:lnTo>
                    <a:pt x="490941" y="9025"/>
                  </a:lnTo>
                  <a:lnTo>
                    <a:pt x="542355" y="2268"/>
                  </a:lnTo>
                  <a:lnTo>
                    <a:pt x="594360" y="0"/>
                  </a:lnTo>
                  <a:lnTo>
                    <a:pt x="646357" y="2268"/>
                  </a:lnTo>
                  <a:lnTo>
                    <a:pt x="697756" y="9025"/>
                  </a:lnTo>
                  <a:lnTo>
                    <a:pt x="748255" y="20202"/>
                  </a:lnTo>
                  <a:lnTo>
                    <a:pt x="797554" y="35729"/>
                  </a:lnTo>
                  <a:lnTo>
                    <a:pt x="845352" y="55536"/>
                  </a:lnTo>
                  <a:lnTo>
                    <a:pt x="891349" y="79552"/>
                  </a:lnTo>
                  <a:lnTo>
                    <a:pt x="935233" y="107533"/>
                  </a:lnTo>
                  <a:lnTo>
                    <a:pt x="976378" y="139125"/>
                  </a:lnTo>
                  <a:lnTo>
                    <a:pt x="1014563" y="174097"/>
                  </a:lnTo>
                  <a:lnTo>
                    <a:pt x="1049567" y="212219"/>
                  </a:lnTo>
                  <a:lnTo>
                    <a:pt x="1081171" y="253260"/>
                  </a:lnTo>
                  <a:lnTo>
                    <a:pt x="1109154" y="296989"/>
                  </a:lnTo>
                  <a:lnTo>
                    <a:pt x="1133172" y="343141"/>
                  </a:lnTo>
                  <a:lnTo>
                    <a:pt x="1152981" y="391044"/>
                  </a:lnTo>
                  <a:lnTo>
                    <a:pt x="1168511" y="440407"/>
                  </a:lnTo>
                  <a:lnTo>
                    <a:pt x="1179691" y="490941"/>
                  </a:lnTo>
                  <a:lnTo>
                    <a:pt x="1186451" y="542355"/>
                  </a:lnTo>
                  <a:lnTo>
                    <a:pt x="1188720" y="594360"/>
                  </a:lnTo>
                  <a:lnTo>
                    <a:pt x="1186451" y="646357"/>
                  </a:lnTo>
                  <a:lnTo>
                    <a:pt x="1179691" y="697756"/>
                  </a:lnTo>
                  <a:lnTo>
                    <a:pt x="1168511" y="748255"/>
                  </a:lnTo>
                  <a:lnTo>
                    <a:pt x="1152981" y="797554"/>
                  </a:lnTo>
                  <a:lnTo>
                    <a:pt x="1133172" y="845352"/>
                  </a:lnTo>
                  <a:lnTo>
                    <a:pt x="1109154" y="891349"/>
                  </a:lnTo>
                  <a:lnTo>
                    <a:pt x="1081171" y="935233"/>
                  </a:lnTo>
                  <a:lnTo>
                    <a:pt x="1049567" y="976378"/>
                  </a:lnTo>
                  <a:lnTo>
                    <a:pt x="1014563" y="1014563"/>
                  </a:lnTo>
                  <a:lnTo>
                    <a:pt x="976378" y="1049567"/>
                  </a:lnTo>
                  <a:lnTo>
                    <a:pt x="935233" y="1081171"/>
                  </a:lnTo>
                  <a:lnTo>
                    <a:pt x="891349" y="1109154"/>
                  </a:lnTo>
                  <a:lnTo>
                    <a:pt x="845352" y="1133172"/>
                  </a:lnTo>
                  <a:lnTo>
                    <a:pt x="797554" y="1152981"/>
                  </a:lnTo>
                  <a:lnTo>
                    <a:pt x="748255" y="1168511"/>
                  </a:lnTo>
                  <a:lnTo>
                    <a:pt x="697756" y="1179691"/>
                  </a:lnTo>
                  <a:lnTo>
                    <a:pt x="646357" y="1186451"/>
                  </a:lnTo>
                  <a:lnTo>
                    <a:pt x="594360" y="1188720"/>
                  </a:lnTo>
                  <a:lnTo>
                    <a:pt x="542355" y="1186451"/>
                  </a:lnTo>
                  <a:lnTo>
                    <a:pt x="490941" y="1179691"/>
                  </a:lnTo>
                  <a:lnTo>
                    <a:pt x="440407" y="1168511"/>
                  </a:lnTo>
                  <a:lnTo>
                    <a:pt x="391044" y="1152981"/>
                  </a:lnTo>
                  <a:lnTo>
                    <a:pt x="343141" y="1133172"/>
                  </a:lnTo>
                  <a:lnTo>
                    <a:pt x="296989" y="1109154"/>
                  </a:lnTo>
                  <a:lnTo>
                    <a:pt x="253260" y="1081171"/>
                  </a:lnTo>
                  <a:lnTo>
                    <a:pt x="212219" y="1049567"/>
                  </a:lnTo>
                  <a:lnTo>
                    <a:pt x="174097" y="1014563"/>
                  </a:lnTo>
                  <a:lnTo>
                    <a:pt x="139125" y="976378"/>
                  </a:lnTo>
                  <a:lnTo>
                    <a:pt x="107533" y="935233"/>
                  </a:lnTo>
                  <a:lnTo>
                    <a:pt x="79552" y="891349"/>
                  </a:lnTo>
                  <a:lnTo>
                    <a:pt x="55536" y="845352"/>
                  </a:lnTo>
                  <a:lnTo>
                    <a:pt x="35729" y="797554"/>
                  </a:lnTo>
                  <a:lnTo>
                    <a:pt x="20202" y="748255"/>
                  </a:lnTo>
                  <a:lnTo>
                    <a:pt x="9025" y="697756"/>
                  </a:lnTo>
                  <a:lnTo>
                    <a:pt x="2268" y="646357"/>
                  </a:lnTo>
                  <a:lnTo>
                    <a:pt x="0" y="594360"/>
                  </a:lnTo>
                  <a:close/>
                </a:path>
              </a:pathLst>
            </a:custGeom>
            <a:noFill/>
            <a:ln cap="flat" cmpd="sng" w="15825">
              <a:solidFill>
                <a:srgbClr val="E7A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2" name="Google Shape;552;p15"/>
            <p:cNvSpPr/>
            <p:nvPr/>
          </p:nvSpPr>
          <p:spPr>
            <a:xfrm>
              <a:off x="1394637" y="1120317"/>
              <a:ext cx="868680" cy="868680"/>
            </a:xfrm>
            <a:custGeom>
              <a:rect b="b" l="l" r="r" t="t"/>
              <a:pathLst>
                <a:path extrusionOk="0" h="868680" w="868680">
                  <a:moveTo>
                    <a:pt x="0" y="434162"/>
                  </a:moveTo>
                  <a:lnTo>
                    <a:pt x="2402" y="388605"/>
                  </a:lnTo>
                  <a:lnTo>
                    <a:pt x="9540" y="343753"/>
                  </a:lnTo>
                  <a:lnTo>
                    <a:pt x="21309" y="299973"/>
                  </a:lnTo>
                  <a:lnTo>
                    <a:pt x="37603" y="257627"/>
                  </a:lnTo>
                  <a:lnTo>
                    <a:pt x="58318" y="217081"/>
                  </a:lnTo>
                  <a:lnTo>
                    <a:pt x="83160" y="178759"/>
                  </a:lnTo>
                  <a:lnTo>
                    <a:pt x="111717" y="143445"/>
                  </a:lnTo>
                  <a:lnTo>
                    <a:pt x="143729" y="111381"/>
                  </a:lnTo>
                  <a:lnTo>
                    <a:pt x="178937" y="82806"/>
                  </a:lnTo>
                  <a:lnTo>
                    <a:pt x="217081" y="57962"/>
                  </a:lnTo>
                  <a:lnTo>
                    <a:pt x="257805" y="37279"/>
                  </a:lnTo>
                  <a:lnTo>
                    <a:pt x="300257" y="21073"/>
                  </a:lnTo>
                  <a:lnTo>
                    <a:pt x="344090" y="9411"/>
                  </a:lnTo>
                  <a:lnTo>
                    <a:pt x="388959" y="2364"/>
                  </a:lnTo>
                  <a:lnTo>
                    <a:pt x="434517" y="0"/>
                  </a:lnTo>
                  <a:lnTo>
                    <a:pt x="479904" y="2364"/>
                  </a:lnTo>
                  <a:lnTo>
                    <a:pt x="524670" y="9411"/>
                  </a:lnTo>
                  <a:lnTo>
                    <a:pt x="568450" y="21073"/>
                  </a:lnTo>
                  <a:lnTo>
                    <a:pt x="610881" y="37279"/>
                  </a:lnTo>
                  <a:lnTo>
                    <a:pt x="651598" y="57962"/>
                  </a:lnTo>
                  <a:lnTo>
                    <a:pt x="689747" y="82806"/>
                  </a:lnTo>
                  <a:lnTo>
                    <a:pt x="724955" y="111381"/>
                  </a:lnTo>
                  <a:lnTo>
                    <a:pt x="756966" y="143445"/>
                  </a:lnTo>
                  <a:lnTo>
                    <a:pt x="785520" y="178759"/>
                  </a:lnTo>
                  <a:lnTo>
                    <a:pt x="810361" y="217081"/>
                  </a:lnTo>
                  <a:lnTo>
                    <a:pt x="831081" y="257627"/>
                  </a:lnTo>
                  <a:lnTo>
                    <a:pt x="847376" y="299973"/>
                  </a:lnTo>
                  <a:lnTo>
                    <a:pt x="859143" y="343753"/>
                  </a:lnTo>
                  <a:lnTo>
                    <a:pt x="866278" y="388605"/>
                  </a:lnTo>
                  <a:lnTo>
                    <a:pt x="868680" y="434162"/>
                  </a:lnTo>
                  <a:lnTo>
                    <a:pt x="866278" y="479719"/>
                  </a:lnTo>
                  <a:lnTo>
                    <a:pt x="859143" y="524570"/>
                  </a:lnTo>
                  <a:lnTo>
                    <a:pt x="847376" y="568351"/>
                  </a:lnTo>
                  <a:lnTo>
                    <a:pt x="831081" y="610697"/>
                  </a:lnTo>
                  <a:lnTo>
                    <a:pt x="810361" y="651243"/>
                  </a:lnTo>
                  <a:lnTo>
                    <a:pt x="785520" y="689565"/>
                  </a:lnTo>
                  <a:lnTo>
                    <a:pt x="756966" y="724878"/>
                  </a:lnTo>
                  <a:lnTo>
                    <a:pt x="724955" y="756943"/>
                  </a:lnTo>
                  <a:lnTo>
                    <a:pt x="689747" y="785517"/>
                  </a:lnTo>
                  <a:lnTo>
                    <a:pt x="651598" y="810361"/>
                  </a:lnTo>
                  <a:lnTo>
                    <a:pt x="610881" y="831081"/>
                  </a:lnTo>
                  <a:lnTo>
                    <a:pt x="568450" y="847376"/>
                  </a:lnTo>
                  <a:lnTo>
                    <a:pt x="524670" y="859143"/>
                  </a:lnTo>
                  <a:lnTo>
                    <a:pt x="479904" y="866278"/>
                  </a:lnTo>
                  <a:lnTo>
                    <a:pt x="434517" y="868679"/>
                  </a:lnTo>
                  <a:lnTo>
                    <a:pt x="388959" y="866278"/>
                  </a:lnTo>
                  <a:lnTo>
                    <a:pt x="344090" y="859143"/>
                  </a:lnTo>
                  <a:lnTo>
                    <a:pt x="300257" y="847376"/>
                  </a:lnTo>
                  <a:lnTo>
                    <a:pt x="257805" y="831081"/>
                  </a:lnTo>
                  <a:lnTo>
                    <a:pt x="217081" y="810361"/>
                  </a:lnTo>
                  <a:lnTo>
                    <a:pt x="178937" y="785517"/>
                  </a:lnTo>
                  <a:lnTo>
                    <a:pt x="143729" y="756943"/>
                  </a:lnTo>
                  <a:lnTo>
                    <a:pt x="111717" y="724878"/>
                  </a:lnTo>
                  <a:lnTo>
                    <a:pt x="83160" y="689565"/>
                  </a:lnTo>
                  <a:lnTo>
                    <a:pt x="58318" y="651243"/>
                  </a:lnTo>
                  <a:lnTo>
                    <a:pt x="37603" y="610697"/>
                  </a:lnTo>
                  <a:lnTo>
                    <a:pt x="21309" y="568351"/>
                  </a:lnTo>
                  <a:lnTo>
                    <a:pt x="9540" y="524570"/>
                  </a:lnTo>
                  <a:lnTo>
                    <a:pt x="2402" y="479719"/>
                  </a:lnTo>
                  <a:lnTo>
                    <a:pt x="0" y="434162"/>
                  </a:lnTo>
                  <a:close/>
                </a:path>
              </a:pathLst>
            </a:custGeom>
            <a:noFill/>
            <a:ln cap="flat" cmpd="sng" w="15825">
              <a:solidFill>
                <a:srgbClr val="E7A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3" name="Google Shape;553;p15"/>
            <p:cNvSpPr/>
            <p:nvPr/>
          </p:nvSpPr>
          <p:spPr>
            <a:xfrm>
              <a:off x="1645564" y="1371244"/>
              <a:ext cx="365760" cy="365760"/>
            </a:xfrm>
            <a:custGeom>
              <a:rect b="b" l="l" r="r" t="t"/>
              <a:pathLst>
                <a:path extrusionOk="0" h="365760" w="365760">
                  <a:moveTo>
                    <a:pt x="182880" y="0"/>
                  </a:moveTo>
                  <a:lnTo>
                    <a:pt x="135535" y="6164"/>
                  </a:lnTo>
                  <a:lnTo>
                    <a:pt x="91439" y="24472"/>
                  </a:lnTo>
                  <a:lnTo>
                    <a:pt x="53636" y="53636"/>
                  </a:lnTo>
                  <a:lnTo>
                    <a:pt x="24472" y="91440"/>
                  </a:lnTo>
                  <a:lnTo>
                    <a:pt x="6164" y="135535"/>
                  </a:lnTo>
                  <a:lnTo>
                    <a:pt x="0" y="182880"/>
                  </a:lnTo>
                  <a:lnTo>
                    <a:pt x="1546" y="206781"/>
                  </a:lnTo>
                  <a:lnTo>
                    <a:pt x="13817" y="252840"/>
                  </a:lnTo>
                  <a:lnTo>
                    <a:pt x="37874" y="294195"/>
                  </a:lnTo>
                  <a:lnTo>
                    <a:pt x="71559" y="327878"/>
                  </a:lnTo>
                  <a:lnTo>
                    <a:pt x="112912" y="351936"/>
                  </a:lnTo>
                  <a:lnTo>
                    <a:pt x="158971" y="364212"/>
                  </a:lnTo>
                  <a:lnTo>
                    <a:pt x="182880" y="365760"/>
                  </a:lnTo>
                  <a:lnTo>
                    <a:pt x="206781" y="364212"/>
                  </a:lnTo>
                  <a:lnTo>
                    <a:pt x="252840" y="351936"/>
                  </a:lnTo>
                  <a:lnTo>
                    <a:pt x="294195" y="327878"/>
                  </a:lnTo>
                  <a:lnTo>
                    <a:pt x="327878" y="294195"/>
                  </a:lnTo>
                  <a:lnTo>
                    <a:pt x="351936" y="252840"/>
                  </a:lnTo>
                  <a:lnTo>
                    <a:pt x="364212" y="206781"/>
                  </a:lnTo>
                  <a:lnTo>
                    <a:pt x="365760" y="182880"/>
                  </a:lnTo>
                  <a:lnTo>
                    <a:pt x="364212" y="158971"/>
                  </a:lnTo>
                  <a:lnTo>
                    <a:pt x="351936" y="112912"/>
                  </a:lnTo>
                  <a:lnTo>
                    <a:pt x="327878" y="71559"/>
                  </a:lnTo>
                  <a:lnTo>
                    <a:pt x="294195" y="37874"/>
                  </a:lnTo>
                  <a:lnTo>
                    <a:pt x="252840" y="13817"/>
                  </a:lnTo>
                  <a:lnTo>
                    <a:pt x="206781" y="1546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E7A23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descr="$PPTXTitle" id="554" name="Google Shape;554;p15"/>
          <p:cNvSpPr txBox="1"/>
          <p:nvPr>
            <p:ph type="title"/>
          </p:nvPr>
        </p:nvSpPr>
        <p:spPr>
          <a:xfrm>
            <a:off x="579856" y="2684055"/>
            <a:ext cx="9418955" cy="869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5">
            <a:spAutoFit/>
          </a:bodyPr>
          <a:lstStyle/>
          <a:p>
            <a:pPr indent="0" lvl="0" marL="12700" marR="508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/>
              <a:t>GreenCast turns uncertain renewable generation into earlier, clearer operational decisions.</a:t>
            </a:r>
            <a:endParaRPr sz="2700"/>
          </a:p>
        </p:txBody>
      </p:sp>
      <p:sp>
        <p:nvSpPr>
          <p:cNvPr id="555" name="Google Shape;555;p15"/>
          <p:cNvSpPr txBox="1"/>
          <p:nvPr/>
        </p:nvSpPr>
        <p:spPr>
          <a:xfrm>
            <a:off x="579856" y="6447704"/>
            <a:ext cx="3816350" cy="221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The Final Commit · HackOut 2026, Synapse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 txBox="1"/>
          <p:nvPr>
            <p:ph idx="12" type="sldNum"/>
          </p:nvPr>
        </p:nvSpPr>
        <p:spPr>
          <a:xfrm>
            <a:off x="11569382" y="6500390"/>
            <a:ext cx="21780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57" name="Google Shape;557;p15"/>
          <p:cNvSpPr txBox="1"/>
          <p:nvPr/>
        </p:nvSpPr>
        <p:spPr>
          <a:xfrm>
            <a:off x="579856" y="4140263"/>
            <a:ext cx="198247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rgbClr val="E7A2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72 hours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forecast horizon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 txBox="1"/>
          <p:nvPr/>
        </p:nvSpPr>
        <p:spPr>
          <a:xfrm>
            <a:off x="4022625" y="4140263"/>
            <a:ext cx="336877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rgbClr val="E7A2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5.8%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daytime MAPE, untouched test window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 txBox="1"/>
          <p:nvPr/>
        </p:nvSpPr>
        <p:spPr>
          <a:xfrm>
            <a:off x="7543800" y="3985018"/>
            <a:ext cx="4343400" cy="1082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7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rgbClr val="E7A2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to end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EABBF"/>
                </a:solidFill>
                <a:latin typeface="Calibri"/>
                <a:ea typeface="Calibri"/>
                <a:cs typeface="Calibri"/>
                <a:sym typeface="Calibri"/>
              </a:rPr>
              <a:t>A usable decision-support workflow, not just a model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 txBox="1"/>
          <p:nvPr/>
        </p:nvSpPr>
        <p:spPr>
          <a:xfrm>
            <a:off x="579856" y="6132855"/>
            <a:ext cx="5363744" cy="259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3EBEAC"/>
                </a:solidFill>
                <a:latin typeface="Calibri"/>
                <a:ea typeface="Calibri"/>
                <a:cs typeface="Calibri"/>
                <a:sym typeface="Calibri"/>
              </a:rPr>
              <a:t>github.com/DhruvilMehta07/Renewable-Forecast-Platform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2026-09-13T00:30:37Z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2026-09-13T00:00:00Z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2026-09-13T00:00:00Z</vt:filetime>
  </property>
</Properties>
</file>